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4" r:id="rId9"/>
    <p:sldId id="285" r:id="rId10"/>
    <p:sldId id="286" r:id="rId11"/>
    <p:sldId id="290" r:id="rId12"/>
    <p:sldId id="301" r:id="rId13"/>
    <p:sldId id="300" r:id="rId14"/>
    <p:sldId id="302" r:id="rId15"/>
    <p:sldId id="303" r:id="rId16"/>
    <p:sldId id="288" r:id="rId17"/>
    <p:sldId id="289" r:id="rId18"/>
    <p:sldId id="263" r:id="rId19"/>
    <p:sldId id="264" r:id="rId20"/>
    <p:sldId id="265" r:id="rId21"/>
    <p:sldId id="266" r:id="rId22"/>
    <p:sldId id="267" r:id="rId23"/>
    <p:sldId id="268" r:id="rId24"/>
    <p:sldId id="271" r:id="rId25"/>
    <p:sldId id="269" r:id="rId26"/>
    <p:sldId id="304" r:id="rId27"/>
    <p:sldId id="305" r:id="rId28"/>
    <p:sldId id="270" r:id="rId29"/>
    <p:sldId id="273" r:id="rId30"/>
    <p:sldId id="274" r:id="rId31"/>
    <p:sldId id="275" r:id="rId32"/>
    <p:sldId id="276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319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272" r:id="rId56"/>
    <p:sldId id="299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/>
    <p:restoredTop sz="94564"/>
  </p:normalViewPr>
  <p:slideViewPr>
    <p:cSldViewPr snapToGrid="0" snapToObjects="1">
      <p:cViewPr varScale="1">
        <p:scale>
          <a:sx n="115" d="100"/>
          <a:sy n="115" d="100"/>
        </p:scale>
        <p:origin x="18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2348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 dirty="0" err="1">
                <a:solidFill>
                  <a:srgbClr val="FF0000"/>
                </a:solidFill>
                <a:latin typeface="Ubuntu"/>
              </a:rPr>
              <a:t>Aprendizaje</a:t>
            </a:r>
            <a:r>
              <a:rPr sz="4000" b="1" i="0" dirty="0">
                <a:solidFill>
                  <a:srgbClr val="FF0000"/>
                </a:solidFill>
                <a:latin typeface="Ubuntu"/>
              </a:rPr>
              <a:t> no </a:t>
            </a:r>
            <a:r>
              <a:rPr sz="4000" b="1" i="0" dirty="0" err="1">
                <a:solidFill>
                  <a:srgbClr val="FF0000"/>
                </a:solidFill>
                <a:latin typeface="Ubuntu"/>
              </a:rPr>
              <a:t>supervisado</a:t>
            </a:r>
            <a:r>
              <a:rPr sz="4000" b="1" i="0" dirty="0">
                <a:solidFill>
                  <a:srgbClr val="FF0000"/>
                </a:solidFill>
                <a:latin typeface="Ubuntu"/>
              </a:rPr>
              <a:t>:</a:t>
            </a:r>
          </a:p>
          <a:p>
            <a:pPr algn="l">
              <a:lnSpc>
                <a:spcPct val="105000"/>
              </a:lnSpc>
            </a:pPr>
            <a:r>
              <a:rPr sz="4000" b="1" i="0" dirty="0">
                <a:solidFill>
                  <a:srgbClr val="FF0000"/>
                </a:solidFill>
                <a:latin typeface="Ubuntu"/>
              </a:rPr>
              <a:t>clustering y PCA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1E4C7D"/>
                </a:solidFill>
                <a:latin typeface="Ubuntu"/>
              </a:rPr>
              <a:t>Sesión 18 · Descubrir patrones ocultos sin respuestas previas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Tecnológico de Monterrey  ·  TC2001B.601 Ciencia de datos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Prof. Jorge Juvenal Campos Ferreira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1828800" cy="457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Lo que veremos hoy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307592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Aprender SIN respuestas: no supervisado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Clustering: agrupar lo parecido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0632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44951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K-means paso a paso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913632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¿Cuántos grupos elegir? (método del codo)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13258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307592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Estandarizar antes de agrupar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21945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176272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problema de la dimensión</a:t>
            </a:r>
          </a:p>
        </p:txBody>
      </p:sp>
      <p:sp>
        <p:nvSpPr>
          <p:cNvPr id="17" name="Oval 16"/>
          <p:cNvSpPr/>
          <p:nvPr/>
        </p:nvSpPr>
        <p:spPr>
          <a:xfrm>
            <a:off x="4709160" y="30632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3044951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PCA: comprimir información</a:t>
            </a:r>
          </a:p>
        </p:txBody>
      </p:sp>
      <p:sp>
        <p:nvSpPr>
          <p:cNvPr id="19" name="Oval 18"/>
          <p:cNvSpPr/>
          <p:nvPr/>
        </p:nvSpPr>
        <p:spPr>
          <a:xfrm>
            <a:off x="4709160" y="39319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3913632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PCA + clustering sobre datos reales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Aprender SIN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respuestas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¿Qué hacemos cuando no hay etiquetas?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Supervisado vs no supervisado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16788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En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aprendizaje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SUPERVISADO,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cada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ejemplo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lleva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una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etiqueta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:</a:t>
            </a:r>
          </a:p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"</a:t>
            </a:r>
            <a:r>
              <a:rPr sz="1600" b="0" i="1" dirty="0" err="1">
                <a:solidFill>
                  <a:srgbClr val="000000"/>
                </a:solidFill>
                <a:latin typeface="Ubuntu"/>
              </a:rPr>
              <a:t>esta</a:t>
            </a:r>
            <a:r>
              <a:rPr sz="1600" b="0" i="1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1" dirty="0" err="1">
                <a:solidFill>
                  <a:srgbClr val="000000"/>
                </a:solidFill>
                <a:latin typeface="Ubuntu"/>
              </a:rPr>
              <a:t>solicitud</a:t>
            </a:r>
            <a:r>
              <a:rPr sz="1600" b="0" i="1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1" dirty="0" err="1">
                <a:solidFill>
                  <a:srgbClr val="000000"/>
                </a:solidFill>
                <a:latin typeface="Ubuntu"/>
              </a:rPr>
              <a:t>fue</a:t>
            </a:r>
            <a:r>
              <a:rPr sz="1600" b="0" i="1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1" dirty="0" err="1">
                <a:solidFill>
                  <a:srgbClr val="000000"/>
                </a:solidFill>
                <a:latin typeface="Ubuntu"/>
              </a:rPr>
              <a:t>aprobada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", "</a:t>
            </a:r>
            <a:r>
              <a:rPr sz="1600" b="0" i="1" dirty="0" err="1">
                <a:solidFill>
                  <a:srgbClr val="000000"/>
                </a:solidFill>
                <a:latin typeface="Ubuntu"/>
              </a:rPr>
              <a:t>este</a:t>
            </a:r>
            <a:r>
              <a:rPr sz="1600" b="0" i="1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1" dirty="0" err="1">
                <a:solidFill>
                  <a:srgbClr val="000000"/>
                </a:solidFill>
                <a:latin typeface="Ubuntu"/>
              </a:rPr>
              <a:t>correo</a:t>
            </a:r>
            <a:r>
              <a:rPr sz="1600" b="0" i="1" dirty="0">
                <a:solidFill>
                  <a:srgbClr val="000000"/>
                </a:solidFill>
                <a:latin typeface="Ubuntu"/>
              </a:rPr>
              <a:t> es spam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".</a:t>
            </a:r>
          </a:p>
          <a:p>
            <a:pPr algn="l">
              <a:lnSpc>
                <a:spcPct val="140000"/>
              </a:lnSpc>
            </a:pPr>
            <a:endParaRPr sz="16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En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aprendizaje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NO SUPERVISADO no hay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etiquetas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. El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algoritmo</a:t>
            </a:r>
            <a:r>
              <a:rPr lang="es-ES" sz="160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recibe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y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debe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DESCUBRIR la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estructura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por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sí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solo: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,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patrones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,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dimensiones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relevantes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1429207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644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Es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como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ordenar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tu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música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playlists sin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nadie</a:t>
            </a:r>
            <a:r>
              <a:rPr lang="es-ES" sz="160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te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diga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las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categorías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: la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computadora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escucha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las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canciones y las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agrupa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por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similitud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Supervisado vs no supervisado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2604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1" dirty="0">
                <a:solidFill>
                  <a:srgbClr val="555555"/>
                </a:solidFill>
                <a:latin typeface="Ubuntu"/>
              </a:rPr>
              <a:t>Izquierda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: </a:t>
            </a:r>
            <a:r>
              <a:rPr sz="1300" b="0" i="1" dirty="0" err="1">
                <a:solidFill>
                  <a:srgbClr val="555555"/>
                </a:solidFill>
                <a:latin typeface="Ubuntu"/>
              </a:rPr>
              <a:t>etiquetas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Ubuntu"/>
              </a:rPr>
              <a:t>conocidas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. </a:t>
            </a:r>
            <a:r>
              <a:rPr sz="1300" b="1" i="1" dirty="0" err="1">
                <a:solidFill>
                  <a:srgbClr val="555555"/>
                </a:solidFill>
                <a:latin typeface="Ubuntu"/>
              </a:rPr>
              <a:t>Derecha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: </a:t>
            </a:r>
            <a:r>
              <a:rPr sz="1300" b="0" i="1" dirty="0" err="1">
                <a:solidFill>
                  <a:srgbClr val="555555"/>
                </a:solidFill>
                <a:latin typeface="Ubuntu"/>
              </a:rPr>
              <a:t>el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Ubuntu"/>
              </a:rPr>
              <a:t>algoritmo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 las </a:t>
            </a:r>
            <a:r>
              <a:rPr sz="1300" b="0" i="1" dirty="0" err="1">
                <a:solidFill>
                  <a:srgbClr val="555555"/>
                </a:solidFill>
                <a:latin typeface="Ubuntu"/>
              </a:rPr>
              <a:t>descubre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5616783"/>
            <a:ext cx="8302752" cy="5075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dirty="0">
                <a:solidFill>
                  <a:srgbClr val="000000"/>
                </a:solidFill>
                <a:latin typeface="Ubuntu"/>
              </a:rPr>
              <a:t>No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supervisado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=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aprender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SIN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respuestas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correctas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. </a:t>
            </a:r>
            <a:endParaRPr lang="es-ES" sz="14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25000"/>
              </a:lnSpc>
            </a:pPr>
            <a:r>
              <a:rPr sz="1400" b="0" i="0" dirty="0">
                <a:solidFill>
                  <a:srgbClr val="000000"/>
                </a:solidFill>
                <a:latin typeface="Ubuntu"/>
              </a:rPr>
              <a:t>Solo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vemos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y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buscamos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estructura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B3929A4-79CF-3B04-6BA3-14C4BDAAA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03973"/>
            <a:ext cx="7772400" cy="35192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analogía de la música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D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2D7A7A"/>
                </a:solidFill>
                <a:latin typeface="Ubuntu"/>
              </a:rPr>
              <a:t>Piénsalo así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934848"/>
            <a:ext cx="8119872" cy="28512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Imagina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tienes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1,000 canciones sin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género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50000"/>
              </a:lnSpc>
            </a:pPr>
            <a:endParaRPr sz="18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No sabes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si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son rock, cumbia o jazz. Pero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puedes</a:t>
            </a:r>
            <a:r>
              <a:rPr lang="es-ES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agruparlas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por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SIMILITUD: las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tienen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bajo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ritmo</a:t>
            </a:r>
            <a:r>
              <a:rPr lang="es-ES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y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mucha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guitarra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van juntas, las 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percusión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rápida</a:t>
            </a:r>
            <a:r>
              <a:rPr lang="es-ES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otro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grupo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50000"/>
              </a:lnSpc>
            </a:pPr>
            <a:endParaRPr sz="18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Eso es clustering: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agrupar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SIN saber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nombres</a:t>
            </a:r>
            <a:r>
              <a:rPr lang="es-ES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antemano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4</a:t>
            </a:r>
          </a:p>
        </p:txBody>
      </p:sp>
      <p:pic>
        <p:nvPicPr>
          <p:cNvPr id="1026" name="Picture 2" descr="Clustering in ML: Understanding Unsupervised Data Grouping Techniques">
            <a:extLst>
              <a:ext uri="{FF2B5EF4-FFF2-40B4-BE49-F238E27FC236}">
                <a16:creationId xmlns:a16="http://schemas.microsoft.com/office/drawing/2014/main" id="{91E19A90-1B01-8F5D-6E7E-3839CC028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56" y="4901349"/>
            <a:ext cx="3669916" cy="195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¿Cuándo usar aprendizaje no supervisado?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66276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1290051"/>
            <a:ext cx="8302752" cy="3364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 dirty="0" err="1">
                <a:solidFill>
                  <a:srgbClr val="000000"/>
                </a:solidFill>
                <a:latin typeface="Ubuntu"/>
              </a:rPr>
              <a:t>Usamos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lang="es-ES" sz="1800" b="1" i="0" dirty="0">
                <a:solidFill>
                  <a:srgbClr val="000000"/>
                </a:solidFill>
                <a:latin typeface="Ubuntu"/>
              </a:rPr>
              <a:t>aprendizaje </a:t>
            </a:r>
            <a:r>
              <a:rPr sz="1800" b="1" i="0" dirty="0">
                <a:solidFill>
                  <a:srgbClr val="000000"/>
                </a:solidFill>
                <a:latin typeface="Ubuntu"/>
              </a:rPr>
              <a:t>no </a:t>
            </a:r>
            <a:r>
              <a:rPr sz="1800" b="1" i="0" dirty="0" err="1">
                <a:solidFill>
                  <a:srgbClr val="000000"/>
                </a:solidFill>
                <a:latin typeface="Ubuntu"/>
              </a:rPr>
              <a:t>supervisado</a:t>
            </a:r>
            <a:r>
              <a:rPr sz="1800" b="1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cuando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:</a:t>
            </a:r>
          </a:p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1. No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existen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etiquetas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2.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Queremos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1" i="0" dirty="0">
                <a:solidFill>
                  <a:srgbClr val="000000"/>
                </a:solidFill>
                <a:latin typeface="Ubuntu"/>
              </a:rPr>
              <a:t>EXPLORAR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la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estructura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antes 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definir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categorías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3. La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pregunta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es </a:t>
            </a:r>
            <a:r>
              <a:rPr sz="1800" b="0" i="1" dirty="0">
                <a:solidFill>
                  <a:srgbClr val="000000"/>
                </a:solidFill>
                <a:latin typeface="Ubuntu"/>
              </a:rPr>
              <a:t>'¿</a:t>
            </a:r>
            <a:r>
              <a:rPr sz="1800" b="0" i="1" dirty="0" err="1">
                <a:solidFill>
                  <a:srgbClr val="000000"/>
                </a:solidFill>
                <a:latin typeface="Ubuntu"/>
              </a:rPr>
              <a:t>existen</a:t>
            </a:r>
            <a:r>
              <a:rPr sz="1800" b="0" i="1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1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800" b="0" i="1" dirty="0">
                <a:solidFill>
                  <a:srgbClr val="000000"/>
                </a:solidFill>
                <a:latin typeface="Ubuntu"/>
              </a:rPr>
              <a:t> naturales?' 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(no '¿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cuál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es la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clase</a:t>
            </a:r>
            <a:r>
              <a:rPr lang="es-ES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este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punto?').</a:t>
            </a:r>
          </a:p>
          <a:p>
            <a:pPr algn="l">
              <a:lnSpc>
                <a:spcPct val="140000"/>
              </a:lnSpc>
            </a:pPr>
            <a:endParaRPr lang="es-ES" sz="18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endParaRPr lang="es-ES" sz="18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endParaRPr sz="18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400" b="1" i="0" dirty="0" err="1">
                <a:solidFill>
                  <a:srgbClr val="000000"/>
                </a:solidFill>
                <a:latin typeface="Ubuntu"/>
              </a:rPr>
              <a:t>Ejemplos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: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segmentar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clientes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,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agrupar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municipios,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descubrir</a:t>
            </a:r>
            <a:r>
              <a:rPr lang="es-ES" sz="140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perfiles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químicos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de vinos.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169618"/>
            <a:ext cx="8595360" cy="1164546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5261058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5645106"/>
            <a:ext cx="8302752" cy="300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No hay un examen con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respuestas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. El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objetivo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es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descubrir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, no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predecir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4622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16000" b="1" i="0" dirty="0">
                <a:solidFill>
                  <a:srgbClr val="336395"/>
                </a:solidFill>
                <a:latin typeface="Ubuntu"/>
              </a:rPr>
              <a:t>2</a:t>
            </a:r>
            <a:endParaRPr sz="16000" b="1" i="0" dirty="0">
              <a:solidFill>
                <a:srgbClr val="336395"/>
              </a:solidFill>
              <a:latin typeface="Ubuntu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PCA: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comprimir información</a:t>
            </a:r>
          </a:p>
        </p:txBody>
      </p:sp>
    </p:spTree>
    <p:extLst>
      <p:ext uri="{BB962C8B-B14F-4D97-AF65-F5344CB8AC3E}">
        <p14:creationId xmlns:p14="http://schemas.microsoft.com/office/powerpoint/2010/main" val="3386716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analogía del promedio de materias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09728" cy="457200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73225" y="1280160"/>
            <a:ext cx="3913632" cy="4572000"/>
          </a:xfrm>
          <a:prstGeom prst="rect">
            <a:avLst/>
          </a:prstGeom>
          <a:solidFill>
            <a:srgbClr val="D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371600"/>
            <a:ext cx="391363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1800" b="1" i="0" dirty="0">
                <a:solidFill>
                  <a:srgbClr val="2D7A7A"/>
                </a:solidFill>
                <a:latin typeface="Ubuntu"/>
              </a:rPr>
              <a:t>Una analogía: </a:t>
            </a:r>
            <a:endParaRPr sz="1800" b="1" i="0" dirty="0">
              <a:solidFill>
                <a:srgbClr val="2D7A7A"/>
              </a:solidFill>
              <a:latin typeface="Ubuntu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3504" y="1755648"/>
            <a:ext cx="3539288" cy="3879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Si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tienes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notas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10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materias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,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puedes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resumirlas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dos</a:t>
            </a:r>
          </a:p>
          <a:p>
            <a:pPr algn="l">
              <a:lnSpc>
                <a:spcPct val="145000"/>
              </a:lnSpc>
            </a:pPr>
            <a:r>
              <a:rPr sz="1600" b="0" i="0" dirty="0" err="1">
                <a:solidFill>
                  <a:srgbClr val="000000"/>
                </a:solidFill>
                <a:latin typeface="Ubuntu"/>
              </a:rPr>
              <a:t>promedios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: '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ciencias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' y '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humanidades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'. </a:t>
            </a:r>
            <a:r>
              <a:rPr sz="1600" b="1" i="0" dirty="0" err="1">
                <a:solidFill>
                  <a:srgbClr val="000000"/>
                </a:solidFill>
                <a:latin typeface="Ubuntu"/>
              </a:rPr>
              <a:t>Pierdes</a:t>
            </a:r>
            <a:r>
              <a:rPr sz="1600" b="1" i="0" dirty="0">
                <a:solidFill>
                  <a:srgbClr val="000000"/>
                </a:solidFill>
                <a:latin typeface="Ubuntu"/>
              </a:rPr>
              <a:t> algo de </a:t>
            </a:r>
            <a:r>
              <a:rPr sz="1600" b="1" i="0" dirty="0" err="1">
                <a:solidFill>
                  <a:srgbClr val="000000"/>
                </a:solidFill>
                <a:latin typeface="Ubuntu"/>
              </a:rPr>
              <a:t>detalle</a:t>
            </a:r>
            <a:r>
              <a:rPr sz="1600" b="1" i="0" dirty="0">
                <a:solidFill>
                  <a:srgbClr val="000000"/>
                </a:solidFill>
                <a:latin typeface="Ubuntu"/>
              </a:rPr>
              <a:t>,</a:t>
            </a:r>
          </a:p>
          <a:p>
            <a:pPr algn="l">
              <a:lnSpc>
                <a:spcPct val="145000"/>
              </a:lnSpc>
            </a:pPr>
            <a:r>
              <a:rPr sz="1600" b="1" i="0" dirty="0" err="1">
                <a:solidFill>
                  <a:srgbClr val="000000"/>
                </a:solidFill>
                <a:latin typeface="Ubuntu"/>
              </a:rPr>
              <a:t>pero</a:t>
            </a:r>
            <a:r>
              <a:rPr sz="1600" b="1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1" i="0" dirty="0" err="1">
                <a:solidFill>
                  <a:srgbClr val="000000"/>
                </a:solidFill>
                <a:latin typeface="Ubuntu"/>
              </a:rPr>
              <a:t>capturas</a:t>
            </a:r>
            <a:r>
              <a:rPr sz="1600" b="1" i="0" dirty="0">
                <a:solidFill>
                  <a:srgbClr val="000000"/>
                </a:solidFill>
                <a:latin typeface="Ubuntu"/>
              </a:rPr>
              <a:t> lo </a:t>
            </a:r>
            <a:r>
              <a:rPr sz="1600" b="1" i="0" dirty="0" err="1">
                <a:solidFill>
                  <a:srgbClr val="000000"/>
                </a:solidFill>
                <a:latin typeface="Ubuntu"/>
              </a:rPr>
              <a:t>esencial</a:t>
            </a:r>
            <a:r>
              <a:rPr sz="1600" b="1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45000"/>
              </a:lnSpc>
            </a:pPr>
            <a:endParaRPr sz="16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5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PCA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hace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lo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mismo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con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: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busca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'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resúmenes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'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lang="es-ES" sz="160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conservan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la 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MÁXIMA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información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(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varianza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).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Esos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resúmenes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son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COMPONENTES PRINCIPALES.</a:t>
            </a:r>
          </a:p>
        </p:txBody>
      </p:sp>
      <p:pic>
        <p:nvPicPr>
          <p:cNvPr id="9" name="Picture 8" descr="10_analogia_pca.png"/>
          <p:cNvPicPr>
            <a:picLocks noChangeAspect="1"/>
          </p:cNvPicPr>
          <p:nvPr/>
        </p:nvPicPr>
        <p:blipFill>
          <a:blip r:embed="rId2"/>
          <a:srcRect r="21243"/>
          <a:stretch>
            <a:fillRect/>
          </a:stretch>
        </p:blipFill>
        <p:spPr>
          <a:xfrm>
            <a:off x="4286857" y="2161282"/>
            <a:ext cx="4830237" cy="28097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22</a:t>
            </a:r>
          </a:p>
        </p:txBody>
      </p:sp>
    </p:spTree>
    <p:extLst>
      <p:ext uri="{BB962C8B-B14F-4D97-AF65-F5344CB8AC3E}">
        <p14:creationId xmlns:p14="http://schemas.microsoft.com/office/powerpoint/2010/main" val="1161702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es un componente principal?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02730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 dirty="0" err="1">
                <a:solidFill>
                  <a:srgbClr val="1E4C7D"/>
                </a:solidFill>
                <a:latin typeface="Ubuntu"/>
              </a:rPr>
              <a:t>Definición</a:t>
            </a:r>
            <a:endParaRPr sz="1800" b="1" i="0" dirty="0">
              <a:solidFill>
                <a:srgbClr val="1E4C7D"/>
              </a:solidFill>
              <a:latin typeface="Ubuntu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0624" y="1411348"/>
            <a:ext cx="8302752" cy="30521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000000"/>
                </a:solidFill>
                <a:latin typeface="Ubuntu"/>
              </a:rPr>
              <a:t>Un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componente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principal (CP) es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una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b="1" i="0" dirty="0">
                <a:solidFill>
                  <a:srgbClr val="000000"/>
                </a:solidFill>
                <a:latin typeface="Ubuntu"/>
              </a:rPr>
              <a:t>COMBINACIÓN LINEAL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de las</a:t>
            </a:r>
            <a:r>
              <a:rPr lang="es-ES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variables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originales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,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elegida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para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capturar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la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máxima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varianza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40000"/>
              </a:lnSpc>
            </a:pPr>
            <a:endParaRPr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b="1" i="0" dirty="0">
                <a:solidFill>
                  <a:srgbClr val="000000"/>
                </a:solidFill>
                <a:latin typeface="Ubuntu"/>
              </a:rPr>
              <a:t>CP1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capta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la mayor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cantidad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posible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variación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i="0" dirty="0">
                <a:solidFill>
                  <a:srgbClr val="000000"/>
                </a:solidFill>
                <a:latin typeface="Ubuntu"/>
              </a:rPr>
              <a:t>CP2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capta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la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segunda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mayor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variación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, </a:t>
            </a:r>
            <a:r>
              <a:rPr b="1" i="0" dirty="0">
                <a:solidFill>
                  <a:srgbClr val="000000"/>
                </a:solidFill>
                <a:latin typeface="Ubuntu"/>
              </a:rPr>
              <a:t>PERPENDICULAR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a CP1.</a:t>
            </a: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000000"/>
                </a:solidFill>
                <a:latin typeface="Ubuntu"/>
              </a:rPr>
              <a:t>...y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así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sucesivamente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40000"/>
              </a:lnSpc>
            </a:pPr>
            <a:endParaRPr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b="0" i="0" dirty="0">
                <a:solidFill>
                  <a:srgbClr val="000000"/>
                </a:solidFill>
                <a:latin typeface="Ubuntu"/>
              </a:rPr>
              <a:t>Los CP </a:t>
            </a:r>
            <a:r>
              <a:rPr b="1" i="0" dirty="0">
                <a:solidFill>
                  <a:srgbClr val="000000"/>
                </a:solidFill>
                <a:latin typeface="Ubuntu"/>
              </a:rPr>
              <a:t>son NUEVAS variables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; no son las </a:t>
            </a:r>
            <a:r>
              <a:rPr b="0" i="0" dirty="0" err="1">
                <a:solidFill>
                  <a:srgbClr val="000000"/>
                </a:solidFill>
                <a:latin typeface="Ubuntu"/>
              </a:rPr>
              <a:t>originales</a:t>
            </a:r>
            <a:r>
              <a:rPr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5124288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5508336"/>
            <a:ext cx="8302752" cy="644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CP1 es la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dirección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la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'se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esparcen</a:t>
            </a:r>
            <a:r>
              <a:rPr lang="es-ES" sz="1600" dirty="0">
                <a:solidFill>
                  <a:srgbClr val="000000"/>
                </a:solidFill>
                <a:latin typeface="Ubuntu"/>
              </a:rPr>
              <a:t>.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más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'. CP2 es la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segunda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dirección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más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importante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,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sin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repetir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lo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ya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capturó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CP1.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23</a:t>
            </a:r>
          </a:p>
        </p:txBody>
      </p:sp>
    </p:spTree>
    <p:extLst>
      <p:ext uri="{BB962C8B-B14F-4D97-AF65-F5344CB8AC3E}">
        <p14:creationId xmlns:p14="http://schemas.microsoft.com/office/powerpoint/2010/main" val="1156719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significan los componentes principales?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280160"/>
            <a:ext cx="830275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1800" b="1" i="0" dirty="0">
                <a:solidFill>
                  <a:srgbClr val="1E4C7D"/>
                </a:solidFill>
                <a:latin typeface="Ubuntu"/>
              </a:rPr>
              <a:t>Explicación: </a:t>
            </a:r>
            <a:endParaRPr sz="1800" b="1" i="0" dirty="0">
              <a:solidFill>
                <a:srgbClr val="1E4C7D"/>
              </a:solidFill>
              <a:latin typeface="Ubuntu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0624" y="1691640"/>
            <a:ext cx="8302752" cy="27129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Los CP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combinan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las variables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originales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con 'pesos' (cargas).</a:t>
            </a:r>
          </a:p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Leer las cargas dice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qué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variables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contribuyen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más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a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cada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CP.</a:t>
            </a:r>
          </a:p>
          <a:p>
            <a:pPr algn="l">
              <a:lnSpc>
                <a:spcPct val="140000"/>
              </a:lnSpc>
            </a:pPr>
            <a:endParaRPr sz="16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600" b="0" i="0" dirty="0" err="1">
                <a:solidFill>
                  <a:srgbClr val="000000"/>
                </a:solidFill>
                <a:latin typeface="Ubuntu"/>
              </a:rPr>
              <a:t>Ejemplo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: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si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CP1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tiene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cargas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altas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'%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pobreza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', '%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carencia</a:t>
            </a:r>
            <a:r>
              <a:rPr lang="es-ES" sz="160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educativa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' y '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grado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marginación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', ese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componente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representa</a:t>
            </a:r>
            <a:r>
              <a:rPr lang="es-ES" sz="160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'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eje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marginación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'.</a:t>
            </a:r>
          </a:p>
          <a:p>
            <a:pPr algn="l">
              <a:lnSpc>
                <a:spcPct val="140000"/>
              </a:lnSpc>
            </a:pPr>
            <a:endParaRPr lang="es-ES" sz="16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endParaRPr sz="16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600" b="1" i="1" dirty="0">
                <a:solidFill>
                  <a:srgbClr val="000000"/>
                </a:solidFill>
                <a:latin typeface="Ubuntu"/>
              </a:rPr>
              <a:t>Interpretar </a:t>
            </a:r>
            <a:r>
              <a:rPr sz="1600" b="1" i="1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600" b="1" i="1" dirty="0">
                <a:solidFill>
                  <a:srgbClr val="000000"/>
                </a:solidFill>
                <a:latin typeface="Ubuntu"/>
              </a:rPr>
              <a:t> CP</a:t>
            </a:r>
            <a:r>
              <a:rPr lang="es-ES" sz="1600" b="1" i="1" dirty="0">
                <a:solidFill>
                  <a:srgbClr val="000000"/>
                </a:solidFill>
                <a:latin typeface="Ubuntu"/>
              </a:rPr>
              <a:t> </a:t>
            </a:r>
            <a:r>
              <a:rPr lang="es-ES" sz="1600" i="1" dirty="0">
                <a:solidFill>
                  <a:srgbClr val="000000"/>
                </a:solidFill>
                <a:latin typeface="Ubuntu"/>
              </a:rPr>
              <a:t>(si queremos hacerlo)</a:t>
            </a:r>
            <a:r>
              <a:rPr sz="1600" b="1" i="1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1" i="1" dirty="0" err="1">
                <a:solidFill>
                  <a:srgbClr val="000000"/>
                </a:solidFill>
                <a:latin typeface="Ubuntu"/>
              </a:rPr>
              <a:t>requiere</a:t>
            </a:r>
            <a:r>
              <a:rPr sz="1600" b="1" i="1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1" i="1" dirty="0" err="1">
                <a:solidFill>
                  <a:srgbClr val="000000"/>
                </a:solidFill>
                <a:latin typeface="Ubuntu"/>
              </a:rPr>
              <a:t>conocer</a:t>
            </a:r>
            <a:r>
              <a:rPr sz="1600" b="1" i="1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1" i="1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600" b="1" i="1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1" i="1" dirty="0" err="1">
                <a:solidFill>
                  <a:srgbClr val="000000"/>
                </a:solidFill>
                <a:latin typeface="Ubuntu"/>
              </a:rPr>
              <a:t>contexto</a:t>
            </a:r>
            <a:r>
              <a:rPr sz="1600" b="1" i="1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52628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461772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5001768"/>
            <a:ext cx="8302752" cy="9894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Los CP son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combinaciones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tus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variables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originales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Leer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cuáles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variables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pesan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más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cada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CP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te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dice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qué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'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concepto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'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representa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ese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componente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27</a:t>
            </a:r>
          </a:p>
        </p:txBody>
      </p:sp>
    </p:spTree>
    <p:extLst>
      <p:ext uri="{BB962C8B-B14F-4D97-AF65-F5344CB8AC3E}">
        <p14:creationId xmlns:p14="http://schemas.microsoft.com/office/powerpoint/2010/main" val="4065754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8DA51-E1F2-0AC1-B073-01ED970F9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BACE86-36BD-9759-DF6B-524C13944927}"/>
              </a:ext>
            </a:extLst>
          </p:cNvPr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115BF-0EE4-F8D6-91F9-B4CB0446F2DF}"/>
              </a:ext>
            </a:extLst>
          </p:cNvPr>
          <p:cNvSpPr txBox="1"/>
          <p:nvPr/>
        </p:nvSpPr>
        <p:spPr>
          <a:xfrm>
            <a:off x="228600" y="434227"/>
            <a:ext cx="83210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2200" b="1" i="0" dirty="0">
                <a:solidFill>
                  <a:srgbClr val="FFFFFF"/>
                </a:solidFill>
                <a:latin typeface="Ubuntu"/>
              </a:rPr>
              <a:t>El primer componente principal</a:t>
            </a:r>
            <a:endParaRPr sz="2200" b="1" i="0" dirty="0">
              <a:solidFill>
                <a:srgbClr val="FFFFFF"/>
              </a:solidFill>
              <a:latin typeface="Ubuntu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B4077-FDA1-1D21-FFC6-80F9191133FA}"/>
              </a:ext>
            </a:extLst>
          </p:cNvPr>
          <p:cNvSpPr txBox="1"/>
          <p:nvPr/>
        </p:nvSpPr>
        <p:spPr>
          <a:xfrm>
            <a:off x="420624" y="1103438"/>
            <a:ext cx="8302752" cy="736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lang="es-MX" dirty="0"/>
              <a:t>El </a:t>
            </a:r>
            <a:r>
              <a:rPr lang="es-MX" b="1" dirty="0"/>
              <a:t>primer componente principal</a:t>
            </a:r>
            <a:r>
              <a:rPr lang="es-MX" dirty="0"/>
              <a:t> de un conjunto de variables X₁, X₂, …, Xₚ es la combinación lineal normalizada de las variables</a:t>
            </a:r>
            <a:endParaRPr b="0" i="0" dirty="0">
              <a:solidFill>
                <a:srgbClr val="000000"/>
              </a:solidFill>
              <a:latin typeface="Ubuntu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61AE9-0BF3-38DB-4D7E-2DCC83951850}"/>
              </a:ext>
            </a:extLst>
          </p:cNvPr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23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A891516-A5FD-652C-3E9C-E797B218A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1882038"/>
            <a:ext cx="3733800" cy="584200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E0C46B32-FD1E-D520-BA8C-56E60A858F3D}"/>
              </a:ext>
            </a:extLst>
          </p:cNvPr>
          <p:cNvSpPr txBox="1"/>
          <p:nvPr/>
        </p:nvSpPr>
        <p:spPr>
          <a:xfrm>
            <a:off x="420624" y="2613959"/>
            <a:ext cx="8302752" cy="3488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lang="es-MX" dirty="0"/>
              <a:t>que tiene la mayor varianza. Por </a:t>
            </a:r>
            <a:r>
              <a:rPr lang="es-MX" b="1" dirty="0"/>
              <a:t>normalizada</a:t>
            </a:r>
            <a:r>
              <a:rPr lang="es-MX" dirty="0"/>
              <a:t> entendemos que </a:t>
            </a:r>
            <a:endParaRPr b="0" i="0" dirty="0">
              <a:solidFill>
                <a:srgbClr val="000000"/>
              </a:solidFill>
              <a:latin typeface="Ubuntu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88AF2BE2-E396-63A8-B66A-9821CC5FCC4C}"/>
              </a:ext>
            </a:extLst>
          </p:cNvPr>
          <p:cNvSpPr txBox="1"/>
          <p:nvPr/>
        </p:nvSpPr>
        <p:spPr>
          <a:xfrm>
            <a:off x="420624" y="3479714"/>
            <a:ext cx="8302752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dirty="0"/>
              <a:t>Llamamos a los elementos φ₁₁, …, φₚ₁ las cargas (loadings) de la primera componente principal; en conjunto, las cargas forman el vector de cargas de la componente principal: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098A85D-92DE-D32E-F475-0CB924C41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749" y="2529788"/>
            <a:ext cx="1651000" cy="5715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2ACEA50-04E6-8C36-28D4-C3FFA2BBB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900" y="4233154"/>
            <a:ext cx="2870200" cy="635000"/>
          </a:xfrm>
          <a:prstGeom prst="rect">
            <a:avLst/>
          </a:prstGeom>
        </p:spPr>
      </p:pic>
      <p:sp>
        <p:nvSpPr>
          <p:cNvPr id="18" name="TextBox 6">
            <a:extLst>
              <a:ext uri="{FF2B5EF4-FFF2-40B4-BE49-F238E27FC236}">
                <a16:creationId xmlns:a16="http://schemas.microsoft.com/office/drawing/2014/main" id="{D57CB253-21F9-87C2-CDB9-ADD52D53F395}"/>
              </a:ext>
            </a:extLst>
          </p:cNvPr>
          <p:cNvSpPr txBox="1"/>
          <p:nvPr/>
        </p:nvSpPr>
        <p:spPr>
          <a:xfrm>
            <a:off x="420624" y="5301274"/>
            <a:ext cx="8302752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*</a:t>
            </a:r>
            <a:r>
              <a:rPr lang="es-MX" dirty="0"/>
              <a:t>Restringimos las cargas de modo que su suma de cuadrados sea igual a uno, ya que de lo contrario, fijar estos elementos en valores arbitrariamente grandes en valor absoluto podría producir una varianza arbitrariamente grande.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0A7E8E6-00D8-A49F-CB5F-BEDBA43EB8D6}"/>
              </a:ext>
            </a:extLst>
          </p:cNvPr>
          <p:cNvSpPr txBox="1"/>
          <p:nvPr/>
        </p:nvSpPr>
        <p:spPr>
          <a:xfrm>
            <a:off x="7830213" y="2529788"/>
            <a:ext cx="3452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*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54799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EDA3C-DD79-ABE3-BA71-6BD63AD2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CDAD02-FC11-CA31-27ED-2159BC440CBE}"/>
              </a:ext>
            </a:extLst>
          </p:cNvPr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FC9A5-4F7A-71EE-DBA9-C8326F42FA70}"/>
              </a:ext>
            </a:extLst>
          </p:cNvPr>
          <p:cNvSpPr txBox="1"/>
          <p:nvPr/>
        </p:nvSpPr>
        <p:spPr>
          <a:xfrm>
            <a:off x="228600" y="434227"/>
            <a:ext cx="83210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2200" b="1" i="0" dirty="0">
                <a:solidFill>
                  <a:srgbClr val="FFFFFF"/>
                </a:solidFill>
                <a:latin typeface="Ubuntu"/>
              </a:rPr>
              <a:t>El segundo componente principal</a:t>
            </a:r>
            <a:endParaRPr sz="2200" b="1" i="0" dirty="0">
              <a:solidFill>
                <a:srgbClr val="FFFFFF"/>
              </a:solidFill>
              <a:latin typeface="Ubuntu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0F0CE3-6087-A553-7940-462BB2C73128}"/>
              </a:ext>
            </a:extLst>
          </p:cNvPr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23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FFCA5E7E-CB5F-5B71-81FE-E9022A4CBF7F}"/>
              </a:ext>
            </a:extLst>
          </p:cNvPr>
          <p:cNvSpPr txBox="1"/>
          <p:nvPr/>
        </p:nvSpPr>
        <p:spPr>
          <a:xfrm>
            <a:off x="420624" y="1110682"/>
            <a:ext cx="8302752" cy="267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lang="es-MX" dirty="0"/>
              <a:t>Una vez determinada la </a:t>
            </a:r>
            <a:r>
              <a:rPr lang="es-MX" b="1" dirty="0"/>
              <a:t>primera componente principal</a:t>
            </a:r>
            <a:r>
              <a:rPr lang="es-MX" dirty="0"/>
              <a:t> Z₁ de las variables, podemos encontrar la </a:t>
            </a:r>
            <a:r>
              <a:rPr lang="es-MX" b="1" dirty="0"/>
              <a:t>segunda componente principal</a:t>
            </a:r>
            <a:r>
              <a:rPr lang="es-MX" dirty="0"/>
              <a:t> Z₂. </a:t>
            </a:r>
          </a:p>
          <a:p>
            <a:pPr>
              <a:lnSpc>
                <a:spcPct val="140000"/>
              </a:lnSpc>
            </a:pPr>
            <a:endParaRPr lang="es-MX" dirty="0"/>
          </a:p>
          <a:p>
            <a:pPr>
              <a:lnSpc>
                <a:spcPct val="140000"/>
              </a:lnSpc>
            </a:pPr>
            <a:r>
              <a:rPr lang="es-MX" dirty="0"/>
              <a:t>La segunda componente principal es la combinación lineal de X₁, …, Xₚ que tiene </a:t>
            </a:r>
            <a:r>
              <a:rPr lang="es-MX" b="1" dirty="0"/>
              <a:t>varianza máxima</a:t>
            </a:r>
            <a:r>
              <a:rPr lang="es-MX" dirty="0"/>
              <a:t> de entre todas las combinaciones lineales que están </a:t>
            </a:r>
            <a:r>
              <a:rPr lang="es-MX" i="1" dirty="0"/>
              <a:t>no correlacionadas</a:t>
            </a:r>
            <a:r>
              <a:rPr lang="es-MX" dirty="0"/>
              <a:t> con Z₁ (son ortogonales). Las puntuaciones de la segunda componente principal z₁₂, z₂₂, …, zₙ₂ toman la forma</a:t>
            </a:r>
            <a:endParaRPr b="0" i="0" dirty="0">
              <a:solidFill>
                <a:srgbClr val="000000"/>
              </a:solidFill>
              <a:latin typeface="Ubuntu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034D6A4-73D3-1B0D-77F5-E8EC2BE37E24}"/>
              </a:ext>
            </a:extLst>
          </p:cNvPr>
          <p:cNvSpPr txBox="1"/>
          <p:nvPr/>
        </p:nvSpPr>
        <p:spPr>
          <a:xfrm>
            <a:off x="420624" y="4661767"/>
            <a:ext cx="8302752" cy="15122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lang="es-MX" dirty="0"/>
              <a:t>donde φ₂ es el </a:t>
            </a:r>
            <a:r>
              <a:rPr lang="es-MX" b="1" dirty="0"/>
              <a:t>vector de cargas</a:t>
            </a:r>
            <a:r>
              <a:rPr lang="es-MX" dirty="0"/>
              <a:t> de la segunda componente principal, con elementos φ₁₂, φ₂₂, …, φₚ₂. Resulta que restringir Z₂ para que esté no correlacionada con Z₁ es equivalente a restringir la dirección φ₂ para que sea </a:t>
            </a:r>
            <a:r>
              <a:rPr lang="es-MX" b="1" dirty="0"/>
              <a:t>ortogonal</a:t>
            </a:r>
            <a:r>
              <a:rPr lang="es-MX" dirty="0"/>
              <a:t> (perpendicular) a la dirección φ₁.</a:t>
            </a:r>
            <a:endParaRPr b="0" i="0" dirty="0">
              <a:solidFill>
                <a:srgbClr val="000000"/>
              </a:solidFill>
              <a:latin typeface="Ubuntu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5BEEEB8-C3A0-3645-9DD5-C64600972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282" y="3711794"/>
            <a:ext cx="4886478" cy="85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44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1409F-645C-D0E9-8B7D-4554DCF2D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702079-BE53-5FF3-3674-0A218AA6BA67}"/>
              </a:ext>
            </a:extLst>
          </p:cNvPr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B926A-F9F0-4C4B-0A97-D19E4FBC2F40}"/>
              </a:ext>
            </a:extLst>
          </p:cNvPr>
          <p:cNvSpPr txBox="1"/>
          <p:nvPr/>
        </p:nvSpPr>
        <p:spPr>
          <a:xfrm>
            <a:off x="228600" y="434227"/>
            <a:ext cx="83210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2200" b="1" i="0" dirty="0">
                <a:solidFill>
                  <a:srgbClr val="FFFFFF"/>
                </a:solidFill>
                <a:latin typeface="Ubuntu"/>
              </a:rPr>
              <a:t>Ejemplo de pesos</a:t>
            </a:r>
            <a:endParaRPr sz="2200" b="1" i="0" dirty="0">
              <a:solidFill>
                <a:srgbClr val="FFFFFF"/>
              </a:solidFill>
              <a:latin typeface="Ubuntu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22BF7-2734-04F1-F562-33996D52F54A}"/>
              </a:ext>
            </a:extLst>
          </p:cNvPr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23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ACC7C65-E5C4-FF5F-09F1-E07805B47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2" y="2252057"/>
            <a:ext cx="3352646" cy="133089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215D4FD-A0B1-009B-B512-96858135EB51}"/>
              </a:ext>
            </a:extLst>
          </p:cNvPr>
          <p:cNvSpPr txBox="1"/>
          <p:nvPr/>
        </p:nvSpPr>
        <p:spPr>
          <a:xfrm>
            <a:off x="0" y="1412702"/>
            <a:ext cx="33825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Componentes principales de la base de arrestos de la base de </a:t>
            </a:r>
            <a:r>
              <a:rPr lang="es-MX" i="1" dirty="0"/>
              <a:t>USArrests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3FC5CB1-F6C2-9D70-C552-EE397B65F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882" y="1041733"/>
            <a:ext cx="5859624" cy="552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64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5116F-92B7-9501-7969-B1B90E2F4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B6054C-B7C9-647B-C98B-891057AE7F07}"/>
              </a:ext>
            </a:extLst>
          </p:cNvPr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3C77F-D336-DD8E-013D-CB19658E55EC}"/>
              </a:ext>
            </a:extLst>
          </p:cNvPr>
          <p:cNvSpPr txBox="1"/>
          <p:nvPr/>
        </p:nvSpPr>
        <p:spPr>
          <a:xfrm>
            <a:off x="228600" y="434227"/>
            <a:ext cx="83210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Ubuntu"/>
              </a:rPr>
              <a:t>PCA: </a:t>
            </a:r>
            <a:r>
              <a:rPr sz="2200" b="1" i="0" dirty="0" err="1">
                <a:solidFill>
                  <a:srgbClr val="FFFFFF"/>
                </a:solidFill>
                <a:latin typeface="Ubuntu"/>
              </a:rPr>
              <a:t>proyectar</a:t>
            </a:r>
            <a:r>
              <a:rPr sz="2200" b="1" i="0" dirty="0">
                <a:solidFill>
                  <a:srgbClr val="FFFFFF"/>
                </a:solidFill>
                <a:latin typeface="Ubuntu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Ubuntu"/>
              </a:rPr>
              <a:t>una</a:t>
            </a:r>
            <a:r>
              <a:rPr sz="2200" b="1" i="0" dirty="0">
                <a:solidFill>
                  <a:srgbClr val="FFFFFF"/>
                </a:solidFill>
                <a:latin typeface="Ubuntu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Ubuntu"/>
              </a:rPr>
              <a:t>nube</a:t>
            </a:r>
            <a:r>
              <a:rPr sz="2200" b="1" i="0" dirty="0">
                <a:solidFill>
                  <a:srgbClr val="FFFFFF"/>
                </a:solidFill>
                <a:latin typeface="Ubuntu"/>
              </a:rPr>
              <a:t> de puntos a </a:t>
            </a:r>
            <a:r>
              <a:rPr lang="es-ES" sz="2200" b="1" i="0" dirty="0">
                <a:solidFill>
                  <a:srgbClr val="FFFFFF"/>
                </a:solidFill>
                <a:latin typeface="Ubuntu"/>
              </a:rPr>
              <a:t>3</a:t>
            </a:r>
            <a:r>
              <a:rPr sz="2200" b="1" i="0" dirty="0">
                <a:solidFill>
                  <a:srgbClr val="FFFFFF"/>
                </a:solidFill>
                <a:latin typeface="Ubuntu"/>
              </a:rPr>
              <a:t>D</a:t>
            </a:r>
            <a:r>
              <a:rPr lang="es-ES" sz="2200" b="1" i="0" dirty="0">
                <a:solidFill>
                  <a:srgbClr val="FFFFFF"/>
                </a:solidFill>
                <a:latin typeface="Ubuntu"/>
              </a:rPr>
              <a:t> a un plano 2D</a:t>
            </a:r>
            <a:endParaRPr sz="2200" b="1" i="0" dirty="0">
              <a:solidFill>
                <a:srgbClr val="FFFFFF"/>
              </a:solidFill>
              <a:latin typeface="Ubuntu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171A549-12BB-192E-AF07-837D6B6B2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8410"/>
            <a:ext cx="7772400" cy="5308629"/>
          </a:xfrm>
          <a:prstGeom prst="rect">
            <a:avLst/>
          </a:prstGeom>
        </p:spPr>
      </p:pic>
      <p:sp>
        <p:nvSpPr>
          <p:cNvPr id="12" name="TextBox 7">
            <a:extLst>
              <a:ext uri="{FF2B5EF4-FFF2-40B4-BE49-F238E27FC236}">
                <a16:creationId xmlns:a16="http://schemas.microsoft.com/office/drawing/2014/main" id="{0EEB265E-ED95-F7EE-C88B-8A7FE27404FD}"/>
              </a:ext>
            </a:extLst>
          </p:cNvPr>
          <p:cNvSpPr txBox="1"/>
          <p:nvPr/>
        </p:nvSpPr>
        <p:spPr>
          <a:xfrm>
            <a:off x="292608" y="1018360"/>
            <a:ext cx="8302752" cy="5075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dirty="0">
                <a:solidFill>
                  <a:srgbClr val="000000"/>
                </a:solidFill>
                <a:latin typeface="Ubuntu"/>
              </a:rPr>
              <a:t>Los puntos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mantienen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su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estructura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relativa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(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quién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está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cerca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sigue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cerca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),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pero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ahora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vemos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2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dimensiones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488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Scree plot: cuánta información captura cada CP</a:t>
            </a:r>
          </a:p>
        </p:txBody>
      </p:sp>
      <p:pic>
        <p:nvPicPr>
          <p:cNvPr id="5" name="Picture 4" descr="08_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51" y="1152144"/>
            <a:ext cx="6745295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Las barras muestran la varianza de cada componente; la línea roja es la varianza acumulada.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19" y="5797296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5897880"/>
            <a:ext cx="83027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dirty="0">
                <a:solidFill>
                  <a:srgbClr val="000000"/>
                </a:solidFill>
                <a:latin typeface="Ubuntu"/>
              </a:rPr>
              <a:t>El '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codo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' del scree plot indica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cuántos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componentes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conservar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. Si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primeros 2-3 suman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más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del 80%,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podemos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comprimir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bien.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25</a:t>
            </a:r>
          </a:p>
        </p:txBody>
      </p:sp>
    </p:spTree>
    <p:extLst>
      <p:ext uri="{BB962C8B-B14F-4D97-AF65-F5344CB8AC3E}">
        <p14:creationId xmlns:p14="http://schemas.microsoft.com/office/powerpoint/2010/main" val="1294525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PCA paso a paso (sin fórmulas)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PCA es una receta matemática, pero su lógica es intuitiva.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Estandarizar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1903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000000"/>
                </a:solidFill>
                <a:latin typeface="Ubuntu"/>
              </a:rPr>
              <a:t>Z-score de </a:t>
            </a:r>
            <a:r>
              <a:rPr sz="1200" b="0" i="0" dirty="0" err="1">
                <a:solidFill>
                  <a:srgbClr val="000000"/>
                </a:solidFill>
                <a:latin typeface="Ubuntu"/>
              </a:rPr>
              <a:t>todas</a:t>
            </a:r>
            <a:r>
              <a:rPr sz="1200" b="0" i="0" dirty="0">
                <a:solidFill>
                  <a:srgbClr val="000000"/>
                </a:solidFill>
                <a:latin typeface="Ubuntu"/>
              </a:rPr>
              <a:t> las variables. </a:t>
            </a:r>
            <a:r>
              <a:rPr sz="1200" b="1" i="0" dirty="0">
                <a:solidFill>
                  <a:srgbClr val="000000"/>
                </a:solidFill>
                <a:latin typeface="Ubuntu"/>
              </a:rPr>
              <a:t>Indispensable</a:t>
            </a:r>
            <a:r>
              <a:rPr sz="1200" b="0" i="0" dirty="0">
                <a:solidFill>
                  <a:srgbClr val="000000"/>
                </a:solidFill>
                <a:latin typeface="Ubuntu"/>
              </a:rPr>
              <a:t>: PCA es sensible a la </a:t>
            </a:r>
            <a:r>
              <a:rPr sz="1200" b="0" i="0" dirty="0" err="1">
                <a:solidFill>
                  <a:srgbClr val="000000"/>
                </a:solidFill>
                <a:latin typeface="Ubuntu"/>
              </a:rPr>
              <a:t>escala</a:t>
            </a:r>
            <a:r>
              <a:rPr sz="12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6517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15184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Calcular componentes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7406640" cy="557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000000"/>
                </a:solidFill>
                <a:latin typeface="Ubuntu"/>
              </a:rPr>
              <a:t>El </a:t>
            </a:r>
            <a:r>
              <a:rPr sz="1200" b="0" i="0" dirty="0" err="1">
                <a:solidFill>
                  <a:srgbClr val="000000"/>
                </a:solidFill>
                <a:latin typeface="Ubuntu"/>
              </a:rPr>
              <a:t>algoritmo</a:t>
            </a:r>
            <a:r>
              <a:rPr sz="12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Ubuntu"/>
              </a:rPr>
              <a:t>encuentra</a:t>
            </a:r>
            <a:r>
              <a:rPr sz="1200" b="0" i="0" dirty="0">
                <a:solidFill>
                  <a:srgbClr val="000000"/>
                </a:solidFill>
                <a:latin typeface="Ubuntu"/>
              </a:rPr>
              <a:t> las </a:t>
            </a:r>
            <a:r>
              <a:rPr sz="1200" b="0" i="0" dirty="0" err="1">
                <a:solidFill>
                  <a:srgbClr val="000000"/>
                </a:solidFill>
                <a:latin typeface="Ubuntu"/>
              </a:rPr>
              <a:t>direcciones</a:t>
            </a:r>
            <a:r>
              <a:rPr sz="12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200" b="0" i="0" dirty="0" err="1">
                <a:solidFill>
                  <a:srgbClr val="000000"/>
                </a:solidFill>
                <a:latin typeface="Ubuntu"/>
              </a:rPr>
              <a:t>máxima</a:t>
            </a:r>
            <a:r>
              <a:rPr sz="12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Ubuntu"/>
              </a:rPr>
              <a:t>varianza</a:t>
            </a:r>
            <a:r>
              <a:rPr sz="12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2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2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sz="12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204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83863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Elegir cuántos CP conservar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7"/>
            <a:ext cx="7406640" cy="557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Revisar el scree plot: tomar los CP que sumen el 80-90% de varianza.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3891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52544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Proyectar los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81728"/>
            <a:ext cx="7406640" cy="557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Transformar cada observación a las nuevas coordenadas (CP1, CP2, ...).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2578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21224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Visualizar e interpretar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50408"/>
            <a:ext cx="7406640" cy="557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Graficar en 2D y colorear por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grupos; analizar qué representa cada CP.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26</a:t>
            </a:r>
          </a:p>
        </p:txBody>
      </p:sp>
    </p:spTree>
    <p:extLst>
      <p:ext uri="{BB962C8B-B14F-4D97-AF65-F5344CB8AC3E}">
        <p14:creationId xmlns:p14="http://schemas.microsoft.com/office/powerpoint/2010/main" val="1679567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3373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4622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16000" b="1" dirty="0">
                <a:solidFill>
                  <a:srgbClr val="336395"/>
                </a:solidFill>
                <a:latin typeface="Ubuntu"/>
              </a:rPr>
              <a:t>3</a:t>
            </a:r>
            <a:endParaRPr sz="16000" b="1" i="0" dirty="0">
              <a:solidFill>
                <a:srgbClr val="336395"/>
              </a:solidFill>
              <a:latin typeface="Ubuntu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Clustering: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agrupar lo parecido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Encontrar grupos naturales en los datos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es el clustering?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1888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Clustering es la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tarea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dividir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un conjunto 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GRUPOS</a:t>
            </a:r>
            <a:r>
              <a:rPr lang="es-ES"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(clusters) 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manera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elementos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dentro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de un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grupo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sean</a:t>
            </a:r>
            <a:r>
              <a:rPr lang="es-ES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SIMILARES entre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sí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, y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diferentes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elementos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otros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40000"/>
              </a:lnSpc>
            </a:pPr>
            <a:endParaRPr sz="18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800" b="1" i="0" dirty="0">
                <a:solidFill>
                  <a:srgbClr val="000000"/>
                </a:solidFill>
                <a:latin typeface="Ubuntu"/>
              </a:rPr>
              <a:t>No </a:t>
            </a:r>
            <a:r>
              <a:rPr sz="1800" b="1" i="0" dirty="0" err="1">
                <a:solidFill>
                  <a:srgbClr val="000000"/>
                </a:solidFill>
                <a:latin typeface="Ubuntu"/>
              </a:rPr>
              <a:t>definimos</a:t>
            </a:r>
            <a:r>
              <a:rPr sz="1800" b="1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1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800" b="1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1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800" b="1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800" b="1" i="0" dirty="0" err="1">
                <a:solidFill>
                  <a:srgbClr val="000000"/>
                </a:solidFill>
                <a:latin typeface="Ubuntu"/>
              </a:rPr>
              <a:t>antemano</a:t>
            </a:r>
            <a:r>
              <a:rPr sz="1800" b="1" i="0" dirty="0">
                <a:solidFill>
                  <a:srgbClr val="000000"/>
                </a:solidFill>
                <a:latin typeface="Ubuntu"/>
              </a:rPr>
              <a:t>: </a:t>
            </a:r>
            <a:r>
              <a:rPr lang="es-ES" sz="1800" b="1" i="0" dirty="0">
                <a:solidFill>
                  <a:srgbClr val="000000"/>
                </a:solidFill>
                <a:latin typeface="Ubuntu"/>
              </a:rPr>
              <a:t>estos </a:t>
            </a:r>
            <a:r>
              <a:rPr sz="1800" b="1" i="0" dirty="0" err="1">
                <a:solidFill>
                  <a:srgbClr val="000000"/>
                </a:solidFill>
                <a:latin typeface="Ubuntu"/>
              </a:rPr>
              <a:t>emergen</a:t>
            </a:r>
            <a:r>
              <a:rPr sz="1800" b="1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800" b="1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800" b="1" i="0" dirty="0">
                <a:solidFill>
                  <a:srgbClr val="000000"/>
                </a:solidFill>
                <a:latin typeface="Ubuntu"/>
              </a:rPr>
              <a:t> </a:t>
            </a:r>
            <a:r>
              <a:rPr lang="es-ES" sz="1800" b="1" i="0" dirty="0">
                <a:solidFill>
                  <a:srgbClr val="000000"/>
                </a:solidFill>
                <a:latin typeface="Ubuntu"/>
              </a:rPr>
              <a:t>mismos </a:t>
            </a:r>
            <a:r>
              <a:rPr sz="1800" b="1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sz="1800" b="1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14900"/>
            <a:ext cx="8595360" cy="141732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500634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5390388"/>
            <a:ext cx="8302752" cy="644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Como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separar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frijoles de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lentejas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 (y de piedras)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sin saber sus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nombres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: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pones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juntos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porque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se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parecen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, no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porque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alguien</a:t>
            </a:r>
            <a:r>
              <a:rPr lang="es-ES" sz="160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te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dijo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son del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mismo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tipo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Antes y después del clustering</a:t>
            </a:r>
          </a:p>
        </p:txBody>
      </p:sp>
      <p:pic>
        <p:nvPicPr>
          <p:cNvPr id="5" name="Picture 4" descr="02_antes_desp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18" y="1234440"/>
            <a:ext cx="7461564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Los mismos puntos: sin etiqueta vs descubriendo 3 grupos.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5669280"/>
            <a:ext cx="83027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dirty="0">
                <a:solidFill>
                  <a:srgbClr val="000000"/>
                </a:solidFill>
                <a:latin typeface="Ubuntu"/>
              </a:rPr>
              <a:t>El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algoritmo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encontró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la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estructura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estaba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'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escondida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'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. Nadie le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dijo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cuántos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había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Ejemplos reales de clustering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C9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F7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C97B2A"/>
                </a:solidFill>
                <a:latin typeface="Ubuntu"/>
              </a:rPr>
              <a:t>Usos en la vida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266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 dirty="0">
                <a:solidFill>
                  <a:srgbClr val="000000"/>
                </a:solidFill>
                <a:latin typeface="Ubuntu"/>
              </a:rPr>
              <a:t>VINOS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: 600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muestras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con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mediciones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químicas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(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acidez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, alcohol,</a:t>
            </a:r>
            <a:r>
              <a:rPr lang="es-ES"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azúcar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...). ¿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Existen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perfiles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químicos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naturales?</a:t>
            </a:r>
          </a:p>
          <a:p>
            <a:pPr algn="l">
              <a:lnSpc>
                <a:spcPct val="150000"/>
              </a:lnSpc>
            </a:pPr>
            <a:endParaRPr sz="18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800" b="1" i="0" dirty="0">
                <a:solidFill>
                  <a:srgbClr val="000000"/>
                </a:solidFill>
                <a:latin typeface="Ubuntu"/>
              </a:rPr>
              <a:t>MUNICIPIOS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: 500 municipios con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indicadores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sociales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(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pobreza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,</a:t>
            </a:r>
            <a:r>
              <a:rPr lang="es-ES"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internet,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ingreso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...). ¿Podemos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agruparlos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para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diseñar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políticas</a:t>
            </a:r>
            <a:r>
              <a:rPr lang="es-ES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públicas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diferenciadas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?</a:t>
            </a:r>
          </a:p>
          <a:p>
            <a:pPr algn="l">
              <a:lnSpc>
                <a:spcPct val="150000"/>
              </a:lnSpc>
            </a:pPr>
            <a:endParaRPr sz="18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800" b="1" i="0" dirty="0">
                <a:solidFill>
                  <a:srgbClr val="000000"/>
                </a:solidFill>
                <a:latin typeface="Ubuntu"/>
              </a:rPr>
              <a:t>CLIENTES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: un banco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quiere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segmentar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a sus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clientes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sin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imponer</a:t>
            </a:r>
            <a:r>
              <a:rPr lang="es-ES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categorías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previas. El clustering las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descubre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4622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16000" b="1" i="0" dirty="0">
                <a:solidFill>
                  <a:srgbClr val="336395"/>
                </a:solidFill>
                <a:latin typeface="Ubuntu"/>
              </a:rPr>
              <a:t>4</a:t>
            </a:r>
            <a:endParaRPr sz="16000" b="1" i="0" dirty="0">
              <a:solidFill>
                <a:srgbClr val="336395"/>
              </a:solidFill>
              <a:latin typeface="Ubuntu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K-means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paso a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El algoritmo más popular de clustering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idea central de 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304988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Idea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2765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K-means divide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K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usando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CENTROIDES: puntos</a:t>
            </a:r>
            <a:r>
              <a:rPr lang="es-ES"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imaginarios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representan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'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centro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' 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cada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grupo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40000"/>
              </a:lnSpc>
            </a:pPr>
            <a:endParaRPr sz="18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La idea: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cada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punto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pertenece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al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grupo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cuyo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centroide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está</a:t>
            </a:r>
            <a:r>
              <a:rPr lang="es-ES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MÁS CERCA 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él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 Y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cada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centroide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se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mueve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al PROMEDIO de sus</a:t>
            </a:r>
            <a:r>
              <a:rPr lang="es-ES"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puntos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asignados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 Se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repite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hasta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nada cambia.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859676"/>
            <a:ext cx="8595360" cy="1358244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502920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5433708"/>
            <a:ext cx="8302752" cy="644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Es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como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elegir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puntos de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reunión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: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cada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persona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va</a:t>
            </a:r>
            <a:r>
              <a:rPr lang="es-ES" sz="160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al punto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más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cercano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, y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punto se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mueve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al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centro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quien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llegó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distancia en 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302666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1888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K-means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usa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la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distancia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EUCLIDIANA: la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misma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del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Teorema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de</a:t>
            </a:r>
            <a:r>
              <a:rPr lang="es-ES"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Pitágoras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 Si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cada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municipio es un punto con 9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coordenadas</a:t>
            </a:r>
            <a:r>
              <a:rPr lang="es-ES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(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una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por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indicador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), la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distancia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mide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qué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tan '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parecidos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' son</a:t>
            </a:r>
            <a:r>
              <a:rPr lang="es-ES"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dos municipios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todos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indicadores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a la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vez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40000"/>
              </a:lnSpc>
            </a:pPr>
            <a:endParaRPr sz="18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Municipios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cercanos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ese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espacio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tienen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perfiles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similares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020056"/>
            <a:ext cx="8595360" cy="13258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5111496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5495544"/>
            <a:ext cx="8302752" cy="644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Dos municipios '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cercanos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' no 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(necesariamente) 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son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vecinos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geográficos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:</a:t>
            </a:r>
          </a:p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son municipios con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números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parecidos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pobreza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,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internet,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ingreso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, etc.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K-means: los 4 pasos visualizados</a:t>
            </a:r>
          </a:p>
        </p:txBody>
      </p:sp>
      <p:pic>
        <p:nvPicPr>
          <p:cNvPr id="5" name="Picture 4" descr="03_kmeans_pa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63206"/>
            <a:ext cx="6403428" cy="56033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2986" y="3148875"/>
            <a:ext cx="2243327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 dirty="0">
                <a:solidFill>
                  <a:srgbClr val="555555"/>
                </a:solidFill>
                <a:latin typeface="Ubuntu"/>
              </a:rPr>
              <a:t>De </a:t>
            </a:r>
            <a:r>
              <a:rPr sz="1300" b="0" i="1" dirty="0" err="1">
                <a:solidFill>
                  <a:srgbClr val="555555"/>
                </a:solidFill>
                <a:latin typeface="Ubuntu"/>
              </a:rPr>
              <a:t>centroides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 al azar a </a:t>
            </a:r>
            <a:r>
              <a:rPr sz="1300" b="0" i="1" dirty="0" err="1">
                <a:solidFill>
                  <a:srgbClr val="555555"/>
                </a:solidFill>
                <a:latin typeface="Ubuntu"/>
              </a:rPr>
              <a:t>grupos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Ubuntu"/>
              </a:rPr>
              <a:t>estables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Ubuntu"/>
              </a:rPr>
              <a:t>en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 4 pasos.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987" y="1281316"/>
            <a:ext cx="2152413" cy="131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5000"/>
              </a:lnSpc>
            </a:pPr>
            <a:r>
              <a:rPr sz="1400" b="1" i="0" dirty="0">
                <a:solidFill>
                  <a:srgbClr val="000000"/>
                </a:solidFill>
                <a:latin typeface="Ubuntu"/>
              </a:rPr>
              <a:t>El </a:t>
            </a:r>
            <a:r>
              <a:rPr sz="1400" b="1" i="0" dirty="0" err="1">
                <a:solidFill>
                  <a:srgbClr val="000000"/>
                </a:solidFill>
                <a:latin typeface="Ubuntu"/>
              </a:rPr>
              <a:t>algoritmo</a:t>
            </a:r>
            <a:r>
              <a:rPr sz="1400" b="1" i="0" dirty="0">
                <a:solidFill>
                  <a:srgbClr val="000000"/>
                </a:solidFill>
                <a:latin typeface="Ubuntu"/>
              </a:rPr>
              <a:t> CONVERGE: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eventualmente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centroides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dejan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moverse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y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quedan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fijos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03F49-18D2-BA5F-08BC-AEBA59573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57C1D52-68E4-BE20-1F08-05A5B8F81C1D}"/>
              </a:ext>
            </a:extLst>
          </p:cNvPr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10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13E0C06-204D-E351-EC3C-14894B98B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46" y="0"/>
            <a:ext cx="7233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06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A355C-D12B-E8BF-FB39-096F027D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39989DC-E122-80AC-A7E1-BE21CCFEDBE4}"/>
              </a:ext>
            </a:extLst>
          </p:cNvPr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9E881B-19B3-6805-BAB3-5BAEB5250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41" y="371698"/>
            <a:ext cx="6929518" cy="6486302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12DFA066-0622-5FFC-4E4F-8139F7AF5BC7}"/>
              </a:ext>
            </a:extLst>
          </p:cNvPr>
          <p:cNvSpPr txBox="1"/>
          <p:nvPr/>
        </p:nvSpPr>
        <p:spPr>
          <a:xfrm>
            <a:off x="1107241" y="80203"/>
            <a:ext cx="7653657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" sz="1300" b="0" i="1" dirty="0">
                <a:solidFill>
                  <a:srgbClr val="555555"/>
                </a:solidFill>
                <a:latin typeface="Ubuntu"/>
              </a:rPr>
              <a:t>Minimizando la varianza intra-</a:t>
            </a:r>
            <a:r>
              <a:rPr lang="es-ES" sz="1300" b="0" i="1" dirty="0" err="1">
                <a:solidFill>
                  <a:srgbClr val="555555"/>
                </a:solidFill>
                <a:latin typeface="Ubuntu"/>
              </a:rPr>
              <a:t>cluster</a:t>
            </a:r>
            <a:r>
              <a:rPr lang="es-ES" sz="1300" b="0" i="1" dirty="0">
                <a:solidFill>
                  <a:srgbClr val="555555"/>
                </a:solidFill>
                <a:latin typeface="Ubuntu"/>
              </a:rPr>
              <a:t>, obtenemos la solución optim</a:t>
            </a:r>
            <a:r>
              <a:rPr lang="es-ES" sz="1300" i="1" dirty="0">
                <a:solidFill>
                  <a:srgbClr val="555555"/>
                </a:solidFill>
                <a:latin typeface="Ubuntu"/>
              </a:rPr>
              <a:t>a para el reparto en </a:t>
            </a:r>
            <a:r>
              <a:rPr lang="es-ES" sz="1300" i="1" dirty="0" err="1">
                <a:solidFill>
                  <a:srgbClr val="555555"/>
                </a:solidFill>
                <a:latin typeface="Ubuntu"/>
              </a:rPr>
              <a:t>clústers</a:t>
            </a:r>
            <a:r>
              <a:rPr lang="es-ES" sz="1300" i="1" dirty="0">
                <a:solidFill>
                  <a:srgbClr val="555555"/>
                </a:solidFill>
                <a:latin typeface="Ubuntu"/>
              </a:rPr>
              <a:t>.</a:t>
            </a:r>
            <a:endParaRPr sz="1300" b="0" i="1" dirty="0">
              <a:solidFill>
                <a:srgbClr val="555555"/>
              </a:solidFill>
              <a:latin typeface="Ubuntu"/>
            </a:endParaRPr>
          </a:p>
        </p:txBody>
      </p:sp>
    </p:spTree>
    <p:extLst>
      <p:ext uri="{BB962C8B-B14F-4D97-AF65-F5344CB8AC3E}">
        <p14:creationId xmlns:p14="http://schemas.microsoft.com/office/powerpoint/2010/main" val="3003254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K-means: el algoritmo detallado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Simple, rápido y funciona bien. Es el punto de partida del clustering.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Elegir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557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Nosotros decidimos cuántos grupos queremos buscar (por ejemplo K = 3).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6517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15184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Colocar centroides al azar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7406640" cy="557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Elegimos K puntos al azar como centroides iniciales.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204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83863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Asignar cada punto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7"/>
            <a:ext cx="7406640" cy="557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Calculamos la distancia de cada punto a cada centroide; lo asignamos al más cercano.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3891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52544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Mover los centroides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81728"/>
            <a:ext cx="7406640" cy="557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Calculamos el promedio de los puntos de cada grupo; ese promedio es el nuevo centroide.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2578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21224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Repetir hasta converger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50408"/>
            <a:ext cx="7406640" cy="557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Repetimos asignar y mover hasta que ningún punto cambia de grupo.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problema: K es nuestra decisión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El dilema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16788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K-means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necesita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NOSOTROS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decidamos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cuántos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hay.</a:t>
            </a:r>
          </a:p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Pero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si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no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conocemos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la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estructura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antemano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,</a:t>
            </a:r>
            <a:r>
              <a:rPr lang="es-ES"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¿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cómo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elegimos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K?</a:t>
            </a:r>
          </a:p>
          <a:p>
            <a:pPr algn="l">
              <a:lnSpc>
                <a:spcPct val="140000"/>
              </a:lnSpc>
            </a:pPr>
            <a:endParaRPr sz="16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No hay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una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respuesta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única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1" dirty="0">
                <a:solidFill>
                  <a:srgbClr val="000000"/>
                </a:solidFill>
                <a:latin typeface="Ubuntu"/>
              </a:rPr>
              <a:t>'</a:t>
            </a:r>
            <a:r>
              <a:rPr sz="1600" b="0" i="1" dirty="0" err="1">
                <a:solidFill>
                  <a:srgbClr val="000000"/>
                </a:solidFill>
                <a:latin typeface="Ubuntu"/>
              </a:rPr>
              <a:t>correcta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'. Pero hay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herramientas</a:t>
            </a:r>
            <a:r>
              <a:rPr lang="es-ES" sz="160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que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nos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orientan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: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método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del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codo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y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índice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silueta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680802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4841692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5225740"/>
            <a:ext cx="8302752" cy="1444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Es como decidir en cuántas categorías ordenar tu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cuarto. Hay muchas formas válidas; buscamos la que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tenga sentido con los datos.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Inercia: qué tan compactos son los grupos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39"/>
            <a:ext cx="8595360" cy="2978745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2765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La </a:t>
            </a:r>
            <a:r>
              <a:rPr sz="1800" b="1" i="0" dirty="0">
                <a:solidFill>
                  <a:srgbClr val="000000"/>
                </a:solidFill>
                <a:latin typeface="Ubuntu"/>
              </a:rPr>
              <a:t>INERCIA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es la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suma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de las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distancias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al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cuadrado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cada</a:t>
            </a:r>
            <a:r>
              <a:rPr lang="es-ES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punto 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su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centroide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 Mide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qué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tan '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apretados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'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están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40000"/>
              </a:lnSpc>
            </a:pPr>
            <a:endParaRPr sz="18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Con K = 1: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inercia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máxima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(un solo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grupo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muy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disperso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).</a:t>
            </a:r>
          </a:p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000000"/>
                </a:solidFill>
                <a:latin typeface="Ubuntu"/>
              </a:rPr>
              <a:t>Con K = n: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inercia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= 0 (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cada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punto es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su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propio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grupo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).</a:t>
            </a:r>
          </a:p>
          <a:p>
            <a:pPr algn="l">
              <a:lnSpc>
                <a:spcPct val="140000"/>
              </a:lnSpc>
            </a:pPr>
            <a:r>
              <a:rPr sz="1800" b="0" i="0" dirty="0" err="1">
                <a:solidFill>
                  <a:srgbClr val="000000"/>
                </a:solidFill>
                <a:latin typeface="Ubuntu"/>
              </a:rPr>
              <a:t>Buscamos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K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donde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la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inercia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'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deja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800" b="0" i="0" dirty="0" err="1">
                <a:solidFill>
                  <a:srgbClr val="000000"/>
                </a:solidFill>
                <a:latin typeface="Ubuntu"/>
              </a:rPr>
              <a:t>bajar</a:t>
            </a:r>
            <a:r>
              <a:rPr sz="1800" b="0" i="0" dirty="0">
                <a:solidFill>
                  <a:srgbClr val="000000"/>
                </a:solidFill>
                <a:latin typeface="Ubuntu"/>
              </a:rPr>
              <a:t> tanto'.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860" y="4526280"/>
            <a:ext cx="874682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449056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01768"/>
            <a:ext cx="8449056" cy="9894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Si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cada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persona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la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clase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es un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grupo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de uno, la</a:t>
            </a:r>
          </a:p>
          <a:p>
            <a:pPr algn="l">
              <a:lnSpc>
                <a:spcPct val="140000"/>
              </a:lnSpc>
            </a:pPr>
            <a:r>
              <a:rPr sz="1600" b="0" i="0" dirty="0">
                <a:solidFill>
                  <a:srgbClr val="000000"/>
                </a:solidFill>
                <a:latin typeface="Ubuntu"/>
              </a:rPr>
              <a:t>'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distancia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al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centro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' es cero...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pero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eso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no es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útil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sz="1600" b="0" i="0" dirty="0" err="1">
                <a:solidFill>
                  <a:srgbClr val="000000"/>
                </a:solidFill>
                <a:latin typeface="Ubuntu"/>
              </a:rPr>
              <a:t>Buscamos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número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justo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6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6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Método del codo: la curva de inercia</a:t>
            </a:r>
          </a:p>
        </p:txBody>
      </p:sp>
      <p:pic>
        <p:nvPicPr>
          <p:cNvPr id="5" name="Picture 4" descr="04_c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510" y="1234440"/>
            <a:ext cx="630298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La inercia baja rápido al principio, luego se estabiliza.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662672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5754112"/>
            <a:ext cx="83027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dirty="0">
                <a:solidFill>
                  <a:srgbClr val="000000"/>
                </a:solidFill>
                <a:latin typeface="Ubuntu"/>
              </a:rPr>
              <a:t>El '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codo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' es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K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donde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agregar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más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ya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no reduce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mucho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la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inercia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.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Ahí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está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número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óptimo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aproximado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codo no siempre es obvio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8595360" cy="4297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46304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Ubuntu"/>
              </a:rPr>
              <a:t>Cuidado con el codo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847088"/>
            <a:ext cx="8302752" cy="30852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 dirty="0">
                <a:solidFill>
                  <a:srgbClr val="000000"/>
                </a:solidFill>
                <a:latin typeface="Ubuntu"/>
              </a:rPr>
              <a:t>En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datos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reales, la curva del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codo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a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veces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NO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tiene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un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quiebre</a:t>
            </a:r>
            <a:r>
              <a:rPr lang="es-ES" sz="170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claro. En ese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caso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:</a:t>
            </a:r>
          </a:p>
          <a:p>
            <a:pPr algn="l">
              <a:lnSpc>
                <a:spcPct val="150000"/>
              </a:lnSpc>
            </a:pPr>
            <a:endParaRPr sz="17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700" b="0" i="0" dirty="0">
                <a:solidFill>
                  <a:srgbClr val="000000"/>
                </a:solidFill>
                <a:latin typeface="Ubuntu"/>
              </a:rPr>
              <a:t>1. Usar también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índice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de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silueta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(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mide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separación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entre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).</a:t>
            </a:r>
          </a:p>
          <a:p>
            <a:pPr algn="l">
              <a:lnSpc>
                <a:spcPct val="150000"/>
              </a:lnSpc>
            </a:pPr>
            <a:r>
              <a:rPr sz="1700" b="0" i="0" dirty="0">
                <a:solidFill>
                  <a:srgbClr val="000000"/>
                </a:solidFill>
                <a:latin typeface="Ubuntu"/>
              </a:rPr>
              <a:t>2.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Probar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varios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K y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evaluar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si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tienen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INTERPRETACIÓN.</a:t>
            </a:r>
          </a:p>
          <a:p>
            <a:pPr algn="l">
              <a:lnSpc>
                <a:spcPct val="150000"/>
              </a:lnSpc>
            </a:pPr>
            <a:r>
              <a:rPr sz="1700" b="0" i="0" dirty="0">
                <a:solidFill>
                  <a:srgbClr val="000000"/>
                </a:solidFill>
                <a:latin typeface="Ubuntu"/>
              </a:rPr>
              <a:t>3.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Consultar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el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contexto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: un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experto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en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vinos sabe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si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3 o 4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perfiles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químicos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tiene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sentido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.</a:t>
            </a:r>
          </a:p>
          <a:p>
            <a:pPr algn="l">
              <a:lnSpc>
                <a:spcPct val="150000"/>
              </a:lnSpc>
            </a:pPr>
            <a:endParaRPr sz="1700" b="0" i="0" dirty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700" b="0" i="0" dirty="0">
                <a:solidFill>
                  <a:srgbClr val="000000"/>
                </a:solidFill>
                <a:latin typeface="Ubuntu"/>
              </a:rPr>
              <a:t>No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existe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un K '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correcto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' universal;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depende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 del </a:t>
            </a:r>
            <a:r>
              <a:rPr sz="1700" b="0" i="0" dirty="0" err="1">
                <a:solidFill>
                  <a:srgbClr val="000000"/>
                </a:solidFill>
                <a:latin typeface="Ubuntu"/>
              </a:rPr>
              <a:t>problema</a:t>
            </a:r>
            <a:r>
              <a:rPr sz="1700" b="0" i="0" dirty="0">
                <a:solidFill>
                  <a:srgbClr val="000000"/>
                </a:solidFill>
                <a:latin typeface="Ubuntu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4622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16000" b="1" dirty="0">
                <a:solidFill>
                  <a:srgbClr val="336395"/>
                </a:solidFill>
                <a:latin typeface="Ubuntu"/>
              </a:rPr>
              <a:t>5</a:t>
            </a:r>
            <a:endParaRPr sz="16000" b="1" i="0" dirty="0">
              <a:solidFill>
                <a:srgbClr val="336395"/>
              </a:solidFill>
              <a:latin typeface="Ubuntu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Juntando todo: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PCA +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Aplicación sobre municipios y vinos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flujo completo: de datos a perfiles</a:t>
            </a:r>
          </a:p>
        </p:txBody>
      </p:sp>
      <p:pic>
        <p:nvPicPr>
          <p:cNvPr id="5" name="Picture 4" descr="13_flujo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5226"/>
            <a:ext cx="8229600" cy="31248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0624" y="4591507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 dirty="0" err="1">
                <a:solidFill>
                  <a:srgbClr val="555555"/>
                </a:solidFill>
                <a:latin typeface="Ubuntu"/>
              </a:rPr>
              <a:t>Estandarizar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 -&gt; PCA -&gt; k-means -&gt; </a:t>
            </a:r>
            <a:r>
              <a:rPr sz="1300" b="0" i="1" dirty="0" err="1">
                <a:solidFill>
                  <a:srgbClr val="555555"/>
                </a:solidFill>
                <a:latin typeface="Ubuntu"/>
              </a:rPr>
              <a:t>interpretar</a:t>
            </a:r>
            <a:r>
              <a:rPr sz="1300" b="0" i="1" dirty="0">
                <a:solidFill>
                  <a:srgbClr val="555555"/>
                </a:solidFill>
                <a:latin typeface="Ubuntu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76200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5075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dirty="0">
                <a:solidFill>
                  <a:srgbClr val="000000"/>
                </a:solidFill>
                <a:latin typeface="Ubuntu"/>
              </a:rPr>
              <a:t>PCA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facilita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la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visualización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; k-means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descubre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los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grupos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. Juntos son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una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combinación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muy</a:t>
            </a:r>
            <a:r>
              <a:rPr sz="1400" b="0" i="0" dirty="0">
                <a:solidFill>
                  <a:srgbClr val="000000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Ubuntu"/>
              </a:rPr>
              <a:t>poderosa</a:t>
            </a:r>
            <a:r>
              <a:rPr lang="es-ES" sz="1400" dirty="0">
                <a:solidFill>
                  <a:srgbClr val="000000"/>
                </a:solidFill>
                <a:latin typeface="Ubuntu"/>
              </a:rPr>
              <a:t> para el aprendizaje no supervisado.</a:t>
            </a:r>
            <a:endParaRPr sz="1400" b="0" i="0" dirty="0">
              <a:solidFill>
                <a:srgbClr val="000000"/>
              </a:solidFill>
              <a:latin typeface="Ubuntu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28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5A0774F-248B-A439-87AE-D9C2D1C38F0A}"/>
              </a:ext>
            </a:extLst>
          </p:cNvPr>
          <p:cNvCxnSpPr>
            <a:cxnSpLocks/>
          </p:cNvCxnSpPr>
          <p:nvPr/>
        </p:nvCxnSpPr>
        <p:spPr>
          <a:xfrm>
            <a:off x="8367913" y="2205318"/>
            <a:ext cx="0" cy="1451898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Municipios: 3 perfiles socioeconómicos descubiertos</a:t>
            </a:r>
          </a:p>
        </p:txBody>
      </p:sp>
      <p:pic>
        <p:nvPicPr>
          <p:cNvPr id="5" name="Picture 4" descr="09_biplot_municip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39" y="1234440"/>
            <a:ext cx="566632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500 municipios proyectados a 2 componentes, coloreados por k-means.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Los grupos no los definimos nosotros: emergieron de los datos. Ahora podemos interpretar qué tiene en común cada grupo.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412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Ubuntu"/>
              </a:rPr>
              <a:t>Fuente: datos.csv ejercicio_2, datos simulados con estructura latente. Cálculos propios.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caracteriza a cada grupo de municipios?</a:t>
            </a:r>
          </a:p>
        </p:txBody>
      </p:sp>
      <p:pic>
        <p:nvPicPr>
          <p:cNvPr id="5" name="Picture 4" descr="12_perfiles_municip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33" y="1234440"/>
            <a:ext cx="6856134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Promedio de 4 indicadores clave por grupo.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Comparar los promedios ayuda a ponerle nombre a los grupos: 'municipios marginados rurales', 'urbanos conectados',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412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Ubuntu"/>
              </a:rPr>
              <a:t>Fuente: datos.csv ejercicio_2. Cálculos propios.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Vinos: 3 perfiles químicos descubiertos</a:t>
            </a:r>
          </a:p>
        </p:txBody>
      </p:sp>
      <p:pic>
        <p:nvPicPr>
          <p:cNvPr id="5" name="Picture 4" descr="11_biplot_vi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39" y="1234440"/>
            <a:ext cx="566632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600 muestras de vino en el espacio PCA, coloreadas por k-means.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Sin que nadie etiquetara las muestras, PCA + k-means reveló 3 perfiles químicos distintos.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412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Ubuntu"/>
              </a:rPr>
              <a:t>Fuente: datos.csv ejercicio_1, perfil fisicoquímico. Cálculos propios.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Pasos para aplicar PCA + clustering en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Con el paquete tidymodels y factoextra: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4114800" cy="4114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1965959"/>
            <a:ext cx="3822192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1. Cargar datos y quitar columna id.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2. step_impute_median() para NAs.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3. step_normalize() para z-score.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4. prcomp() o step_pca() para PCA.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5. kmeans() con el K elegido por el codo.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6. fviz_cluster() para visualizar.</a:t>
            </a:r>
          </a:p>
        </p:txBody>
      </p:sp>
      <p:pic>
        <p:nvPicPr>
          <p:cNvPr id="8" name="Picture 7" descr="13_flujo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133348"/>
            <a:ext cx="4206240" cy="15971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Errores comunes en clustering y PCA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8595360" cy="4297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46304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Ubuntu"/>
              </a:rPr>
              <a:t>Lista de verificación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847088"/>
            <a:ext cx="8302752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1. No estandarizar: una variable domina la distancia.</a:t>
            </a:r>
          </a:p>
          <a:p>
            <a:pPr algn="l">
              <a:lnSpc>
                <a:spcPct val="150000"/>
              </a:lnSpc>
            </a:pPr>
            <a:endParaRPr sz="17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2. Elegir K mal: usar el codo sin validar interpretación.</a:t>
            </a:r>
          </a:p>
          <a:p>
            <a:pPr algn="l">
              <a:lnSpc>
                <a:spcPct val="150000"/>
              </a:lnSpc>
            </a:pPr>
            <a:endParaRPr sz="17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3. Interpretar de más: los grupos son exploratorios,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   no verdad absoluta. Necesitan validación experta.</a:t>
            </a:r>
          </a:p>
          <a:p>
            <a:pPr algn="l">
              <a:lnSpc>
                <a:spcPct val="150000"/>
              </a:lnSpc>
            </a:pPr>
            <a:endParaRPr sz="1700" b="0" i="0">
              <a:solidFill>
                <a:srgbClr val="000000"/>
              </a:solidFill>
              <a:latin typeface="Ubuntu"/>
            </a:endParaRP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4. No hay 'accuracy': sin etiquetas no se mide acierto.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   Evalúa con coherencia e interpretación del dominio.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49377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28016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7A3A"/>
                </a:solidFill>
                <a:latin typeface="Ubuntu"/>
              </a:rPr>
              <a:t>Ideas clave para llevarte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664208"/>
            <a:ext cx="8302752" cy="437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No supervisado = aprender SIN etiquetas; el algoritmo descubre la estructura.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Clustering agrupa puntos similares; k-means usa centroides y converge iterativamente.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K es nuestra decisión: el método del codo ayuda, pero requiere interpretación.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SIEMPRE estandarizar (z-score) antes de clustering o PCA: la escala deforma las distancias.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PCA comprime muchas variables en componentes que capturan la máxima varianza.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PCA + k-means: visualizar y agrupar datos de alta dimensión para descubrir perfiles reales.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4D19A-2A92-F970-9D85-4690BD2FA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FDAD29-A9D3-EBFC-9168-51DB7472DEFF}"/>
              </a:ext>
            </a:extLst>
          </p:cNvPr>
          <p:cNvSpPr/>
          <p:nvPr/>
        </p:nvSpPr>
        <p:spPr>
          <a:xfrm>
            <a:off x="1025912" y="2770632"/>
            <a:ext cx="7382108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C73D0-AB55-C2E3-E0DB-B945E65B37DF}"/>
              </a:ext>
            </a:extLst>
          </p:cNvPr>
          <p:cNvSpPr txBox="1"/>
          <p:nvPr/>
        </p:nvSpPr>
        <p:spPr>
          <a:xfrm>
            <a:off x="2446020" y="2930539"/>
            <a:ext cx="42519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2200" b="1" dirty="0">
                <a:solidFill>
                  <a:srgbClr val="FFFFFF"/>
                </a:solidFill>
                <a:latin typeface="Ubuntu"/>
              </a:rPr>
              <a:t>Funciones a utilizar: </a:t>
            </a:r>
            <a:endParaRPr sz="2200" b="1" i="0" dirty="0">
              <a:solidFill>
                <a:srgbClr val="FFFFFF"/>
              </a:solidFill>
              <a:latin typeface="Ubuntu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9BFC94-0E10-14D8-3825-CD22CC124F9E}"/>
              </a:ext>
            </a:extLst>
          </p:cNvPr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34</a:t>
            </a:r>
          </a:p>
        </p:txBody>
      </p:sp>
    </p:spTree>
    <p:extLst>
      <p:ext uri="{BB962C8B-B14F-4D97-AF65-F5344CB8AC3E}">
        <p14:creationId xmlns:p14="http://schemas.microsoft.com/office/powerpoint/2010/main" val="13787685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recipe()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Declara una receta SOLO de preprocesamiento (no hay modelo): la fórmula y la secuencia de pasos.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receta_vinos &lt;- recipe(~ ., data = vinos)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step_impute_median(all_numeric_predictors())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step_normalize(all_numeric_predictors())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fórmula ~ . (sin nada a la izquierda) significa 'no hay variable objetivo': todas las columnas son predictores. Es la marca del no supervisado.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Encadenamos pasos step_*() con %&gt;%; el ORDEN importa: primero imputar, porque los pasos siguientes no toleran NAs.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receta es solo una RECETA: todavía no toca los datos.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step_impute_median()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Rellena los valores faltantes (NAs) de las variables numéricas con su mediana. Red de seguridad.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step_impute_median(all_numeric_predictors())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Sustituye cada NA por la mediana de esa columna. En vinos no hay NAs, pero incluirlo es buena práctica del flujo.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mediana es robusta a valores extremos: en municipios el ingreso es asimétrico (unos pocos muy ricos inflan la media), así que la mediana imputa mejor.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Importa porque los algoritmos de distancia y el PCA NO toleran NAs.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step_normalize()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Estandariza cada variable a media 0 y desviación 1. Es el paso CRÍTICO antes de PCA y clustering.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step_normalize(all_numeric_predictors())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El PCA maximiza varianza y el clustering mide distancias: ambos son SENSIBLES A LA ESCALA.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Sin normalizar, dioxido_azufre_total (cientos) aplastaría a cloruros o ácido cítrico (menos de 1): los grupos reflejarían las unidades, no la química real.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El z-score deja a todas las variables pesando por igual. Los parámetros (media y sd) se estiman al hacer prep().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prep() + bake()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prep() aprende los parámetros del preprocesamiento; bake() devuelve la matriz ya transformada.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2084831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8653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vinos_norm &lt;- receta_vinos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prep()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bake(new_data = NULL)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8CA68C"/>
                </a:solidFill>
                <a:latin typeface="Menlo"/>
              </a:rPr>
              <a:t># Verificación: cada columna con media ~0 y desv ~1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vinos_norm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summarise(across(everything(),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list(media = mean, desv = sd)))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553712"/>
            <a:ext cx="8595360" cy="1847088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645152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5029200"/>
            <a:ext cx="830275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prep() recorre la receta y aprende los valores que necesita: las medianas de imputación y la media/sd de cada columna.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bake(new_data = NULL) aplica esos pasos a los mismos datos de la receta y entrega la matriz lista para prcomp() y kmeans().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Verificamos que media ~0 y desviación ~1 confirma que la normalización quedó bien.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prcomp()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Calcula el PCA: reexpresa las variables en componentes ortogonales, ordenados de mayor a menor varianza.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pca_vinos &lt;- prcomp(vinos_norm,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center = FALSE, scale. = FALSE)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8CA68C"/>
                </a:solidFill>
                <a:latin typeface="Menlo"/>
              </a:rPr>
              <a:t># Cargas: peso de cada variable en PC1 y PC2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cargas &lt;- pca_vinos$rotation[, 1:2] %&gt;% round(2)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prcomp() crea ejes (componentes) que son combinaciones lineales de las variables originales; las primeras concentran lo esencial de la variabilidad.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center y scale. en FALSE porque YA normalizamos con la receta: no hay que escalar dos veces.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$rotation guarda las cargas: cuánto pesa cada variable en cada componente, clave para interpretar qué representa PC1 y PC2.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fviz_eig()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Dibuja el scree plot: el porcentaje de varianza explicada por cada componente principal.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fviz_eig(pca_vinos, addlabels = TRUE,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barfill = "#1e4c7d",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barcolor = "#1e4c7d",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main = "Varianza explicada (scree)")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fviz_eig() (del paquete factoextra) grafica la varianza explicada en orden decreciente.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 lee buscando el 'codo': el punto a partir del cual añadir más componentes aporta poco. Ahí decidimos cuántas retener.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addlabels = TRUE escribe el porcentaje sobre cada barra para leerlo directo.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fviz_pca_biplot()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Proyecta las observaciones en el plano PC1-PC2 y superpone las variables como flechas.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fviz_pca_biplot(pca_vinos,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label = "var", col.var = "#d62828",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col.ind = "#1e4c7d",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alpha.ind = 0.4)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Los puntos son las 600 muestras de vino; las flechas son las variables originales.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Variables con flechas casi paralelas están correlacionadas: aquí se ve juntas a las dos de dióxido de azufre (total contiene al libre).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label = "var" etiqueta solo las variables; col.ind / col.var fijan los colores de puntos y flechas.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fviz_nbclust(method="wss")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Método del codo: grafica la suma de cuadrados dentro de los grupos (WSS) para cada 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set.seed(123)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fviz_nbclust(vinos_norm, kmeans,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method = "wss", nstart = 20) +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labs(title = "Método del codo (WSS)")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Al aumentar k, la WSS siempre baja. Buscamos el 'codo': el k a partir del cual el descenso se vuelve marginal.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Recibe la matriz y la función de clustering (kmeans); nstart = 20 hace 20 arranques por cada k para estabilizar la curva.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set.seed() hace reproducible la aleatoriedad de los arranques.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274320"/>
            <a:ext cx="6467707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599" y="434227"/>
            <a:ext cx="567039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enlo"/>
              </a:rPr>
              <a:t>fviz_nbclust</a:t>
            </a:r>
            <a:r>
              <a:rPr sz="2200" b="1" i="0" dirty="0">
                <a:solidFill>
                  <a:srgbClr val="FFFFFF"/>
                </a:solidFill>
                <a:latin typeface="Menlo"/>
              </a:rPr>
              <a:t>(method="silhouette")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Método de la silueta: mide qué tan bien separados quedan los grupos para cada 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set.seed(123)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fviz_nbclust(vinos_norm, kmeans,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method = "silhouette", nstart = 20) +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labs(title = "Método de la silueta")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silueta evalúa, para cada punto, qué tan cómodo está en su grupo vs. qué tan cerca queda del grupo vecino.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El k con silueta promedio MÁS ALTA es el preferido; suele desempatar cuando el codo es ambiguo.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Tras leer ambos diagnósticos, en vinos elegimos k =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kmeans()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Agrupa las observaciones en k grupos minimizando la distancia de cada punto al centroide de su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636776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set.seed(123)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k_elegido &lt;- 3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km_vinos &lt;- kmeans(vinos_norm,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centers = k_elegido,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nstart = 25)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km_vinos$size   # tamaño de cada grupo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05656"/>
            <a:ext cx="8595360" cy="229514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97096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81144"/>
            <a:ext cx="8302752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centers = k fija de antemano el número de grupos (decidido con codo y silueta).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nstart = 25: k-means depende de la inicialización aleatoria de los centroides; probar 25 arranques y quedarse con el mejor evita caer en un óptimo local malo.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set.seed() garantiza reproducibilidad. $cluster guarda la etiqueta de grupo de cada observación.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fviz_cluster()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Visualiza los grupos de k-means proyectándolos sobre el plano PC1-PC2.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fviz_cluster(km_vinos, data = vinos_norm,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geom = "point",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ellipse.type = "convex",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palette = c("#1e4c7d", "#2d7a7a",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"#c97b2a"))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factoextra usa internamente el PCA para mostrar grupos de muchas dimensiones en un plano de 2D.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ellipse.type = "convex" dibuja la envolvente de cada grupo, útil para ver solapamientos.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geom = "point" muestra solo los puntos (sin etiquetas), ideal con cientos de observaciones.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151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482468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34227"/>
            <a:ext cx="5781907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enlo"/>
              </a:rPr>
              <a:t>group_by</a:t>
            </a:r>
            <a:r>
              <a:rPr sz="2200" b="1" i="0" dirty="0">
                <a:solidFill>
                  <a:srgbClr val="FFFFFF"/>
                </a:solidFill>
                <a:latin typeface="Menlo"/>
              </a:rPr>
              <a:t>() + </a:t>
            </a:r>
            <a:r>
              <a:rPr sz="2200" b="1" i="0" dirty="0" err="1">
                <a:solidFill>
                  <a:srgbClr val="FFFFFF"/>
                </a:solidFill>
                <a:latin typeface="Menlo"/>
              </a:rPr>
              <a:t>summarise</a:t>
            </a:r>
            <a:r>
              <a:rPr sz="2200" b="1" i="0" dirty="0">
                <a:solidFill>
                  <a:srgbClr val="FFFFFF"/>
                </a:solidFill>
                <a:latin typeface="Menlo"/>
              </a:rPr>
              <a:t>(across())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Perfila los grupos: calcula la media de cada variable ORIGINAL por cluster para interpretarlos.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860803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6413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vinos_perfilados &lt;- vinos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mutate(cluster = factor(km_vinos$cluster))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perfil_clusters &lt;- vinos_perfilados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group_by(cluster)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summarise(across(everything(), mean),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n = n())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329683"/>
            <a:ext cx="8595360" cy="2071116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421123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805171"/>
            <a:ext cx="8302752" cy="15041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mutate() pega la etiqueta de grupo a los datos en sus unidades originales (no las normalizadas), para leer cifras reales.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group_by(cluster) + summarise() resume cada grupo; across(everything(), mean) aplica la media a TODAS las columnas de una vez.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Comparando las medias se nombra cada grupo: p. ej. 'vinos secos y alcohólicos' vs. 'dulces con mucho azufre'.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dist() + hclust()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Clustering jerárquico: construye un árbol fusionando observaciones por cercanía, sin fijar k de antemano.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dist_vinos &lt;- dist(vinos_norm,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method = "euclidean")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hc_vinos &lt;- hclust(dist_vinos,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method = "ward.D2")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dist() arma la matriz de distancias euclidianas entre todas las muestras normalizadas; es el insumo del jerárquico.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hclust() construye el dendrograma fusionando primero lo más cercano.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method = "ward.D2" tiende a formar grupos compactos y de tamaño parecido, lo que lo hace comparable con k-means.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fviz_dend() + cutree()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Dibuja el dendrograma y lo 'corta' a la altura que deja el número de grupos deseado.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636776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fviz_dend(hc_vinos, k = k_elegido,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show_labels = FALSE, rect = TRUE)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grupos_hc &lt;- cutree(hc_vinos, k = k_elegido)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table(kmeans = km_vinos$cluster,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jerárquico = grupos_hc)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05656"/>
            <a:ext cx="8595360" cy="229514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97096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81144"/>
            <a:ext cx="8302752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fviz_dend() muestra el árbol; k colorea las ramas según el número de grupos y rect = TRUE los enmarca.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cutree(hc, k) corta el árbol en k grupos y devuelve la etiqueta de cada observación.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table() cruza k-means vs. jerárquico: si cada grupo de un método cae en UNO del otro, ambos descubren la misma estructura.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4726</Words>
  <Application>Microsoft Macintosh PowerPoint</Application>
  <PresentationFormat>Presentación en pantalla (4:3)</PresentationFormat>
  <Paragraphs>479</Paragraphs>
  <Slides>56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56</vt:i4>
      </vt:variant>
    </vt:vector>
  </HeadingPairs>
  <TitlesOfParts>
    <vt:vector size="61" baseType="lpstr">
      <vt:lpstr>Arial</vt:lpstr>
      <vt:lpstr>Calibri</vt:lpstr>
      <vt:lpstr>Menlo</vt:lpstr>
      <vt:lpstr>Ubuntu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Juvenal Campos Ferreira</cp:lastModifiedBy>
  <cp:revision>4</cp:revision>
  <dcterms:created xsi:type="dcterms:W3CDTF">2013-01-27T09:14:16Z</dcterms:created>
  <dcterms:modified xsi:type="dcterms:W3CDTF">2026-06-02T14:11:17Z</dcterms:modified>
  <cp:category/>
</cp:coreProperties>
</file>