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Tecnologico de Monterrey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1">
                <a:solidFill>
                  <a:srgbClr val="555555"/>
                </a:solidFill>
                <a:latin typeface="Ubuntu"/>
              </a:rPr>
              <a:t>Curso de Machine Learning - CCM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9144000" cy="338328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8046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1E4C7D"/>
                </a:solidFill>
                <a:latin typeface="Ubuntu"/>
              </a:rPr>
              <a:t>Modelos de</a:t>
            </a:r>
          </a:p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1E4C7D"/>
                </a:solidFill>
                <a:latin typeface="Ubuntu"/>
              </a:rPr>
              <a:t>Clasificacion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1E4C7D"/>
                </a:solidFill>
                <a:latin typeface="Ubuntu"/>
              </a:rPr>
              <a:t>Regresion logistica con tidymodels y recipes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Ubuntu"/>
              </a:rPr>
              <a:t>Taller practico - 2 a 3 horas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Ubuntu"/>
              </a:rPr>
              <a:t>Caso de estudio: prediccion de desercion estudiantil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126480"/>
            <a:ext cx="1828800" cy="54864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Agenda del taller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4251960" cy="26060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1. Fundamento teorico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645920"/>
            <a:ext cx="4032504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Que es clasificacion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Regresion vs clasificacion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Funcion sigmoide y logit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Frontera de 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188720"/>
            <a:ext cx="4251960" cy="26060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12618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2. Caso de estudio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645920"/>
            <a:ext cx="4032504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Desercion estudiantil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Dataset sintetico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Pipeline tidymodels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Preprocesamiento con recipes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931920"/>
            <a:ext cx="4251960" cy="26060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40050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3. Construccion del modelo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389120"/>
            <a:ext cx="4032504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parsnip + glm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Entrenamiento sin workflows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Prediccion (class y prob)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Interpretacion de coeficientes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3931920"/>
            <a:ext cx="4251960" cy="26060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40050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4. Evaluacion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4389120"/>
            <a:ext cx="4032504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Matriz de confusion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Accuracy, sensibilidad, especificidad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Curva ROC y AUC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Ajuste del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Que es clasificacion?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Prediccion de una variable categorica a partir de predictores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8595360" cy="16459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71907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Definicion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03120"/>
            <a:ext cx="837590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Tarea supervisada en la que el algoritmo aprende a asignar cada observacion a una clase discreta (etiqueta), a partir de un conjunto de predictores. La salida no es un numero continuo sino una categoria.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520440"/>
            <a:ext cx="4251960" cy="219456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5935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Ejemplos cotidianos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977640"/>
            <a:ext cx="4032504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Correo: spam / no spam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Banco: aprobar / rechazar credito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Hospital: diagnostico positivo / negativo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Educacion: deserto / continuo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3520440"/>
            <a:ext cx="4251960" cy="21945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35935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Que aprende el modelo?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977640"/>
            <a:ext cx="4032504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Aprende una funcion que mapea predictores a una probabilidad de pertenecer a cada clase. Luego, una regla de decision (threshold) convierte la probabilidad en la etiqueta final.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852160"/>
            <a:ext cx="8595360" cy="6400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5943600"/>
            <a:ext cx="83759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Idea clave: en clasificacion no predecimos un numero, predecimos la CATEGORIA a la que pertenece una observacion.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Regresion vs Clasificacion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4251960" cy="45720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44475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Regresion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828800"/>
            <a:ext cx="403250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Variable Y: numerica continua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Salida del modelo: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un numero real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Ejemplos: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Precio de una vivienda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Tiempo de entrega en min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Consumo en kWh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Metricas tipicas: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RMSE, MAE, R cuadrada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371600"/>
            <a:ext cx="4251960" cy="45720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144475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7A3A"/>
                </a:solidFill>
                <a:latin typeface="Ubuntu"/>
              </a:rPr>
              <a:t>Clasificacion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828800"/>
            <a:ext cx="403250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Variable Y: categorica (factor)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Salida del modelo: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una clase + su probabilidad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Ejemplos: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Aprobar / rechazar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Deserto / no deserto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Enfermo / sano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Metricas tipicas: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Accuracy, sens, spec, AUC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6080760"/>
            <a:ext cx="8595360" cy="45720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6172200"/>
            <a:ext cx="83759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La pregunta cambia: en lugar de cuanto, preguntamos cual.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Tipos de problemas de clasificacion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743200" cy="49377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35331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Binaria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737360"/>
            <a:ext cx="2523744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2 clases posibles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Ejemplos: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spam / no spam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deserto / no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positivo / negativo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Modelo base: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regresion logistica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6392" y="1280160"/>
            <a:ext cx="2743200" cy="493776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35331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Multiclase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737360"/>
            <a:ext cx="2523744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3 o mas clases mutuamente excluyentes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Ejemplos: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Iris: setosa, versicolor, virginica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Carrera elegida (entre 5)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Modelo base: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regresion logistica multinomial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7608" y="1280160"/>
            <a:ext cx="2743200" cy="493776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17336" y="135331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Multietiqueta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336" y="1737360"/>
            <a:ext cx="2523744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Cada observacion puede tener varias etiquetas a la vez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Ejemplos: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Etiquetar fotos con varios tags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Sintomas multiples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Modelo base: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un clasificador binario por etiqueta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Casos de uso reales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4251960" cy="24688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35331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Salud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737360"/>
            <a:ext cx="40325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Diagnostico (cancer / no)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Riesgo cardiovascular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Reingreso hospitalario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280160"/>
            <a:ext cx="4251960" cy="24688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135331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Finanzas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737360"/>
            <a:ext cx="40325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Default crediticio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Fraude transaccional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Aprobacion de credito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931920"/>
            <a:ext cx="4251960" cy="24688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40050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Marketing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389120"/>
            <a:ext cx="40325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Churn de clientes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Compra / no compra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Conversion en campana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3931920"/>
            <a:ext cx="4251960" cy="246888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40050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Educacion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4389120"/>
            <a:ext cx="40325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Desercion estudiantil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Riesgo academico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Admision a programas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Por que no usar regresion lineal?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00000"/>
                </a:solidFill>
                <a:latin typeface="Ubuntu"/>
              </a:rPr>
              <a:t>Si codificamos las clases como 0 y 1, la regresion lineal puede predecir valores fuera de [0, 1] -&gt; no son probabilidades.</a:t>
            </a:r>
          </a:p>
        </p:txBody>
      </p:sp>
      <p:pic>
        <p:nvPicPr>
          <p:cNvPr id="6" name="Picture 5" descr="lineal_vs_logist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8412480" cy="348836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760720"/>
            <a:ext cx="8595360" cy="77724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5852160"/>
            <a:ext cx="837590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Necesitamos una funcion que comprima cualquier valor real al rango [0, 1] de forma suave: la SIGMOIDE.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La funcion sigmoide</a:t>
            </a:r>
          </a:p>
        </p:txBody>
      </p:sp>
      <p:pic>
        <p:nvPicPr>
          <p:cNvPr id="5" name="Picture 4" descr="sigmo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331560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0" y="1371600"/>
            <a:ext cx="2468880" cy="128016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8132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Ubuntu"/>
              </a:rPr>
              <a:t>p = 1 / (1 + exp(-z))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Ubuntu"/>
              </a:rPr>
              <a:t>z = b0 + b1 x1 + b2 x2 + ... + bk xk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788920"/>
            <a:ext cx="2468880" cy="30175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862072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Propiedades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3246120"/>
            <a:ext cx="224942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Salida en (0, 1)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Monotona creciente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p = 0.5 cuando z = 0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Saturacion en los extremos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Derivable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Interpretable como probabilidad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Odds y log-odds (logit)</a:t>
            </a:r>
          </a:p>
        </p:txBody>
      </p:sp>
      <p:pic>
        <p:nvPicPr>
          <p:cNvPr id="5" name="Picture 4" descr="odds_log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35641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166360"/>
            <a:ext cx="4251960" cy="13716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523951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Odds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5623560"/>
            <a:ext cx="403250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Odds = p / (1 - p). Razon entre la probabilidad de exito y la de fracaso. Odds = 1 significa equilibrio (p = 0.5).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5166360"/>
            <a:ext cx="4251960" cy="13716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523951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Logit = log(odds)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5623560"/>
            <a:ext cx="403250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El logit transforma probabilidad a un numero real. La regresion logistica modela esta cantidad como una combinacion lineal de los predictores.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El modelo de regresion logistica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Combinacion lineal en el logit, sigmoide en la probabilidad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10972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801368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Ubuntu"/>
              </a:rPr>
              <a:t>logit(p) = log(p / (1 - p)) = b0 + b1 x1 + ... + bk xk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2316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Ubuntu"/>
              </a:rPr>
              <a:t>El lado izquierdo es lineal en los predictores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971800"/>
            <a:ext cx="8595360" cy="10972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081528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Ubuntu"/>
              </a:rPr>
              <a:t>p = 1 / (1 + exp(-(b0 + b1 x1 + ... + bk xk)))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70332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Ubuntu"/>
              </a:rPr>
              <a:t>Equivalentemente, la probabilidad es la sigmoide del logit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297680"/>
            <a:ext cx="4251960" cy="18288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43708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Lo que estimamos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754880"/>
            <a:ext cx="403250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Los coeficientes b0, b1, ..., bk a partir de los datos de entrenamiento. Cada bj mide el efecto del predictor xj sobre el LOGIT de la probabilidad.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4297680"/>
            <a:ext cx="4251960" cy="18288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43708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Lo que predecimos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4754880"/>
            <a:ext cx="403250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Para una observacion nueva, calculamos z = b0 + suma de (bj xj) y la pasamos por la sigmoide para obtener p, la probabilidad de pertenecer a la clase positiva.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Interpretacion de coeficientes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Por que conviene pensar en odds ratio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14630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76479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Coeficiente bj en el logit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48840"/>
            <a:ext cx="837590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Por cada unidad adicional de xj, el LOGIT cambia en bj (manteniendo lo demas constante). Esto es lineal y facil de pensar, pero no es la probabilidad.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246120"/>
            <a:ext cx="8595360" cy="100584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355848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Ubuntu"/>
              </a:rPr>
              <a:t>exp(bj) = odds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88620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Ubuntu"/>
              </a:rPr>
              <a:t>Cuanto cambian los odds por cada unidad adicional de xj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389120"/>
            <a:ext cx="4251960" cy="18288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44622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exp(bj) &gt;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846320"/>
            <a:ext cx="403250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predictor AUMENTA los odds (y por tanto la probabilidad) de la clase positiva.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4389120"/>
            <a:ext cx="4251960" cy="18288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44622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exp(bj) &lt;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4846320"/>
            <a:ext cx="403250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predictor DISMINUYE los odds (y por tanto la probabilidad) de la clase positiva.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Como se ajustan los coeficientes?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Maxima verosimilitud (MLE) - intuicion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15544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76479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Pregunta clave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48840"/>
            <a:ext cx="837590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Que valores de b0, b1, ..., bk hacen que las CLASES OBSERVADAS sean lo mas probables posibles segun el modelo? Esa es la idea de la maxima verosimilitud.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337560"/>
            <a:ext cx="8595360" cy="10972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447288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Ubuntu"/>
              </a:rPr>
              <a:t>L(b) = producto sobre i de p_i^y_i (1 - p_i)^(1 - y_i)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06908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Ubuntu"/>
              </a:rPr>
              <a:t>Verosimilitud: probabilidad conjunta de los datos dado el modelo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572000"/>
            <a:ext cx="8595360" cy="18288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464515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En la practica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029200"/>
            <a:ext cx="837590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Se maximiza el log de la verosimilitud (mas estable).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glm() resuelve esto con IRLS (Iteratively Reweighted Least Squares).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No hay solucion cerrada como en regresion lineal: es optimizacion numerica.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Por eso a veces el modelo "no converge".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Frontera de decision</a:t>
            </a:r>
          </a:p>
        </p:txBody>
      </p:sp>
      <p:pic>
        <p:nvPicPr>
          <p:cNvPr id="5" name="Picture 4" descr="frontera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37843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371600"/>
            <a:ext cx="301752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53328" y="1444752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Que 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53328" y="1828800"/>
            <a:ext cx="279806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El conjunto de puntos en el espacio de predictores donde el modelo asigna probabilidad 0.5 a cada clase.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886200"/>
            <a:ext cx="3017520" cy="237744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3959352"/>
            <a:ext cx="2798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En regresion logistica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4343400"/>
            <a:ext cx="279806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La frontera es siempre LINEAL. Por eso a la regresion logistica se le llama clasificador lineal: separa con una recta (en 2D) o un hiperplano (en mas dimensiones).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Threshold: el umbral de decision</a:t>
            </a:r>
          </a:p>
        </p:txBody>
      </p:sp>
      <p:pic>
        <p:nvPicPr>
          <p:cNvPr id="5" name="Picture 4" descr="threshold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33305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0" y="1371600"/>
            <a:ext cx="246888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8" y="1444752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1828800"/>
            <a:ext cx="224942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0.5 - clasificamos como clase positiva si p &gt; 0.5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886200"/>
            <a:ext cx="2468880" cy="237744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3959352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Ajustar segun costo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4343400"/>
            <a:ext cx="224942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Si no detectar un positivo es muy costoso (ej: cancer, desercion), bajar el threshold a 0.3 aumenta la sensibilidad a costa de mas falsos positivos.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Caso de estudio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Prediccion temprana de desercion estudiantil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18288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76479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48840"/>
            <a:ext cx="837590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Una universidad quiere identificar de forma temprana a los estudiantes con MAYOR PROBABILIDAD de abandonar sus estudios durante el primer ano, para canalizarlos a programas de tutoria y acompanamiento academico.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657600"/>
            <a:ext cx="4251960" cy="256032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73075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Variable resultado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114800"/>
            <a:ext cx="403250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deserto: factor con dos niveles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"si"  (clase positiva)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"no"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Importante: "si" se define como el PRIMER nivel del factor para que tidymodels la trate como positiva.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3657600"/>
            <a:ext cx="4251960" cy="25603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373075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Por que importa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4114800"/>
            <a:ext cx="403250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Costo humano: estudiante desertor pierde acceso academico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Costo institucional: retencion y reputacion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Costo del falso negativo es alto: dejar fuera a alguien que SI necesitaba apoyo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El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1,000 estudiantes con 14 predictores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4251960" cy="24688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44475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Numericos academicos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28800"/>
            <a:ext cx="40325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promedio_prepa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examen_admision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horas_estudio_semanal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horas_lectura_semanal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asistencia_pct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reprobaciones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371600"/>
            <a:ext cx="4251960" cy="24688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44475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Numericos socioeconomicos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828800"/>
            <a:ext cx="40325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edad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ingreso_familiar_miles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distancia_campus_km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931920"/>
            <a:ext cx="4251960" cy="246888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40050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Categoricos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389120"/>
            <a:ext cx="40325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carrera (5 niveles)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tipo_beca (3 niveles)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trabaja (si / no)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vive_con_familia (si / no)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inscrito_sistema (si / no)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3931920"/>
            <a:ext cx="4251960" cy="24688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40050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Problemas insertados a proposito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4389120"/>
            <a:ext cx="40325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NAs en 4 columnas (3-8%)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Colinealidad: horas_lectura ~ horas_estudio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Var. casi nula: inscrito_sistema (99% "si")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Escalas heterogeneas: miles vs porcentajes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Pipeline tidymodels para clasificacion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Mismos pasos que regresion, con detalles especificos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743200" cy="21945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3619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1. Cargar y preparar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20240"/>
            <a:ext cx="2523744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tidyverse, tidymodels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set.seed para reproducibilidad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79" y="1463040"/>
            <a:ext cx="2743200" cy="21945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7" y="153619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2. Split estratificado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7" y="1920240"/>
            <a:ext cx="2523744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initial_split(strata = deserto)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Mantiene la proporcion de clases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463040"/>
            <a:ext cx="2743200" cy="21945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153619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3. Definir receta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1920240"/>
            <a:ext cx="2523744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recipe(deserto ~ ., data = training)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Imputar, nzv, corr, normalize, dummies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40480"/>
            <a:ext cx="2743200" cy="21945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91363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4. Prep y bake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297680"/>
            <a:ext cx="2523744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prep() solo con training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bake() para training y test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79" y="3840480"/>
            <a:ext cx="2743200" cy="21945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4407" y="391363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5. Especificar modelo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7" y="4297680"/>
            <a:ext cx="2523744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logistic_reg() %&gt;%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set_engine("glm") %&gt;% set_mode("classification")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840480"/>
            <a:ext cx="2743200" cy="21945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4768" y="391363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6. Ajustar y predecir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4297680"/>
            <a:ext cx="2523744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fit() sobre training_prep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predict(type = "class" y type = "prob")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Recipes: orden recomendado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El orden importa: cada paso depende del anterior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822960" cy="82296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173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Imputar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417320"/>
            <a:ext cx="2468880" cy="7772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1527048"/>
            <a:ext cx="219456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CF0F1"/>
                </a:solidFill>
                <a:latin typeface="Ubuntu Mono"/>
              </a:rPr>
              <a:t>step_impute_median()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CF0F1"/>
                </a:solidFill>
                <a:latin typeface="Ubuntu Mono"/>
              </a:rPr>
              <a:t>step_impute_mode()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555555"/>
                </a:solidFill>
                <a:latin typeface="Ubuntu"/>
              </a:rPr>
              <a:t>Los pasos siguientes no toleran NAs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31720"/>
            <a:ext cx="822960" cy="82296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3317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377439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Var. casi nula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377439"/>
            <a:ext cx="2468880" cy="7772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2487167"/>
            <a:ext cx="219456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CF0F1"/>
                </a:solidFill>
                <a:latin typeface="Ubuntu Mono"/>
              </a:rPr>
              <a:t>step_nzv()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68879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555555"/>
                </a:solidFill>
                <a:latin typeface="Ubuntu"/>
              </a:rPr>
              <a:t>Quita variables sin informacion (ej: 99% "si")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91840"/>
            <a:ext cx="822960" cy="82296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2918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3375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Colinealidad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3337560"/>
            <a:ext cx="2468880" cy="7772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3447288"/>
            <a:ext cx="219456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CF0F1"/>
                </a:solidFill>
                <a:latin typeface="Ubuntu Mono"/>
              </a:rPr>
              <a:t>step_corr(threshold = 0.85)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42900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555555"/>
                </a:solidFill>
                <a:latin typeface="Ubuntu"/>
              </a:rPr>
              <a:t>Filtra predictores muy correlacionados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51960"/>
            <a:ext cx="822960" cy="82296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2519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2976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Normalizar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4297680"/>
            <a:ext cx="2468880" cy="7772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60" y="4407408"/>
            <a:ext cx="219456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CF0F1"/>
                </a:solidFill>
                <a:latin typeface="Ubuntu Mono"/>
              </a:rPr>
              <a:t>step_normalize()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38912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555555"/>
                </a:solidFill>
                <a:latin typeface="Ubuntu"/>
              </a:rPr>
              <a:t>Z-score: media 0, sd 1. Necesario antes de dummies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212080"/>
            <a:ext cx="822960" cy="82296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2120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2578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Dummies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5257800"/>
            <a:ext cx="2468880" cy="7772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60" y="5367528"/>
            <a:ext cx="219456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CF0F1"/>
                </a:solidFill>
                <a:latin typeface="Ubuntu Mono"/>
              </a:rPr>
              <a:t>step_dummy()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34924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555555"/>
                </a:solidFill>
                <a:latin typeface="Ubuntu"/>
              </a:rPr>
              <a:t>Convierte factores en variables binarias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Imputacion y varianza casi nula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Pasos 1 y 2 de la receta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8595360" cy="31089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8321040" cy="2889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CF0F1"/>
                </a:solidFill>
                <a:latin typeface="Ubuntu Mono"/>
              </a:rPr>
              <a:t>receta_estudiantes &lt;- recipe(deserto ~ .,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CF0F1"/>
                </a:solidFill>
                <a:latin typeface="Ubuntu Mono"/>
              </a:rPr>
              <a:t>                              data = estudiantes_training) %&gt;%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CF0F1"/>
                </a:solidFill>
                <a:latin typeface="Ubuntu Mono"/>
              </a:rPr>
              <a:t>  # 1. Imputacion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CF0F1"/>
                </a:solidFill>
                <a:latin typeface="Ubuntu Mono"/>
              </a:rPr>
              <a:t>  step_impute_median(all_numeric_predictors()) %&gt;%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CF0F1"/>
                </a:solidFill>
                <a:latin typeface="Ubuntu Mono"/>
              </a:rPr>
              <a:t>  step_impute_mode(all_nominal_predictors()) %&gt;%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CF0F1"/>
                </a:solidFill>
                <a:latin typeface="Ubuntu Mono"/>
              </a:rPr>
              <a:t>  # 2. Varianza casi nula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CF0F1"/>
                </a:solidFill>
                <a:latin typeface="Ubuntu Mono"/>
              </a:rPr>
              <a:t>  step_nzv(all_predictors())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572000"/>
            <a:ext cx="4251960" cy="18288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464515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Imputacion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5029200"/>
            <a:ext cx="403250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Reemplaza NAs por: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Mediana en numericos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Moda en categoricos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La decision se aprende solo con training para evitar leakage.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4572000"/>
            <a:ext cx="4251960" cy="18288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464515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step_nzv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5029200"/>
            <a:ext cx="403250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Elimina variables casi constantes. En nuestro caso quitara inscrito_sistema (99% "si"), que no aporta informacion al modelo.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Colinealidad y normalizacion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Pasos 3 y 4 de la receta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8595360" cy="25603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8321040" cy="2340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CF0F1"/>
                </a:solidFill>
                <a:latin typeface="Ubuntu Mono"/>
              </a:rPr>
              <a:t>receta_estudiantes &lt;- receta_estudiantes %&gt;%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CF0F1"/>
                </a:solidFill>
                <a:latin typeface="Ubuntu Mono"/>
              </a:rPr>
              <a:t>  # 3. Colinealidad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CF0F1"/>
                </a:solidFill>
                <a:latin typeface="Ubuntu Mono"/>
              </a:rPr>
              <a:t>  step_corr(all_numeric_predictors(), threshold = 0.85) %&gt;%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CF0F1"/>
                </a:solidFill>
                <a:latin typeface="Ubuntu Mono"/>
              </a:rPr>
              <a:t>  # 4. Normalizacion z-score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CF0F1"/>
                </a:solidFill>
                <a:latin typeface="Ubuntu Mono"/>
              </a:rPr>
              <a:t>  step_normalize(all_numeric_predictors())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42519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409651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step_corr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4480560"/>
            <a:ext cx="403250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Calcula correlaciones entre numericos y elimina aquellas por encima del threshold. En nuestro caso quitara una de (horas_estudio_semanal, horas_lectura_semanal).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4023360"/>
            <a:ext cx="4251960" cy="237744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409651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step_normalize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4480560"/>
            <a:ext cx="403250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Z-score: (x - media) / sd. Lleva todas las numericas a media 0 y sd 1.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Ayuda a comparar coeficientes y evita que predictores en escalas grandes dominen.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Variables dummy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Paso 5: convertir factores en binarias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8595360" cy="36576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8321040" cy="3438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receta_estudiantes &lt;- receta_estudiantes %&gt;%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  # 5. Dummies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  step_dummy(all_nominal_predictors())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# Aplicar la receta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receta_prep &lt;- receta_estudiantes %&gt;%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  prep(training = estudiantes_training)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estudiantes_training_prep &lt;- receta_prep %&gt;% bake(new_data = NULL)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estudiantes_test_prep     &lt;- receta_prep %&gt;% bake(new_data = estudiantes_test)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120640"/>
            <a:ext cx="8595360" cy="137160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519379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Importante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5577840"/>
            <a:ext cx="837590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prep() aprende los parametros (medianas, medias, sd, categorias) SOLO con training. bake(new_data = NULL) aplica al mismo training; bake(new_data = test) aplica al test con los parametros aprendidos.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Split estratificado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Critico cuando hay desbalance de clases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8595360" cy="338328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8321040" cy="3163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estudiantes_split &lt;- initial_split(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  estudiantes,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  prop   = 0.75,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  strata = deserto    # &lt;-- clave: mantiene proporcion de clases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estudiantes_training &lt;- estudiantes_split %&gt;% training()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estudiantes_test     &lt;- estudiantes_split %&gt;% testing()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# Verificamos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estudiantes_training %&gt;% count(deserto) %&gt;% mutate(prop = n / sum(n))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estudiantes_test     %&gt;% count(deserto) %&gt;% mutate(prop = n / sum(n))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846320"/>
            <a:ext cx="4251960" cy="16459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49194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Por que estratificar?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5303520"/>
            <a:ext cx="403250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Si una clase es minoritaria, un split aleatorio puede dejarla MUY mal representada en alguno de los conjuntos. Estratificar fuerza la misma proporcion.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4846320"/>
            <a:ext cx="4251960" cy="164592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49194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Cuando es indispensable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5303520"/>
            <a:ext cx="403250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Siempre que la variable objetivo tenga desbalance (&lt;30/70). En desercion, fraude, diagnostico, etc., es practicamente obligatorio.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Especificacion y entrenamiento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Sin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8595360" cy="41148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8321040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# Especificacion (parsnip)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modelo_logistico &lt;- logistic_reg() %&gt;%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  set_engine("glm") %&gt;%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  set_mode("classification")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# Entrenamiento sobre el training preprocesado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logistic_fit &lt;- modelo_logistico %&gt;%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  fit(deserto ~ ., data = estudiantes_training_prep)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logistic_fit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# Coeficientes ordenados por significancia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tidy(logistic_fit) %&gt;%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  arrange(p.value)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577840"/>
            <a:ext cx="8595360" cy="91440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5669280"/>
            <a:ext cx="837590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parsnip estandariza la sintaxis: el mismo codigo serviria para cambiar a un random forest cambiando solo la especificacion del modelo.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Prediccion: clase y probabilidad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En clasificacion necesitamos ambas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8595360" cy="39319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8321040" cy="3712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# Clase predicha (si o no)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class_preds &lt;- predict(logistic_fit,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                       new_data = estudiantes_test_prep,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                       type     = "class")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# Probabilidades estimadas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prob_preds &lt;- predict(logistic_fit,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                      new_data = estudiantes_test_prep,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                      type     = "prob")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# Combinamos todo para evaluar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resultados_test &lt;- estudiantes_test_prep %&gt;%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  select(deserto) %&gt;%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CF0F1"/>
                </a:solidFill>
                <a:latin typeface="Ubuntu Mono"/>
              </a:rPr>
              <a:t>  bind_cols(class_preds, prob_preds)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440680"/>
            <a:ext cx="4251960" cy="10972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55138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type = "class"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5897880"/>
            <a:ext cx="40325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La etiqueta final, ya aplicado el threshold por defecto (0.5).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5440680"/>
            <a:ext cx="4251960" cy="109728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55138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type = "prob"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5897880"/>
            <a:ext cx="40325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Las probabilidades para cada clase. Indispensables para ROC, AUC y ajustar el threshold.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Interpretacion de coeficientes del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Que nos dicen los betas estimados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13716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76479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Recordatorio: variables ya normalizadas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48840"/>
            <a:ext cx="837590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Los coeficientes estan en escala z-score, por lo que SI son comparables entre si. El de mayor magnitud absoluta es el predictor mas influyente.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200400"/>
            <a:ext cx="4251960" cy="32004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27355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Aumentan riesgo (b &gt;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657600"/>
            <a:ext cx="4032504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reprobaciones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trabaja_si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vive_con_familia_no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Coeficiente positivo en el LOGIT -&gt; mayor probabilidad de pertenecer a la clase "si" (desertor).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3200400"/>
            <a:ext cx="4251960" cy="32004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327355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Reducen riesgo (b &lt; 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657600"/>
            <a:ext cx="4032504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promedio_prepa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asistencia_pct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horas_estudio_semanal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tipo_beca_completa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Coeficiente negativo -&gt; menor probabilidad de desertar.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Matriz de confusion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Cuatro escenarios en una sola tabla</a:t>
            </a:r>
          </a:p>
        </p:txBody>
      </p:sp>
      <p:pic>
        <p:nvPicPr>
          <p:cNvPr id="6" name="Picture 5" descr="matriz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029200" cy="509159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0" y="1280160"/>
            <a:ext cx="3383280" cy="237744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96128" y="1353312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Verdaderos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6128" y="1737360"/>
            <a:ext cx="316382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VP: el modelo dijo "si" y era "si".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VN: el modelo dijo "no" y era "no".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Son los aciertos.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3749039"/>
            <a:ext cx="3383280" cy="256032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6128" y="3822191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Errores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4206239"/>
            <a:ext cx="316382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FP (error tipo I): el modelo dijo "si" pero era "no".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FN (error tipo II): el modelo dijo "no" pero era "si". En desercion, este es el error mas costoso.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Metricas basicas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Tres preguntas, tres respuestas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743200" cy="5029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44475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28800"/>
            <a:ext cx="2523744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(VP + VN) / Total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Que porcentaje de las predicciones acerto el modelo.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Cuidado: enganosa con clases desbalanceadas. Un modelo que siempre dice "no" tendria 85% si solo 15% deserta.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6392" y="1371600"/>
            <a:ext cx="2743200" cy="50292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44475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7A3A"/>
                </a:solidFill>
                <a:latin typeface="Ubuntu"/>
              </a:rPr>
              <a:t>Sensibilidad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828800"/>
            <a:ext cx="2523744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VP / (VP + FN)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De los que SI desertaron, cuantos detecto el modelo.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Tambien llamada RECALL o TPR. Critica cuando perder un positivo es costoso (desercion, cancer, fraude).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7608" y="1371600"/>
            <a:ext cx="2743200" cy="502920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7336" y="144475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Especificidad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1828800"/>
            <a:ext cx="2523744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VN / (VN + FP)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De los que NO desertaron, cuantos clasifico bien.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Mide la "limpieza" del filtro: que tan bien evita alarmas innecesarias.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Precision, recall, 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Cuando importa la calidad de las alarmas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4251960" cy="22860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361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20240"/>
            <a:ext cx="4032504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VP / (VP + FP)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De todos los que el modelo MARCO como desertores, que porcentaje realmente desertaron.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463040"/>
            <a:ext cx="4251960" cy="22860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5361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7A3A"/>
                </a:solidFill>
                <a:latin typeface="Ubuntu"/>
              </a:rPr>
              <a:t>Recall (= Sensibilidad)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920240"/>
            <a:ext cx="4032504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VP / (VP + FN)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De todos los desertores REALES, cuantos detecto el modelo.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931920"/>
            <a:ext cx="8595360" cy="10972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4041648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Ubuntu"/>
              </a:rPr>
              <a:t>F1 = 2 * (precision * recall) / (precision + recall)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Ubuntu"/>
              </a:rPr>
              <a:t>Media armonica: equilibra precision y 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212080"/>
            <a:ext cx="8595360" cy="12801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528523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Cuando usar cual?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5669280"/>
            <a:ext cx="837590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Alta precision: cuando el costo del FALSO POSITIVO es alto (ej: cancelar credito por error).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Alto recall: cuando el costo del FALSO NEGATIVO es alto (ej: no detectar a un estudiante en riesgo).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Metricas en codigo (yardstick)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Funciones consistentes para todas las metricas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8595360" cy="429768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8321040" cy="4078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# Matriz de confusion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conf_mat(resultados_test, truth = deserto, estimate = .pred_class)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# Metricas individuales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accuracy(resultados_test, truth = deserto, estimate = .pred_class)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sens(resultados_test,     truth = deserto, estimate = .pred_class)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yardstick::spec(resultados_test, truth = deserto, estimate = .pred_class)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# Conjunto de metricas personalizado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metricas &lt;- metric_set(accuracy, sens, yardstick::spec)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metricas(resultados_test, truth = deserto, estimate = .pred_class)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# Resumen completo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conf_mat(resultados_test, truth = deserto, estimate = .pred_class) %&gt;%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  summary()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760720"/>
            <a:ext cx="8595360" cy="77724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5852160"/>
            <a:ext cx="837590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Atencion: usar yardstick::spec() para evitar conflicto con stats::spec() de base 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Curva ROC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Sensibilidad vs (1 - especificidad) para todos los thresholds</a:t>
            </a:r>
          </a:p>
        </p:txBody>
      </p:sp>
      <p:pic>
        <p:nvPicPr>
          <p:cNvPr id="6" name="Picture 5" descr="curva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303520" cy="392354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0" y="1280160"/>
            <a:ext cx="3200400" cy="24688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79008" y="1353312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Que muestra?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79008" y="1737360"/>
            <a:ext cx="29809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Como cambian sensibilidad y especificidad al mover el threshold. La esquina superior izquierda es el ideal (sens = 1, FPR = 0).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3886200"/>
            <a:ext cx="3200400" cy="246888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9008" y="3959352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Ventajas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9008" y="4343400"/>
            <a:ext cx="298094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No depende del threshold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Robusta a desbalance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Permite comparar modelos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- Estandar en la literatura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AUC: area bajo la curva ROC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Un solo numero que resume el desempeno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8595360" cy="11887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18488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Ubuntu"/>
              </a:rPr>
              <a:t>AUC en [0, 1]: probabilidad de rankear bien un par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3172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Ubuntu"/>
              </a:rPr>
              <a:t>Probabilidad de que el modelo asigne mayor score a un positivo aleatorio que a un negativo aleatorio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880360"/>
            <a:ext cx="8595360" cy="77724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953512"/>
            <a:ext cx="8375904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0392B"/>
                </a:solidFill>
                <a:latin typeface="Ubuntu"/>
              </a:rPr>
              <a:t>AUC = 0.5 - Modelo equivalente al azar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749039"/>
            <a:ext cx="8595360" cy="7772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822191"/>
            <a:ext cx="8375904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E4C7D"/>
                </a:solidFill>
                <a:latin typeface="Ubuntu"/>
              </a:rPr>
              <a:t>AUC ~ 0.7 - Desempeno aceptable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617720"/>
            <a:ext cx="8595360" cy="7772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4690872"/>
            <a:ext cx="8375904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E4C7D"/>
                </a:solidFill>
                <a:latin typeface="Ubuntu"/>
              </a:rPr>
              <a:t>AUC ~ 0.8 - Buen desempeno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486400"/>
            <a:ext cx="8595360" cy="77724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5559552"/>
            <a:ext cx="8375904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7A3A"/>
                </a:solidFill>
                <a:latin typeface="Ubuntu"/>
              </a:rPr>
              <a:t>AUC &gt; 0.9 - Excelente desempeno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6355080"/>
            <a:ext cx="8595360" cy="3657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464808"/>
            <a:ext cx="83210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roc_auc(resultados_test, truth = deserto, .pred_si)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Ajustar el threshold de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Cuando el default de 0.5 no es lo optimo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8595360" cy="32004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8321040" cy="298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# Threshold por defecto: 0.5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# Cambiar a 0.3 para favorecer sensibilidad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resultados_03 &lt;- resultados_test %&gt;%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  mutate(.pred_class_03 = factor(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    if_else(.pred_si &gt; 0.3, "si", "no"),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    levels = c("si", "no")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  ))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conf_mat(resultados_03,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         truth = deserto, estimate = .pred_class_03) %&gt;%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F0F1"/>
                </a:solidFill>
                <a:latin typeface="Ubuntu Mono"/>
              </a:rPr>
              <a:t>  summary()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663440"/>
            <a:ext cx="4251960" cy="18288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47365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Threshold mas bajo (0.3)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5120640"/>
            <a:ext cx="403250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Mas alarmas, mayor sensibilidad. Util cuando perder un positivo es muy costoso.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4663440"/>
            <a:ext cx="4251960" cy="18288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47365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Threshold mas alto (0.7)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5120640"/>
            <a:ext cx="403250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Menos alarmas, mayor precision. Util cuando un falso positivo es caro y queremos solo alarmas seguras.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Buenas practicas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4251960" cy="16002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35331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Split estratificado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737360"/>
            <a:ext cx="4032504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Siempre con strata = variable_objetivo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280160"/>
            <a:ext cx="4251960" cy="16002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135331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prep solo con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737360"/>
            <a:ext cx="4032504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Evita data leakage de medianas, medias, etc.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63239"/>
            <a:ext cx="4251960" cy="16002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136391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Orden correcto en recipe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520439"/>
            <a:ext cx="4032504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Imputar -&gt; nzv -&gt; corr -&gt; normalize -&gt; dummy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3063239"/>
            <a:ext cx="4251960" cy="16002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3136391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Clase positiva primero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520439"/>
            <a:ext cx="4032504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factor(y, levels = c("si", "no"))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846320"/>
            <a:ext cx="4251960" cy="16002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9194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Mirar mas que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5303520"/>
            <a:ext cx="4032504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Sens, spec, AUC y la matriz completa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4846320"/>
            <a:ext cx="4251960" cy="16002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49194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Definir el costo del 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5303520"/>
            <a:ext cx="4032504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Cual error duele mas? Eligir threshold acorde.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Errores comunes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8686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30759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Mirar solo accuracy en problemas desbalanceados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691640"/>
            <a:ext cx="83759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Un 95% puede ocultar un modelo que jamas detecta la clase minoritaria.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8595360" cy="8686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26771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Aplicar prep con todo el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651760"/>
            <a:ext cx="83759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Filtra informacion del test al training. Siempre prep() solo con training.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154680"/>
            <a:ext cx="8595360" cy="8686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22783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Normalizar despues de dummies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611880"/>
            <a:ext cx="83759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Cambia la escala de las binarias y arruina su interpretacion. Normalizar ANTES.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14800"/>
            <a:ext cx="8595360" cy="8686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418795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No estratificar el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4572000"/>
            <a:ext cx="83759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Con desbalance, puedes terminar con muy pocos ejemplos de la clase positiva en test.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74920"/>
            <a:ext cx="8595360" cy="8686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514807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Cambiar el threshold sin justificacion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5532120"/>
            <a:ext cx="83759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El 0.5 default es razonable. Solo modificarlo si hay analisis explicito de costos.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Cuando NO usar regresion logistica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Saber sus limites es parte de saber usarla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4251960" cy="20574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7647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Relaciones muy no lineales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48840"/>
            <a:ext cx="403250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La frontera de decision es siempre lineal. Si los grupos se mezclan en patrones curvos, conviene un random forest, GBM o kernel SVM.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691640"/>
            <a:ext cx="4251960" cy="20574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7647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Interacciones complejas no especificadas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148840"/>
            <a:ext cx="403250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Hay que ANADIRLAS a la formula (x1:x2). Otros modelos las aprenden solos.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931920"/>
            <a:ext cx="4251960" cy="20574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40050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Demasiados predictores frente a pocos casos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389120"/>
            <a:ext cx="403250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Riesgo de sobreajuste. Usar regularizacion (ridge/lasso, glmnet) o reducir dimensionalidad.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3931920"/>
            <a:ext cx="4251960" cy="20574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40050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Separabilidad perfecta de las clases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4389120"/>
            <a:ext cx="403250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glm() no converge: los coeficientes tienden a infinito. Usar regularizacion.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Extensiones naturales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Modelos relacionados que se aprenden facil despues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4251960" cy="20574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7647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Multinomial logit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48840"/>
            <a:ext cx="403250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Para 3+ clases. parsnip: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multinom_reg() %&gt;%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set_engine("nnet")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691640"/>
            <a:ext cx="4251960" cy="20574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7647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Regularizacion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148840"/>
            <a:ext cx="403250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L1 (lasso) y L2 (ridge):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logistic_reg(penalty, mixture) %&gt;%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set_engine("glmnet")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931920"/>
            <a:ext cx="4251960" cy="205740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40050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LDA / QDA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389120"/>
            <a:ext cx="403250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Discriminantes lineales y cuadraticos. discrim_linear() y discrim_quad() en el paquete discrim.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3931920"/>
            <a:ext cx="4251960" cy="20574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40050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Modelos no lineales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4389120"/>
            <a:ext cx="403250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Cuando la frontera lineal no basta: random forest, gradient boosting, SVM con kernel.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Conceptos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Lo que debes recordar de la sesion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90472"/>
            <a:ext cx="274320" cy="2743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904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La clasificacion predice una CATEGORIA, no un numero.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30552"/>
            <a:ext cx="274320" cy="2743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305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La sigmoide convierte el logit en una probabilidad en (0, 1).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70632"/>
            <a:ext cx="274320" cy="2743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770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La regresion logistica modela el LOGIT como combinacion lineal.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10711"/>
            <a:ext cx="274320" cy="2743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41071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83279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Las recetas son CRITICAS: imputar, nzv, corr, normalize, dummy (en ese orden).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50791"/>
            <a:ext cx="274320" cy="2743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5079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23359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split estratificado y prep() solo con training evitan leakage.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90872"/>
            <a:ext cx="274320" cy="2743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6908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Ubuntu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63440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Accuracy no basta: mirar matriz, sens/spec, AUC.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30951"/>
            <a:ext cx="274320" cy="2743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33095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Ubuntu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03519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threshold se ajusta segun el COSTO del falso positivo y falso negativo.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Recursos para profundizar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4251960" cy="24688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44475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Libros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828800"/>
            <a:ext cx="40325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Tidy Modeling with R (Kuhn &amp; Silge)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ISLR: Introduction to Statistical Learning (Cap. 4)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Applied Predictive Modeling (Kuhn &amp; Johnson)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371600"/>
            <a:ext cx="4251960" cy="246888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144475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7A3A"/>
                </a:solidFill>
                <a:latin typeface="Ubuntu"/>
              </a:rPr>
              <a:t>Documentacion en linea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828800"/>
            <a:ext cx="40325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tidymodels.org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parsnip.tidymodels.org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yardstick.tidymodels.org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recipes.tidymodels.org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931920"/>
            <a:ext cx="4251960" cy="246888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40050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Material del curso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389120"/>
            <a:ext cx="40325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recetas/tidymodels_es.qmd (documento base)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recetas/clasificacion_recetas/ (ejercicio practico)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recetas/regresion_recetas_*/ (companeros de regresion)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3931920"/>
            <a:ext cx="4251960" cy="24688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40050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Siguiente paso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4389120"/>
            <a:ext cx="40325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Probar otros modelos con parsnip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Validacion cruzada (rsample::vfold_cv)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Workflows + tune para hiperparametros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- Modelos no lineales (RF, XGBoost)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65836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Clasificacion - Reg. Logistica - 38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Tecnologico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0040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1" i="0">
                <a:solidFill>
                  <a:srgbClr val="1E4C7D"/>
                </a:solidFill>
                <a:latin typeface="Ubuntu"/>
              </a:rPr>
              <a:t>Gracias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937760"/>
            <a:ext cx="3657600" cy="9144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493776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Ubuntu"/>
              </a:rPr>
              <a:t>¿Preguntas?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Ubuntu"/>
              </a:rPr>
              <a:t>Curso de Machine Learning - CCM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