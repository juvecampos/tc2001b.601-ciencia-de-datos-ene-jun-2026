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4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E4C7D"/>
                </a:solidFill>
                <a:latin typeface="Ubuntu"/>
              </a:rPr>
              <a:t>Tecnologico
de Monterrey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0" y="1005840"/>
            <a:ext cx="12191695" cy="3200400"/>
          </a:xfrm>
          <a:prstGeom prst="roundRect">
            <a:avLst>
              <a:gd name="adj" fmla="val 4000"/>
            </a:avLst>
          </a:prstGeom>
          <a:solidFill>
            <a:srgbClr val="DD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400" b="1">
                <a:solidFill>
                  <a:srgbClr val="1E4C7D"/>
                </a:solidFill>
                <a:latin typeface="Ubuntu"/>
              </a:rPr>
              <a:t>12. Regresion Lineal</a:t>
            </a:r>
          </a:p>
          <a:p>
            <a:pPr>
              <a:spcBef>
                <a:spcPts val="1200"/>
              </a:spcBef>
            </a:pPr>
            <a:r>
              <a:rPr sz="2400" b="1">
                <a:solidFill>
                  <a:srgbClr val="1E4C7D"/>
                </a:solidFill>
                <a:latin typeface="Ubuntu"/>
              </a:rPr>
              <a:t>Modulo 2: Metodos de prediccion en ciencias sociales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029200"/>
            <a:ext cx="3657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200" b="1">
                <a:solidFill>
                  <a:srgbClr val="000000"/>
                </a:solidFill>
                <a:latin typeface="Ubuntu"/>
              </a:rPr>
              <a:t>Jorge
Juvenal
Campos Ferreira</a:t>
            </a:r>
          </a:p>
          <a:p>
            <a:pPr algn="r">
              <a:spcBef>
                <a:spcPts val="800"/>
              </a:spcBef>
            </a:pPr>
            <a:r>
              <a:rPr sz="1400">
                <a:solidFill>
                  <a:srgbClr val="C0392B"/>
                </a:solidFill>
                <a:latin typeface="Ubuntu"/>
              </a:rPr>
              <a:t>juvenal.campos@tec.mx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Contenido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Fundamentos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1. Que es la regresion lineal?
2. La funcion de costo (MSE / OLS)
3. Derivacion de coeficientes α y β
4. Por que es el modelo basico de ML?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29184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Interpretacion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5. Que significa R²
6. Todos los estadisticos de summary()
7. Variables categoricas
8. Prediccion vs. inferencia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Practica en 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9. Programar y visualizar en R
10. Preparacion de datos
11. Datos faltantes
12. Como reportar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5394960" cy="1920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Avanzado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000000"/>
                </a:solidFill>
                <a:latin typeface="Ubuntu"/>
              </a:rPr>
              <a:t>13. Ridge y Lasso (regularizacion)
14. Aplicaciones en ciencias sociales
15. Ejercicio integrador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Eres analista en la Secretaria de Hacienda. Tu director te pide: "Necesito predecir el ingreso fiscal de los 2,469 municipios para los proximos 3 anos."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10312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A7A3A"/>
                </a:solidFill>
                <a:latin typeface="Ubuntu"/>
              </a:rPr>
              <a:t>Si tienes un buen modelo puedes: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Presupuestar transferencias federales
• Detectar anomalias (fraude fiscal)
• Evaluar politicas (becas impactan ingreso?)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10312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Ubuntu"/>
              </a:rPr>
              <a:t>El reto: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Tienes 50 variables candidatas. Las usas todas?
OLS clasico usaria todas, pero sobreajustaria: perfecto en training, falla en datos nuevos.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411480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700">
                <a:solidFill>
                  <a:srgbClr val="000000"/>
                </a:solidFill>
                <a:latin typeface="Ubuntu"/>
              </a:rPr>
              <a:t>Solucion: La regresion lineal como herramienta de prediccion + regularizacion. Eso es lo que aprenderemos hoy.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Que es la regresion lineal?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Es un modelo que busca la mejor recta (o hiperplano) que describe la relacion entre una variable dependiente Y y una o mas variables independientes 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Simple (1 predictor):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
ŷ = α + βx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310896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Multiple (p predictores):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
ŷ = β₀ + β₁x₁ + ... + βₛxₛ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5394960" cy="201168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Componentes: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α (β₀): Intercepto — valor de Y cuando todas las X = 0
βj: Pendiente — cuanto cambia Y por cada unidad de cambio en Xj
ŷ: Valor predicho
ei = yi − ŷi: Residuo (error)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29768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"Lineal" significa lineal en los parametros (β), no necesariamente en X. Puedes incluir X², log(X), interacciones, y sigue siendo regresion lineal.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Aplicaciones en ciencias sociales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Economia laboral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Ecuacion de Mincer: predecir salarios con educacion y experiencia. Base de estudios de desigualdad.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096512" y="109728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Pobreza y focalizacion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CONEVAL usa regresion para predecir pobreza con datos censales y focalizar programas sociales.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27264" y="109728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Educacion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Predecir puntajes PISA, desercion escolar, efecto del gasto educativo. INEE/Mejoredu.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74320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Salud publica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Predecir tasas de mortalidad, uso de servicios, gasto en salud por municipio.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96512" y="274320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Finanzas publicas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Predecir recaudacion fiscal municipal, transferencias federales, deuda publica.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27264" y="274320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Criminologia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Modelar tasas delictivas con variables socioeconomicas, densidad policial, urbanizacion.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En Mexico, la regresion lineal es la herramienta mas usada en evaluacion de politicas publicas, informes CONEVAL, Banxico y SHCP.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La funcion de costo (loss function)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Que significa "mejor recta"? La que minimiza el error entre valores reales y predichos.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920240"/>
            <a:ext cx="9144000" cy="64008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MSE = (1/n) Σ(yi − ŷi)²</a:t>
            </a:r>
          </a:p>
          <a:p>
            <a:pPr algn="ctr"/>
            <a:r>
              <a:rPr sz="1400">
                <a:solidFill>
                  <a:srgbClr val="FFFFFF"/>
                </a:solidFill>
                <a:latin typeface="Ubuntu"/>
              </a:rPr>
              <a:t>Error Cuadratico Medio (Mean Squared Error)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926080"/>
            <a:ext cx="5394960" cy="15544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Por que al cuadrado?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1. Elimina el signo (errores + y − no se cancelan)
2. Penaliza MAS los errores grandes
3. Es diferenciable y convexa → unico minimo global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926080"/>
            <a:ext cx="5394960" cy="15544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OLS = minimizar MSE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Lo que aprendiste como OLS (Ordinary Least Squares) es exactamente minimizar MSE con forma funcional lineal.
Solucion analitica: β = (X'X)⁻¹X'y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75488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Conexion clave: Econometria y ML usan la misma matematica. La diferencia es el objetivo: econometria busca β insesgado (causal); ML busca ŷ preciso (prediccion).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Derivacion de α y 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Ubuntu"/>
              </a:rPr>
              <a:t>Minimizamos S(α,β) = Σ(yi − α − βxi)² tomando derivadas parciales: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Derivada respecto a α: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∂S/∂α = −2Σ(yi − α − βxi) = 0
Σyi − nα − βΣxi = 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017520"/>
            <a:ext cx="4846320" cy="45720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α = ȳ − βx̄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Derivada respecto a β: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∂S/∂β = −2Σxi(yi − α − βxi) = 0
Sustituyendo α y simplificando: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017520"/>
            <a:ext cx="4846320" cy="45720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β = Σ(xi−x̄)(yi−ȳ) / Σ(xi−x̄)²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93192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β = Cov(X,Y) / Var(X) — La pendiente es la covarianza dividida entre la varianza. La recta siempre pasa por (x̄, ȳ).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555"/>
                </a:solidFill>
                <a:latin typeface="Ubuntu"/>
              </a:rPr>
              <a:t>Ver documento completo de derivacion: Derivacion_OLS.html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Por que es el modelo basico de ML?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La regresion lineal es la piedra angular de todo Machine Learning. Muchas tecnicas modernas se basan en sus principios: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3593592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1. Solucion analitica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Tiene formula cerrada (β=(X'X)⁻¹X'y). No necesita iteracion. Base para entender metodos iterativos.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6512" y="2011680"/>
            <a:ext cx="3593592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2. Interpretable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Cada β tiene significado directo. En ciencias sociales, la interpretabilidad es critica para politicas publicas.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27264" y="2011680"/>
            <a:ext cx="3593592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3. Baseline universal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Todo modelo nuevo (random forest, redes neuronales) se compara contra regresion lineal. Si no la supera, no vale.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023360"/>
            <a:ext cx="3593592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4. Base de otros modelos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Logistica = regresion + sigmoid. Redes neuronales = regresiones apiladas. Lasso/Ridge = regresion + penalty.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96512" y="4023360"/>
            <a:ext cx="3593592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5. Framework de evaluacion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MSE, R², train/test split, cross-validation: conceptos que nacen aqui y se usan en TODO ML.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27264" y="4023360"/>
            <a:ext cx="3593592" cy="173736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6. Eficiente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Entrena en milisegundos. Con millones de datos, sigue siendo rapida. Ideal para prototipado.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Que significa R²?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El coeficiente de determinacion (R²) mide que proporcion de la variabilidad de Y es explicada por el modelo.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828800"/>
            <a:ext cx="8229600" cy="54864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R² = 1 − SS_res / SS_tot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06040"/>
            <a:ext cx="5394960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SS_tot = Σ(yi − ȳ)²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Variabilidad total de 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3383280"/>
            <a:ext cx="5394960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SS_res = Σ(yi − ŷi)²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Variabilidad NO explicada (residuos)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160520"/>
            <a:ext cx="5394960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SS_reg = Σ(ŷi − ȳ)²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Variabilidad explicada por el modelo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606040"/>
            <a:ext cx="5394960" cy="23317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Interpretacion: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R² = 0.85 significa que el modelo explica el 85% de la variabilidad de Y.
R² = 1: Prediccion perfecta
R² = 0: No mejor que predecir ȳ
R² &lt; 0: Peor que predecir ȳ (posible en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21208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R² ajustado: Penaliza por numero de variables. R²adj = 1 − [(1−R²)(n−1)/(n−p−1)]. Usar cuando comparas modelos con diferente numero de predictores.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Regresion lineal en 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51560"/>
            <a:ext cx="11247120" cy="41148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Regresion simple
modelo_simple &lt;- lm(ingreso ~ educacion, data = datos)
# Regresion multiple
modelo_multi &lt;- lm(ingreso ~ educacion + ocupacion + urbana + servicios,
                   data = datos)
# Con TODAS las variables
modelo_full &lt;- lm(ingreso ~ ., data = datos)
# Con interacciones
modelo_inter &lt;- lm(ingreso ~ educacion * region, data = datos)
# Con transformaciones
modelo_log &lt;- lm(log(ingreso) ~ educacion + I(educacion^2), data = datos)
# Ver resultados
summary(modelo_multi)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53949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La formula en R usa ~: variable dependiente a la izquierda, predictores a la derecha separados por +. El punto (.) significa "todas las demas columnas".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Entendiendo summary()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247120" cy="256032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Coefficients:
                  Estimate  Std. Error  t value  Pr(&gt;|t|)
(Intercept)       12.340      3.210     3.844    0.000142 ***
educacion          0.892      0.045    19.822    &lt; 2e-16 ***
ocupacion          0.341      0.062     5.500    5.2e-08 ***
regioncentro      -3.210      1.450    -2.214    0.027340 *
regionsur         -8.760      1.680    -5.214    2.4e-07 ***
Residual standard error: 15.23 on 495 degrees of freedom
Multiple R-squared:  0.8234,   Adjusted R-squared:  0.8220
F-statistic: 576.8 on 4 and 495 DF,  p-value: &lt; 2.2e-16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840480"/>
            <a:ext cx="269748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Estimate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Valor estimado de β. Cuanto cambia Y por unidad de 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2112" y="3840480"/>
            <a:ext cx="269748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Std. Error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Incertidumbre del estimado. Menor = mas preciso.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98464" y="3840480"/>
            <a:ext cx="269748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t value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Estimate / Std.Error. Que tan lejos de cero esta 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14816" y="3840480"/>
            <a:ext cx="269748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Pr(&gt;|t|)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p-valor. Prob. de ver este t si β=0. Menor = mas significativo.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summary() — parte inferior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Estadistico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Que es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Como interpretarlo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Residual Std. Error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Desviacion estandar de los residuos (√MSE)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Error tipico de prediccion en unidades de Y. Si RSE=15M, tus predicciones se desvian ~15M.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R² Multiple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Proporcion de varianza explicada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0.82 = el modelo explica 82% de variabilidad. Siempre sube al agregar variables.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R² Adjusted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R² penalizado por # de variables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Usa este para comparar modelos con diferente numero de predictores. Puede bajar al agregar variables inutiles.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F-statistic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Test global: al menos un β ≠ 0?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F grande + p-value pequeno = el modelo es significativo. Si p &gt; 0.05, el modelo no sirve.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Estrellas 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Nivel de significancia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*** p&lt;0.001, ** p&lt;0.01, * p&lt;0.05, . p&lt;0.1. Convencion, no verdad absoluta.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Ubuntu"/>
                        </a:rPr>
                        <a:t>Degrees of freedom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n − p − 1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Ubuntu"/>
                        </a:rPr>
                        <a:t>Observaciones menos parametros estimados. Si es bajo, el modelo esta 'apretado'.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65760" y="5120640"/>
            <a:ext cx="11247120" cy="5486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Tip: Usa broom::tidy(modelo) para obtener los coeficientes en formato tibble limpio, y broom::glance(modelo) para las metricas globales.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Prediccion vs. inferencia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394960" cy="4114800"/>
          </a:xfrm>
          <a:prstGeom prst="roundRect">
            <a:avLst>
              <a:gd name="adj" fmla="val 4000"/>
            </a:avLst>
          </a:prstGeom>
          <a:noFill/>
          <a:ln w="381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029200" cy="502920"/>
          </a:xfrm>
          <a:prstGeom prst="roundRect">
            <a:avLst>
              <a:gd name="adj" fmla="val 4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Ubuntu"/>
              </a:rPr>
              <a:t>INFERENCIA (Econometria)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000000"/>
                </a:solidFill>
                <a:latin typeface="Ubuntu"/>
              </a:rPr>
              <a:t>Objetivo: Estimar β insesgado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Pregunta: "Si educacion sube 1 ano, cuanto sube el ingreso?"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Preocupacion: Sesgo de variable omitida, endogeneidad, causalidad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Evalua con: p-valores, intervalos de confianza de 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4114800"/>
          </a:xfrm>
          <a:prstGeom prst="roundRect">
            <a:avLst>
              <a:gd name="adj" fmla="val 4000"/>
            </a:avLst>
          </a:prstGeom>
          <a:noFill/>
          <a:ln w="381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029200" cy="50292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000" b="1">
                <a:solidFill>
                  <a:srgbClr val="FFFFFF"/>
                </a:solidFill>
                <a:latin typeface="Ubuntu"/>
              </a:rPr>
              <a:t>PREDICCION (ML)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>
                <a:solidFill>
                  <a:srgbClr val="000000"/>
                </a:solidFill>
                <a:latin typeface="Ubuntu"/>
              </a:rPr>
              <a:t>Objetivo: Obtener ŷ preciso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Pregunta: "Dado este municipio, cual sera su ingreso?"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Preocupacion: Overfitting, generalizacion a datos nuevos</a:t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/>
            </a:r>
          </a:p>
          <a:p>
            <a:r>
              <a:rPr sz="1500">
                <a:solidFill>
                  <a:srgbClr val="000000"/>
                </a:solidFill>
                <a:latin typeface="Ubuntu"/>
              </a:rPr>
              <a:t>Evalua con: RMSE, R² en datos de prueba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539496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En politica publica necesitas ambas. Inferencia para entender por que. Prediccion para actuar que hacer. Este tema se enfoca en prediccion.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Variables categoricas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Cuando incluyes una variable categorica (ej. region: norte/centro/sur), R automaticamente la convierte en variables dummy (0/1).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920240"/>
            <a:ext cx="5394960" cy="25603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Codificacion automatica: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Si region tiene 3 niveles (norte, centro, sur),
R crea 2 dummies:
regioncentro = 1 si centro, 0 si no
regionsur = 1 si sur, 0 si no
"norte" es la categoria de referencia (se omite).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920240"/>
            <a:ext cx="5394960" cy="13716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Interpretacion de coeficientes: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regioncentro = -3.21
"Los municipios del centro tienen, en promedio, $3.21M menos de ingreso que los del norte, controlando por las demas variables."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474720"/>
            <a:ext cx="5394960" cy="100584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En R: asegurar que sea factor
datos %&gt;%
  mutate(region = factor(region))
# lm() crea dummies automaticamente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75488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No incluyas todas las dummies manualmente! Si tienes k categorias, R usa k-1 dummies. Si metes las k, hay multicolinealidad perfecta (la 'trampa de las variables dummy').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Preparar los datos para regresion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1078992"/>
            <a:ext cx="365760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005840"/>
            <a:ext cx="10789920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Explorar los datos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summary(), glimpse(), skim() — entender distribucion, detectar anomalias.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130552"/>
            <a:ext cx="365760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0789920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Manejar datos faltantes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Eliminar (na.omit()) o imputar (media, mediana, modelo).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3182112"/>
            <a:ext cx="365760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108960"/>
            <a:ext cx="10789920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Convertir categoricas a factor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mutate(region = factor(region)) — R necesita factores para crear dummies.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4233672"/>
            <a:ext cx="365760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0520"/>
            <a:ext cx="10789920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Estandarizar (para regularizacion)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scale() o dejar que glmnet lo haga (standardize=TRUE). Critico para Ridge/Lasso.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5285232"/>
            <a:ext cx="365760" cy="36576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212080"/>
            <a:ext cx="10789920" cy="8686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73152" bIns="73152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Dividir en train / test</a:t>
            </a:r>
          </a:p>
          <a:p>
            <a:r>
              <a:rPr sz="1400">
                <a:solidFill>
                  <a:srgbClr val="000000"/>
                </a:solidFill>
                <a:latin typeface="Ubuntu"/>
              </a:rPr>
              <a:t>80% entrenamiento, 20% prueba. Nunca evaluar en train. Usar caret::createDataPartition().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Datos faltantes (NA)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Los NA son inevitables en datos sociales. lm() los elimina por defecto (na.action = na.omit), pero hay mejores opciones: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920240"/>
            <a:ext cx="5394960" cy="22860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Ubuntu"/>
              </a:rPr>
              <a:t>Opcion 1: Eliminar (listwise)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/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5029200" cy="64008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datos_limpios &lt;- datos %&gt;%
  drop_na()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2004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C0392B"/>
                </a:solidFill>
                <a:latin typeface="Ubuntu"/>
              </a:rPr>
              <a:t>Pierde observaciones. Riesgoso si los NA no son aleatorios.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394960" cy="22860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27AE60"/>
                </a:solidFill>
                <a:latin typeface="Ubuntu"/>
              </a:rPr>
              <a:t>Opcion 2: Imputar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468880"/>
            <a:ext cx="5029200" cy="100584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datos_imp &lt;- datos %&gt;%
  mutate(across(
    where(is.numeric),
    ~ replace_na(., median(., na.rm = TRUE))
  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27AE60"/>
                </a:solidFill>
                <a:latin typeface="Ubuntu"/>
              </a:rPr>
              <a:t>Conserva observaciones. Mediana es robusta a outliers.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4480560"/>
            <a:ext cx="11247120" cy="10972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Recomendacion por tipo de faltante:
MCAR (Missing Completely at Random): Eliminar esta bien si son pocos.
MAR (Missing at Random): Imputar con mediana o modelo.
MNAR (Missing Not at Random): Problema serio. Consulta un experto.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Visualizar la regresion en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058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C7D"/>
                </a:solidFill>
                <a:latin typeface="Ubuntu"/>
              </a:rPr>
              <a:t>Recta de regresion + IC: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5394960" cy="22860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datos %&gt;%
  ggplot(aes(x = educacion, y = ingreso)) +
  geom_point(alpha = 0.4, color = "#1e4c7d") +
  geom_smooth(method = "lm",
    color = "#c0392b", fill = "#fadbd8") +
  theme_minimal()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005840"/>
            <a:ext cx="5394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E4C7D"/>
                </a:solidFill>
                <a:latin typeface="Ubuntu"/>
              </a:rPr>
              <a:t>Real vs. predicho: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256032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tibble(
  real = y_test,
  predicho = predict(modelo, newdata = test)
) %&gt;%
  ggplot(aes(x = real, y = predicho)) +
  geom_point(alpha = 0.5) +
  geom_abline(color = "red", linetype = "dashed") +
  theme_minimal()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  <a:latin typeface="Ubuntu"/>
              </a:rPr>
              <a:t>geom_smooth(method = "lm") agrega automaticamente la recta de regresion con intervalo de confianza al 95%.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Metricas de evaluacion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Ubuntu"/>
              </a:rPr>
              <a:t>Siempre evaluar en datos de prueba (nunca tocados durante entrenamiento):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55448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Metrica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Formula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Interpretacion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Unidades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(1/n) Σ(y−ŷ)²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Error promedio al cuadrado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(unidades de Y)²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RMSE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√MSE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Error tipico en unidades de Y. Si RMSE=5M, predicciones se desvian ~5M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unidades de 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(1/n) Σ|y−ŷ|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Error promedio absoluto. Menos sensible a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unidades de Y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R²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1 − SS_res/SS_tot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Proporcion de varianza explicada (0 a 1)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adimensional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4114800"/>
            <a:ext cx="11247120" cy="164592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Calcular metricas en test
pred_test &lt;- predict(modelo, newdata = test)
rmse &lt;- sqrt(mean((y_test - pred_test)^2))
mae  &lt;- mean(abs(y_test - pred_test))
r2   &lt;- 1 - sum((y_test - pred_test)^2) / sum((y_test - mean(y_test))^2)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El problema del sobreajuste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Un modelo puede ser perfecto en entrenamiento pero terrible en datos nuevos. Esto es overfitting.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82880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Modelo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Train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Test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Diagnostico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OLS (50 variables)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7AE60"/>
                          </a:solidFill>
                          <a:latin typeface="Ubuntu"/>
                        </a:rPr>
                        <a:t>0.95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0392B"/>
                          </a:solidFill>
                          <a:latin typeface="Ubuntu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0392B"/>
                          </a:solidFill>
                          <a:latin typeface="Ubuntu"/>
                        </a:rPr>
                        <a:t>Overfitting severo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OLS (6 variables)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0.89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0.78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E67E22"/>
                          </a:solidFill>
                          <a:latin typeface="Ubuntu"/>
                        </a:rPr>
                        <a:t>Aceptable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Ridge (regularizado)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7AE60"/>
                          </a:solidFill>
                          <a:latin typeface="Ubuntu"/>
                        </a:rPr>
                        <a:t>Excelente generalizacion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356616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Senales de overfitting:
• R² train mucho mayor que R² test
• Coeficientes muy grandes o inestables
• Muchas variables, pocas observaciones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56616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Solucion: Regularizacion
Penalizar coeficientes grandes para que el modelo sea mas simple y generalice mejor. Ridge, Lasso, Elastic Net.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Ridge Regression (L2)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Ridge agrega una penalizacion a la funcion de costo: penaliza coeficientes grandes.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Loss_Ridge = MSE + λ Σ βj²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λ = parametro de regularizacion | Σβ² = suma de cuadrados de coeficientes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743200"/>
            <a:ext cx="5394960" cy="25603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Que hace Ridge: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λ=0: recuperas OLS
• λ pequeno: ligera contraccion
• λ grande: todos los β → 0
• λ→∞: predictor trivial (ŷ≈ȳ)
Todos los β se encojen, pero ninguno llega exactamente a cero.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743200"/>
            <a:ext cx="5394960" cy="25603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Cuando usarlo: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Multicolinealidad (variables correlacionadas)
• Quieres mantener TODAS las variables
• Mas observaciones que variables
Geometria: Busca β dentro de una esfera de radio ~1/λ.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Lasso Regression (L1)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Lasso usa valor absoluto en lugar de cuadrado. Esto tiene un efecto especial: algunos β se vuelven exactamente cero.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9144000" cy="54864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2200" b="1">
                <a:solidFill>
                  <a:srgbClr val="FFFFFF"/>
                </a:solidFill>
                <a:latin typeface="Ubuntu"/>
              </a:rPr>
              <a:t>Loss_Lasso = MSE + λ Σ |βj|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6517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A7A3A"/>
                </a:solidFill>
                <a:latin typeface="Ubuntu"/>
              </a:rPr>
              <a:t>Ventaja: seleccion automatica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Lasso decide cuales variables son utiles. Las inutiles las elimina (β=0).
Con 50 variables, Lasso podria seleccionar solo 8.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651760"/>
            <a:ext cx="5394960" cy="1645920"/>
          </a:xfrm>
          <a:prstGeom prst="roundRect">
            <a:avLst>
              <a:gd name="adj" fmla="val 4000"/>
            </a:avLst>
          </a:prstGeom>
          <a:solidFill>
            <a:srgbClr val="FADB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C0392B"/>
                </a:solidFill>
                <a:latin typeface="Ubuntu"/>
              </a:rPr>
              <a:t>Cuidado con la interpretacion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Que Lasso elimine una variable NO significa que no sea importante. Puede estar correlacionada con otra que Lasso conservo (redundancia, no irrelevancia).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4572000"/>
            <a:ext cx="11247120" cy="59436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Elastic Net combina Ridge + Lasso: Loss = MSE + λ(αΣ|β| + (1−α)Σβ²). Lo mejor de ambos: seleccion de variables + estabilidad.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Ridge y Lasso en 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05840"/>
            <a:ext cx="11247120" cy="50292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library(glmnet)
# Preparar matrices (glmnet no acepta formulas)
X_train &lt;- model.matrix(ingreso ~ ., data = train)[, -1]
y_train &lt;- train$ingreso
# Ridge: alpha = 0
cv_ridge &lt;- cv.glmnet(X_train, y_train, alpha = 0, nfolds = 5)
plot(cv_ridge)  # Curva de CV para elegir lambda
ridge_best &lt;- glmnet(X_train, y_train, alpha = 0,
                      lambda = cv_ridge$lambda.min)
# Lasso: alpha = 1
cv_lasso &lt;- cv.glmnet(X_train, y_train, alpha = 1, nfolds = 5)
lasso_best &lt;- glmnet(X_train, y_train, alpha = 1,
                      lambda = cv_lasso$lambda.min)
# Ver coeficientes Lasso (cuales son 0?)
coef(lasso_best)
# Elastic Net: alpha = 0.5
cv_enet &lt;- cv.glmnet(X_train, y_train, alpha = 0.5, nfolds = 5)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OLS vs. Ridge vs. Lasso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Modelo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Train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RMSE Train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R² Test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RMSE Test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Variables usadas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12.3M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0392B"/>
                          </a:solidFill>
                          <a:latin typeface="Ubuntu"/>
                        </a:rP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0392B"/>
                          </a:solidFill>
                          <a:latin typeface="Ubuntu"/>
                        </a:rPr>
                        <a:t>45.7M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6 de 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Ridge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14.5M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0.76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28.3M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6 de 6 (encogidas)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17.2M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35.1M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E4C7D"/>
                          </a:solidFill>
                          <a:latin typeface="Ubuntu"/>
                        </a:rPr>
                        <a:t>4 de 6 (seleccion)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Elastic Net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0.82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15.8M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0.74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30.5M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5 de 6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65760" y="356616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Conclusion: Ridge sacrifica precision en training (0.89→0.84) para ganar mucho en test (0.62→0.76). Lasso es mas agresivo: elimina variables pero el RMSE en test es mayor.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389120"/>
            <a:ext cx="11247120" cy="54864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λ optimo: Se encuentra con validacion cruzada (cv.glmnet). Nunca en test. CV usa solo datos de entrenamiento.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Guia: Ridge, Lasso o Elastic Net?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05156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Situacion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Metodo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Ubuntu"/>
                        </a:rPr>
                        <a:t>Razon</a:t>
                      </a:r>
                    </a:p>
                  </a:txBody>
                  <a:tcPr>
                    <a:solidFill>
                      <a:srgbClr val="1E4C7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Muchas variables correlacionadas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471A3"/>
                          </a:solidFill>
                          <a:latin typeface="Ubuntu"/>
                        </a:rP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Encoge todas, mantiene estabilidad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Muchas variables, pocas relevantes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Lasso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Seleccion automatica (β→0)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Ambos problemas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E67E22"/>
                          </a:solidFill>
                          <a:latin typeface="Ubuntu"/>
                        </a:rPr>
                        <a:t>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Combina seleccion + estabilidad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Pocas variables, sin multicolinealidad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Ubuntu"/>
                        </a:rPr>
                        <a:t>OLS clasico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No necesitas regularizacion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p &gt; n (mas variables que observaciones)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7AE60"/>
                          </a:solidFill>
                          <a:latin typeface="Ubuntu"/>
                        </a:rPr>
                        <a:t>Lasso/Elastic 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000000"/>
                          </a:solidFill>
                          <a:latin typeface="Ubuntu"/>
                        </a:rPr>
                        <a:t>OLS no funciona (X'X singular)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365760" y="420624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2471A3"/>
                </a:solidFill>
                <a:latin typeface="Ubuntu"/>
              </a:rPr>
              <a:t>Ridge</a:t>
            </a:r>
          </a:p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Loss = MSE + λΣβ²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Ubuntu"/>
              </a:rPr>
              <a:t>Encoge todo, elimina nada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096512" y="420624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27AE60"/>
                </a:solidFill>
                <a:latin typeface="Ubuntu"/>
              </a:rPr>
              <a:t>Lasso</a:t>
            </a:r>
          </a:p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Loss = MSE + λΣ|β|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Ubuntu"/>
              </a:rPr>
              <a:t>Selecciona variables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27264" y="4206240"/>
            <a:ext cx="3593592" cy="13716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E67E22"/>
                </a:solidFill>
                <a:latin typeface="Ubuntu"/>
              </a:rPr>
              <a:t>Elastic Net</a:t>
            </a:r>
          </a:p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Loss = MSE + λ(αL1 + (1−α)L2)</a:t>
            </a:r>
          </a:p>
          <a:p>
            <a:pPr algn="ctr"/>
            <a:r>
              <a:rPr sz="1300">
                <a:solidFill>
                  <a:srgbClr val="555555"/>
                </a:solidFill>
                <a:latin typeface="Ubuntu"/>
              </a:rPr>
              <a:t>Lo mejor de ambos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Como reportar resultados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Reportar una regresion de forma clara y profesional es una habilidad esencial: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3736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En una tabla (estilo APA/academico):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Coeficiente estimado (β)
• Error estandar (SE) o intervalo de confianza
• Significancia (estrellas o p-valor)
• R² y R² ajustado
• Numero de observaciones (n)
• F-statistic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402336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Tabla limpia con broom
library(broom)
tidy(modelo, conf.int = TRUE)
glance(modelo)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394960" cy="21031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En texto narrativo: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"Un modelo de regresion lineal multiple mostro que la tasa de educacion (β=0.89, SE=0.045, p&lt;0.001) y el indice de ocupacion (β=0.34, SE=0.062, p&lt;0.001) son predictores significativos del ingreso municipal. El modelo explica el 82% de la varianza (R²adj=0.822, F(4,495)=576.8, p&lt;0.001)."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394960" cy="91440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400">
                <a:solidFill>
                  <a:srgbClr val="000000"/>
                </a:solidFill>
                <a:latin typeface="Ubuntu"/>
              </a:rPr>
              <a:t>Errores comunes: No reportar n, no distinguir R² de R² ajustado, no indicar si es train o test, interpretar β como causal sin experimento.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Diagnosticos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000000"/>
                </a:solidFill>
                <a:latin typeface="Ubuntu"/>
              </a:rPr>
              <a:t>Despues de ajustar el modelo, verifica que los supuestos se cumplan: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554480"/>
            <a:ext cx="269748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1. Linealidad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Residuos vs. valores predichos. Sin patron visible = OK. Patron curvo = relacion no lineal.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82112" y="1554480"/>
            <a:ext cx="269748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2. Homocedasticidad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Varianza constante de residuos. Si se 'abre' en forma de abanico = heterocedasticidad.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98464" y="1554480"/>
            <a:ext cx="269748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3. Normalidad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Q-Q plot de residuos. Puntos sobre la linea = residuos normales. Menos critico con n grande.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14816" y="1554480"/>
            <a:ext cx="2697480" cy="146304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4. Independencia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000000"/>
                </a:solidFill>
                <a:latin typeface="Ubuntu"/>
              </a:rPr>
              <a:t>Residuos no correlacionados entre si. Critico en datos temporales (test de Durbin-Watson).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200400"/>
            <a:ext cx="11247120" cy="2743200"/>
          </a:xfrm>
          <a:prstGeom prst="roundRect">
            <a:avLst>
              <a:gd name="adj" fmla="val 4000"/>
            </a:avLst>
          </a:prstGeom>
          <a:solidFill>
            <a:srgbClr val="1E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 bIns="137160"/>
          <a:lstStyle/>
          <a:p>
            <a:pPr algn="ctr"/>
            <a:r>
              <a:rPr sz="1300">
                <a:solidFill>
                  <a:srgbClr val="E0E0E0"/>
                </a:solidFill>
                <a:latin typeface="Courier New"/>
              </a:rPr>
              <a:t># Graficas de diagnostico con ggplot2
library(broom)
diagnosticos &lt;- augment(modelo)
# Residuos vs. predichos
diagnosticos %&gt;%
  ggplot(aes(x = .fitted, y = .resid)) +
  geom_point(alpha = 0.4) +
  geom_hline(yintercept = 0, color = "red") +
  theme_minimal()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Validacion cruzada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Como elegir λ (o cualquier hiperparametro)? Nunca en test. Usamos cross-validation (CV).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69164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1168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3172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0332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02336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4340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6344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9496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1500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3504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5508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7512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0664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2668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2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36676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68680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1832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3836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005840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37844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698480" y="1920240"/>
            <a:ext cx="274320" cy="36576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18320" y="2331720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000000"/>
                </a:solidFill>
                <a:latin typeface="Ubuntu"/>
              </a:rPr>
              <a:t>Fold 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269748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C0392B"/>
                </a:solidFill>
                <a:latin typeface="Ubuntu"/>
              </a:rPr>
              <a:t>■ Validacion   </a:t>
            </a:r>
            <a:r>
              <a:rPr sz="1400" b="1">
                <a:solidFill>
                  <a:srgbClr val="2471A3"/>
                </a:solidFill>
                <a:latin typeface="Ubuntu"/>
              </a:rPr>
              <a:t>■ Entrenamiento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108960"/>
            <a:ext cx="11247120" cy="11887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 w="50800">
            <a:solidFill>
              <a:srgbClr val="1E4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Procedimiento: Para cada λ candidato, entrena 5 modelos (cada uno sin un fold), evalua en el fold dejado fuera, promedia MSE. Elige λ con menor MSE promedio.
cv.glmnet() automatiza todo esto.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4480560"/>
            <a:ext cx="11247120" cy="640080"/>
          </a:xfrm>
          <a:prstGeom prst="roundRect">
            <a:avLst>
              <a:gd name="adj" fmla="val 4000"/>
            </a:avLst>
          </a:prstGeom>
          <a:solidFill>
            <a:srgbClr val="FDF2F2"/>
          </a:solidFill>
          <a:ln w="508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500">
                <a:solidFill>
                  <a:srgbClr val="000000"/>
                </a:solidFill>
                <a:latin typeface="Ubuntu"/>
              </a:rPr>
              <a:t>Regla de oro: Train para entrenar. CV para elegir hiperparametros. Test SOLO al final, una vez. Si tocas test antes, tus metricas mienten.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Estructura de un proyecto ML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188720"/>
            <a:ext cx="2743200" cy="1097280"/>
          </a:xfrm>
          <a:prstGeom prst="roundRect">
            <a:avLst>
              <a:gd name="adj" fmla="val 4000"/>
            </a:avLst>
          </a:prstGeom>
          <a:solidFill>
            <a:srgbClr val="2471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Train (60%)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Entrenar modelos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188720"/>
            <a:ext cx="2743200" cy="1097280"/>
          </a:xfrm>
          <a:prstGeom prst="roundRect">
            <a:avLst>
              <a:gd name="adj" fmla="val 4000"/>
            </a:avLst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Validation (20%)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Elegir λ, comparar modelos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188720"/>
            <a:ext cx="2743200" cy="1097280"/>
          </a:xfrm>
          <a:prstGeom prst="roundRect">
            <a:avLst>
              <a:gd name="adj" fmla="val 4000"/>
            </a:avLst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/>
            <a:r>
              <a:rPr sz="1800" b="1">
                <a:solidFill>
                  <a:srgbClr val="FFFFFF"/>
                </a:solidFill>
                <a:latin typeface="Ubuntu"/>
              </a:rPr>
              <a:t>Test (20%)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Ubuntu"/>
              </a:rPr>
              <a:t>Evaluacion FINAL.
No tocar hasta el final.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13716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E4C7D"/>
                </a:solidFill>
                <a:latin typeface="Ubuntu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371600"/>
            <a:ext cx="3657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E4C7D"/>
                </a:solidFill>
                <a:latin typeface="Ubuntu"/>
              </a:rPr>
              <a:t>+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651760"/>
            <a:ext cx="320040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0604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Explorar datos, limpiar, imputar NAs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383280"/>
            <a:ext cx="320040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Dividir en train / validation / test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114800"/>
            <a:ext cx="320040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06908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Entrenar OLS, Ridge, Lasso en train. Elegir λ con CV en validation.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846320"/>
            <a:ext cx="320040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800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Evaluar modelo final en test. Reportar RMSE, R², MAE.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5577840"/>
            <a:ext cx="320040" cy="32004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53212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000000"/>
                </a:solidFill>
                <a:latin typeface="Ubuntu"/>
              </a:rPr>
              <a:t>Interpretar, diagnosticar, comunicar resultados.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Resumen: puntos clave</a:t>
            </a:r>
          </a:p>
        </p:txBody>
      </p:sp>
      <p:sp>
        <p:nvSpPr>
          <p:cNvPr id="3" name="Oval 2"/>
          <p:cNvSpPr/>
          <p:nvPr/>
        </p:nvSpPr>
        <p:spPr>
          <a:xfrm>
            <a:off x="365760" y="98755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Regresion lineal busca la recta/hiperplano que minimiza el error cuadratico (MSE).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153619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β = Cov(X,Y)/Var(X). Se obtiene derivando la funcion de costo e igualando a cero.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208483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R² mide proporcion de varianza explicada. Usar R² ajustado para comparar modelos.</a:t>
            </a:r>
          </a:p>
        </p:txBody>
      </p:sp>
      <p:sp>
        <p:nvSpPr>
          <p:cNvPr id="9" name="Oval 8"/>
          <p:cNvSpPr/>
          <p:nvPr/>
        </p:nvSpPr>
        <p:spPr>
          <a:xfrm>
            <a:off x="365760" y="263347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summary(): Estimate, Std.Error, t-value, p-value, R², F-statistic. Cada uno tiene significado.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" y="318211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546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Variables categoricas: R las convierte en dummies. Interpreta respecto a la referencia.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373075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Ridge encoge coeficientes (L2). Lasso elimina variables (L1). Elastic Net combina ambos.</a:t>
            </a:r>
          </a:p>
        </p:txBody>
      </p:sp>
      <p:sp>
        <p:nvSpPr>
          <p:cNvPr id="15" name="Oval 14"/>
          <p:cNvSpPr/>
          <p:nvPr/>
        </p:nvSpPr>
        <p:spPr>
          <a:xfrm>
            <a:off x="365760" y="427939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Regularizacion resuelve overfitting. Sacrifica precision en train, gana en test.</a:t>
            </a:r>
          </a:p>
        </p:txBody>
      </p:sp>
      <p:sp>
        <p:nvSpPr>
          <p:cNvPr id="17" name="Oval 16"/>
          <p:cNvSpPr/>
          <p:nvPr/>
        </p:nvSpPr>
        <p:spPr>
          <a:xfrm>
            <a:off x="365760" y="482803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80060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λ se elige con validacion cruzada. Nunca con datos de test.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5376672"/>
            <a:ext cx="274320" cy="274320"/>
          </a:xfrm>
          <a:prstGeom prst="ellipse">
            <a:avLst/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34924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Evaluar en test: RMSE, MAE, R². Siempre en datos virgenes.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" y="5925312"/>
            <a:ext cx="274320" cy="2743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Ubuntu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9788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000000"/>
                </a:solidFill>
                <a:latin typeface="Ubuntu"/>
              </a:rPr>
              <a:t>Es el modelo basico de ML: interpretable, eficiente, base de todo lo demas.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Proximo: Clasificacion (Tema 2.2)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000000"/>
                </a:solidFill>
                <a:latin typeface="Ubuntu"/>
              </a:rPr>
              <a:t>De prediccion continua (ingresos en pesos) a prediccion categorica (pobre o no pobre?).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828800"/>
            <a:ext cx="5394960" cy="25603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029200" cy="45720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471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471A3"/>
                </a:solidFill>
                <a:latin typeface="Ubuntu"/>
              </a:rPr>
              <a:t>Este tema (2.1)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Ubuntu"/>
              </a:rPr>
              <a:t>Y = continua (pesos, %, indice)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ŷ = β₀ + β₁x₁ + ...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Loss = MSE + λ(reg.)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Metricas: RMSE, R²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394960" cy="2560320"/>
          </a:xfrm>
          <a:prstGeom prst="roundRect">
            <a:avLst>
              <a:gd name="adj" fmla="val 4000"/>
            </a:avLst>
          </a:prstGeom>
          <a:noFill/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96596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27AE60"/>
                </a:solidFill>
                <a:latin typeface="Ubuntu"/>
              </a:rPr>
              <a:t>Tema 2.2 (siguiente)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603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Ubuntu"/>
              </a:rPr>
              <a:t>Y = categorica (si/no, A/B/C)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P(Y=1) = sigmoid(β'x)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Loss = Log-Loss + λ(reg.)</a:t>
            </a:r>
          </a:p>
          <a:p>
            <a:r>
              <a:rPr sz="1600">
                <a:solidFill>
                  <a:srgbClr val="000000"/>
                </a:solidFill>
                <a:latin typeface="Ubuntu"/>
              </a:rPr>
              <a:t>Metricas: Accuracy, AUC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4663440"/>
            <a:ext cx="11247120" cy="731520"/>
          </a:xfrm>
          <a:prstGeom prst="roundRect">
            <a:avLst>
              <a:gd name="adj" fmla="val 4000"/>
            </a:avLst>
          </a:prstGeom>
          <a:solidFill>
            <a:srgbClr val="F0FAF0"/>
          </a:solidFill>
          <a:ln w="508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09728" bIns="109728"/>
          <a:lstStyle/>
          <a:p>
            <a:pPr algn="ctr"/>
            <a:r>
              <a:rPr sz="1600">
                <a:solidFill>
                  <a:srgbClr val="000000"/>
                </a:solidFill>
                <a:latin typeface="Ubuntu"/>
              </a:rPr>
              <a:t>Todo lo que aprendiste hoy se reutiliza: regularizacion Ridge/Lasso, validacion cruzada, lambda tuning, train/test split, interpretacion de coeficientes. Solo cambia la funcion de enlace.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74320"/>
            <a:ext cx="5486400" cy="594360"/>
          </a:xfrm>
          <a:prstGeom prst="roundRect">
            <a:avLst>
              <a:gd name="adj" fmla="val 4000"/>
            </a:avLst>
          </a:prstGeom>
          <a:solidFill>
            <a:srgbClr val="1E4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91440" bIns="91440"/>
          <a:lstStyle/>
          <a:p>
            <a:pPr algn="l"/>
            <a:r>
              <a:rPr sz="2800" b="1">
                <a:solidFill>
                  <a:srgbClr val="FFFFFF"/>
                </a:solidFill>
                <a:latin typeface="Ubuntu"/>
              </a:rPr>
              <a:t>Referencias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0972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Libros fundamentales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James et al. (2021) — ISLR2 Cap. 3, 6. Gratis: statlearning.com
• Hastie et al. (2009) — ESL Cap. 3
• Cunningham (2021) — Causal Inference: The Mixtape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32918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Papers originales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Hoerl &amp; Kennard (1970) — Ridge Regression
• Tibshirani (1996) — Lasso
• Zou &amp; Hastie (2005) — Elastic Net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Recursos en 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glmnet vignette — glmnet.stanford.edu
• caret — topepo.github.io/caret
• broom — para reportar resultados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91840"/>
            <a:ext cx="5394960" cy="182880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Datos Mexico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• INEGI: Censo Economico, Intercensal
• Banxico: Indicadores economicos
• CONEVAL: Medicion de pobreza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57200"/>
            <a:ext cx="121916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200" b="1">
                <a:solidFill>
                  <a:srgbClr val="1E4C7D"/>
                </a:solidFill>
                <a:latin typeface="Ubuntu"/>
              </a:rPr>
              <a:t>Preguntas?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228600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Ejercicio practico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Abre ejercicio_regresion_lineal.R
Datos: 500 municipios mexicanos
Compara OLS vs. Ridge vs. Lasso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2286000"/>
            <a:ext cx="3657600" cy="164592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ctr"/>
            <a:r>
              <a:rPr sz="1600" b="1">
                <a:solidFill>
                  <a:srgbClr val="1E4C7D"/>
                </a:solidFill>
                <a:latin typeface="Ubuntu"/>
              </a:rPr>
              <a:t>Lectura para siguiente clase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000000"/>
                </a:solidFill>
                <a:latin typeface="Ubuntu"/>
              </a:rPr>
              <a:t>James et al. (2021)
ISLR2, Capitulos 3 y 6
statlearning.com (gratis)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846320"/>
            <a:ext cx="121916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Ubuntu"/>
              </a:rPr>
              <a:t>Jorge Juvenal Campos Ferreira</a:t>
            </a:r>
          </a:p>
          <a:p>
            <a:pPr algn="ctr">
              <a:spcBef>
                <a:spcPts val="600"/>
              </a:spcBef>
            </a:pPr>
            <a:r>
              <a:rPr sz="1600">
                <a:solidFill>
                  <a:srgbClr val="C0392B"/>
                </a:solidFill>
                <a:latin typeface="Ubuntu"/>
              </a:rPr>
              <a:t>juvenal.campos@tec.mx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754880"/>
            <a:ext cx="6705295" cy="27432"/>
          </a:xfrm>
          <a:prstGeom prst="rect">
            <a:avLst/>
          </a:prstGeom>
          <a:solidFill>
            <a:srgbClr val="DDE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