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E4C7D"/>
                </a:solidFill>
                <a:latin typeface="Ubuntu"/>
              </a:rPr>
              <a:t>Tecnologico de Monterrey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286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 i="1">
                <a:solidFill>
                  <a:srgbClr val="555555"/>
                </a:solidFill>
                <a:latin typeface="Ubuntu"/>
              </a:rPr>
              <a:t>TC2001B  Ciencia de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9144000" cy="33832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1E4C7D"/>
                </a:solidFill>
                <a:latin typeface="Ubuntu"/>
              </a:rPr>
              <a:t>K-Vecinos Cercanos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C0392B"/>
                </a:solidFill>
                <a:latin typeface="Ubuntu"/>
              </a:rPr>
              <a:t>(K-NN)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1E4C7D"/>
                </a:solidFill>
                <a:latin typeface="Ubuntu"/>
              </a:rPr>
              <a:t>Un algoritmo intuitivo para clasificacion y regresion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486400"/>
            <a:ext cx="45720" cy="54864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Ubuntu"/>
              </a:rPr>
              <a:t>Jorge Juvenal Campos Ferreira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897880"/>
            <a:ext cx="137160" cy="1371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8521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  <a:latin typeface="Ubuntu"/>
              </a:rPr>
              <a:t>juvenal.campos@tec.mx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Que es K-NN?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000000"/>
                </a:solidFill>
                <a:latin typeface="Ubuntu"/>
              </a:rPr>
              <a:t>Algoritmo de aprendizaje supervisado propuesto formalmente por Fix y Hodges (1951) y extendido por Cover y Hart (1967).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4251960" cy="201168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Doble proposito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23160"/>
            <a:ext cx="3977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Clasificacion: asigna una categoria (p.ej. fraude / no fraude).</a:t>
            </a:r>
          </a:p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Regresion: predice un valor continuo (p.ej. precio de casa).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920240"/>
            <a:ext cx="4251960" cy="201168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Lazy learner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9776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construye un modelo explicito durante el entrenamiento. Memoriza los datos y solo calcula al momento de predecir.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69080"/>
            <a:ext cx="8595360" cy="14630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16052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No parametrico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572000"/>
            <a:ext cx="8321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No asume ninguna forma de distribucion de los datos. Esto le permite capturar fronteras de decision muy flexibles, sin imponer supuestos como linealidad o normalidad.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669280"/>
            <a:ext cx="8595360" cy="7772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779008"/>
            <a:ext cx="83210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Idea clave: K-NN predice mirando a los vecinos mas parecidos del nuevo punto en el conjunto de entrenamiento.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La intuicion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8595360" cy="16459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859536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Ubuntu"/>
              </a:rPr>
              <a:t>"Dime con quien andas y te dire quien eres."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291840"/>
            <a:ext cx="4251960" cy="22860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38328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4C7D"/>
                </a:solidFill>
                <a:latin typeface="Ubuntu"/>
              </a:rPr>
              <a:t>Premisa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94760"/>
            <a:ext cx="3977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Si un nuevo punto se parece a sus vecinos en el espacio de caracteristicas, probablemente pertenezca a su misma clase.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3291840"/>
            <a:ext cx="4251960" cy="22860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7A3A"/>
                </a:solidFill>
                <a:latin typeface="Ubuntu"/>
              </a:rPr>
              <a:t>Idea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94760"/>
            <a:ext cx="3977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Proximidad implica similitud.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Toda la mecanica del algoritmo se reduce a medir distancias y consultar a los vecinos.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715000"/>
            <a:ext cx="8595360" cy="7772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824728"/>
            <a:ext cx="832104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En politicas publicas: clasificar municipios, hogares o beneficiarios buscando a quienes mas se le parecen.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espacio de caracteristicas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5331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x = (x1, x2, ..., xn)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2024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Cada observacion es un vector con n atributos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60320"/>
            <a:ext cx="425196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65176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Geometria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63240"/>
            <a:ext cx="3977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Cada observacion es un punto en un espacio de n dimensiones. Con 2 variables: plano. Con 3: cubo. Con n: hipercubo.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2560320"/>
            <a:ext cx="4251960" cy="21945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Cercania = metrica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63240"/>
            <a:ext cx="3977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"Cercania" no es algo abstracto: se mide con una formula de distancia que asigna un numero a cada par de puntos.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892040"/>
            <a:ext cx="8595360" cy="15544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98348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Ejemplo (3 variables)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394960"/>
            <a:ext cx="83210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Un municipio podria describirse con (PIB per capita, indice de pobreza, escolaridad promedio). Cada uno es un punto en R3 y municipios parecidos quedan cerca entre 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Distancia euclidiana (la mas usada)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d(p,q) = sqrt( sum_{i=1..n} (pi - qi)^2 )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7452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Generalizacion de Pitagoras a n dimensiones</a:t>
            </a:r>
          </a:p>
        </p:txBody>
      </p:sp>
      <p:pic>
        <p:nvPicPr>
          <p:cNvPr id="8" name="Picture 7" descr="euclidia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68880"/>
            <a:ext cx="5029200" cy="36969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0" y="2468880"/>
            <a:ext cx="3383280" cy="2103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5603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Notacion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971800"/>
            <a:ext cx="3108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p y q: dos puntos en R^n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pi, qi: i-esima coordenada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n: numero de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4663440"/>
            <a:ext cx="3383280" cy="17373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4754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Caso 2D (Pitagoras)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516636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 = sqrt( (x2-x1)^2 + (y2-y1)^2 )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Otras metricas de distancia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645920" cy="5943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20240" y="1280160"/>
            <a:ext cx="3200400" cy="5943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1280160"/>
            <a:ext cx="3749039" cy="5943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Ubuntu"/>
              </a:rPr>
              <a:t>Metrica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28016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Ubuntu"/>
              </a:rPr>
              <a:t>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28016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Ubuntu"/>
              </a:rPr>
              <a:t>Cuando usarla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1645920" cy="5943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1874519"/>
            <a:ext cx="3200400" cy="5943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1874519"/>
            <a:ext cx="3749039" cy="5943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874519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Manhattan (L1)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874519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Ubuntu"/>
              </a:rPr>
              <a:t>sum |pi - qi|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874519"/>
            <a:ext cx="36575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Ubuntu"/>
              </a:rPr>
              <a:t>Variables tipo grilla, robusta a outliers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0"/>
            <a:ext cx="1645920" cy="594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468880"/>
            <a:ext cx="3200400" cy="594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2468880"/>
            <a:ext cx="3749039" cy="594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46888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Minkowski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246888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Ubuntu"/>
              </a:rPr>
              <a:t>( sum |pi - qi|^p )^(1/p)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468880"/>
            <a:ext cx="36575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Ubuntu"/>
              </a:rPr>
              <a:t>Generaliza L1 y L2 (parametro p)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63240"/>
            <a:ext cx="1645920" cy="5943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3063240"/>
            <a:ext cx="3200400" cy="5943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3063240"/>
            <a:ext cx="3749039" cy="5943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6324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Coseno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06324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Ubuntu"/>
              </a:rPr>
              <a:t>1 - (p . q) / (||p|| ||q||)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063240"/>
            <a:ext cx="36575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Ubuntu"/>
              </a:rPr>
              <a:t>Texto, datos de alta dimensionalidad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1645920" cy="594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920240" y="3657600"/>
            <a:ext cx="3200400" cy="594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3657600"/>
            <a:ext cx="3749039" cy="5943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65760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E4C7D"/>
                </a:solidFill>
                <a:latin typeface="Ubuntu"/>
              </a:rPr>
              <a:t>Hamming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36576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Ubuntu"/>
              </a:rPr>
              <a:t># coordenadas distintas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657600"/>
            <a:ext cx="3657599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Ubuntu"/>
              </a:rPr>
              <a:t>Variables categoricas o binarias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74920"/>
            <a:ext cx="8595360" cy="137160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6636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Como elegir la metrica?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5577840"/>
            <a:ext cx="83210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No hay una respuesta unica: depende del tipo de variables y del dominio. La euclidiana es el punto de partida por defecto; Manhattan ayuda con outliers; coseno funciona bien con texto.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El algoritmo, paso a paso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6858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A7A3A"/>
                </a:solidFill>
                <a:latin typeface="Ubuntu"/>
              </a:rPr>
              <a:t>Paso 0: definir k (entero positivo, idealmente impar en clasificacion binaria).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20240"/>
            <a:ext cx="2011680" cy="32004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a) Calcular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423160"/>
            <a:ext cx="17373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Distancia entre el nuevo punto x y cada observacion del conjunto de entrenamiento.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828800"/>
            <a:ext cx="365760" cy="3657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920240"/>
            <a:ext cx="2011680" cy="32004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b) Ordenar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423160"/>
            <a:ext cx="17373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Ordenar las distancias de menor a mayor.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828800"/>
            <a:ext cx="365760" cy="3657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1920240"/>
            <a:ext cx="2011680" cy="32004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c) Seleccionar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423160"/>
            <a:ext cx="17373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Tomar los k vecinos mas cercanos a x.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828800"/>
            <a:ext cx="365760" cy="3657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20240"/>
            <a:ext cx="2011680" cy="32004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20116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d) Predecir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423160"/>
            <a:ext cx="17373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Clasificacion: clase mayoritaria entre los k vecinos.</a:t>
            </a:r>
          </a:p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Regresion: promedio del valor objetivo.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365760" cy="36576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828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349240"/>
            <a:ext cx="8595360" cy="109728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458968"/>
            <a:ext cx="8321040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00000"/>
                </a:solidFill>
                <a:latin typeface="Ubuntu"/>
              </a:rPr>
              <a:t>Todo el costo computacional vive en la prediccion: por eso K-NN es rapido de entrenar pero lento en prediccion sobre datasets grandes.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Voto mayoritario (formalizacion)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Para clasificacion, la prediccion para un punto x 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8595360" cy="10972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71907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y(x) = argmax_{c en C}  sum_{i en Nk(x)}  1(yi = 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8595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Ubuntu"/>
              </a:rPr>
              <a:t>Se asigna la clase mas frecuente entre los k vecinos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4251960" cy="21945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0175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Notacion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29000"/>
            <a:ext cx="3977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Nk(x): conjunto de los k vecinos mas cercanos de x.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C: conjunto de clases posibles.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* 1(.): funcion indicadora (vale 1 si se cumple).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2926080"/>
            <a:ext cx="4251960" cy="21945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Version ponderada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3977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voto pesa wi = 1 / di,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donde di es la distancia al vecino i.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Mas peso a los vecinos mas cercanos.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03520"/>
            <a:ext cx="8595360" cy="11887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39496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Ventaja del voto ponderado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806440"/>
            <a:ext cx="8321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Reduce el efecto de vecinos lejanos cuando k es grande y estabiliza la prediccion cerca de la frontera de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Como elegir k?</a:t>
            </a:r>
          </a:p>
        </p:txBody>
      </p:sp>
      <p:pic>
        <p:nvPicPr>
          <p:cNvPr id="5" name="Picture 4" descr="k_efec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595360" cy="37333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572000"/>
            <a:ext cx="4251960" cy="109728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66344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k pequeno (p.ej. k =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07492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Fronteras irregulares, alta varianza, sensible al ruido -&gt; sobreajuste.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4572000"/>
            <a:ext cx="4251960" cy="10972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466344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k grande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5074920"/>
            <a:ext cx="3977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Fronteras suaves, alto sesgo -&gt; riesgo de subajuste.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60720"/>
            <a:ext cx="8595360" cy="7315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870448"/>
            <a:ext cx="832104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Reglas practicas: empezar con k ~ sqrt(n), elegir k impar en binaria, y elegir el k final con validacion cruzada.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Visualizacion de K-NN</a:t>
            </a:r>
          </a:p>
        </p:txBody>
      </p:sp>
      <p:pic>
        <p:nvPicPr>
          <p:cNvPr id="5" name="Picture 4" descr="knn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303520" cy="39199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60720" y="1097280"/>
            <a:ext cx="3108960" cy="182880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0" y="1188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Lectura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600200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El punto verde (nuevo) consulta a sus 5 vecinos mas cercanos. El circulo punteado marca el radio.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3017520"/>
            <a:ext cx="3108960" cy="182880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3108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7A3A"/>
                </a:solidFill>
                <a:latin typeface="Ubuntu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3520440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Si la mayoria de esos 5 vecinos pertenece a la Clase B, el punto se clasifica como Clase 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4937760"/>
            <a:ext cx="3108960" cy="155448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50292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Importante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5440680"/>
            <a:ext cx="28346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Cambiar k cambia el radio del circulo y, con el, la prediccion.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685800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Escalar las variables es OBLIGATORIO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Ubuntu"/>
              </a:rPr>
              <a:t>Las variables con escalas grandes dominan el calculo de distancia.</a:t>
            </a:r>
          </a:p>
        </p:txBody>
      </p:sp>
      <p:pic>
        <p:nvPicPr>
          <p:cNvPr id="6" name="Picture 5" descr="esca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8595360" cy="373333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4937760"/>
            <a:ext cx="4251960" cy="14630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502920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Estandarizacion (z-score)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440680"/>
            <a:ext cx="3977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x' = (x - mu) / sigma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Media 0 y desviacion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4937760"/>
            <a:ext cx="4251960" cy="14630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502920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Normalizacion min-max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440680"/>
            <a:ext cx="39776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x' = (x - x_min) / (x_max - x_min)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Todo queda en [0, 1].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Ventajas de K-NN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Conceptualmente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Faciles de entender e interpretar: 'mira a tus vecinos y decide'. Util para comunicar a audiencias no tecnicas.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1097280"/>
            <a:ext cx="274320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Sin fase de entrenamiento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No hay funcion de costo que optimizar ni parametros que ajustar; basta con almacenar los datos.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097280"/>
            <a:ext cx="274320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Multi-clase natural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Maneja sin esfuerzo problemas con tres o mas categorias: el voto mayoritario se generaliza directamente.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274320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No parametrico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No asume ninguna distribucion subyacente; se adapta a la estructura real de los datos.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6392" y="3840480"/>
            <a:ext cx="274320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Fronteras no lineales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Captura fronteras de decision arbitrariamente complejas sin tener que especificarlas a priori.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7608" y="3840480"/>
            <a:ext cx="2743200" cy="265176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7A3A"/>
                </a:solidFill>
                <a:latin typeface="Ubuntu"/>
              </a:rPr>
              <a:t>Versatil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Sirve tanto para clasificacion como para regresion, con la misma logica subyacente.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6858000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Desventajas de K-NN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Costoso en prediccion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Complejidad O(n x d) por punto a predecir: se vuelve lento con muchos datos o muchas variables.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1097280"/>
            <a:ext cx="274320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Maldicion de la dimensionalidad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En alta dimension todas las distancias se vuelven similares y el concepto de 'vecino cercano' pierde sentido.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097280"/>
            <a:ext cx="274320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Requiere mucha memoria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Hay que guardar todo el conjunto de entrenamiento; no hay un modelo compacto que reemplace los datos.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274320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Sensible a escalas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Una variable mal escalada puede dominar el calculo y arruinar las predicciones.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6392" y="3840480"/>
            <a:ext cx="274320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Variables irrelevantes danan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K-NN no distingue por si solo variables informativas de ruido: todas suman a la distancia.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7608" y="3840480"/>
            <a:ext cx="2743200" cy="265176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Ubuntu"/>
              </a:rPr>
              <a:t>Sensible al desbalance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Clases con muchos ejemplos tienden a 'ganar' los votos, sesgando la prediccion contra las minoritarias.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Variantes y mejoras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2519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Weighted K-NN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39776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Cada voto se pondera por el inverso de la distancia (wi = 1/di). Los vecinos mas cercanos influyen mas que los lejanos, reduciendo el impacto del ruido.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097280"/>
            <a:ext cx="4251960" cy="2377440"/>
          </a:xfrm>
          <a:prstGeom prst="rect">
            <a:avLst/>
          </a:prstGeom>
          <a:solidFill>
            <a:srgbClr val="D5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887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7A3A"/>
                </a:solidFill>
                <a:latin typeface="Ubuntu"/>
              </a:rPr>
              <a:t>KD-Trees / Ball-Trees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00200"/>
            <a:ext cx="39776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Estructuras de datos que permiten buscar a los k vecinos en tiempo sub-lineal en lugar de comparar contra todos los puntos. Muy efectivas en dimensionalidad moderada.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611880"/>
            <a:ext cx="4251960" cy="237744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7033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Approximate Nearest Neighbors (ANN)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14800"/>
            <a:ext cx="39776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Algoritmos aproximados que sacrifican exactitud por velocidad: FAISS, Annoy, HNSW. Permiten K-NN sobre millones o miles de millones de puntos.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3611880"/>
            <a:ext cx="4251960" cy="237744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703320"/>
            <a:ext cx="3977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4C7D"/>
                </a:solidFill>
                <a:latin typeface="Ubuntu"/>
              </a:rPr>
              <a:t>Reduccion de variables previa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114800"/>
            <a:ext cx="397764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Aplicar PCA, seleccion por feature importance u otras tecnicas para reducir la dimensionalidad ANTES de K-NN, mitigando la maldicion de la dimensionalidad.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126480"/>
            <a:ext cx="8595360" cy="50292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236208"/>
            <a:ext cx="832104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Casi todas las mejoras atacan dos problemas: velocidad de busqueda o calidad de la metrica en alta dimension.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Aplicaciones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Sistemas de recomendacion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Usuarios o productos parecidos -&gt; recomendaciones (Netflix, Amazon, Spotify).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1097280"/>
            <a:ext cx="274320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3552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Reconocimiento de patrones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Imagenes, escritura a mano, huellas: clasificar comparando con ejemplos previos.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097280"/>
            <a:ext cx="274320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4768" y="1188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Clasificacion de 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16002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Documentos cercanos en espacios TF-IDF o embeddings; deteccion de tema o sentimiento.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274320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Imputacion de faltantes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Reemplazar valores ausentes por el promedio o moda de los k vecinos mas parecidos.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6392" y="3840480"/>
            <a:ext cx="274320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Deteccion de anomalias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Puntos cuya distancia al k-esimo vecino es inusualmente grande se marcan como atipicos.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07608" y="3840480"/>
            <a:ext cx="2743200" cy="265176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39319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4C7D"/>
                </a:solidFill>
                <a:latin typeface="Ubuntu"/>
              </a:rPr>
              <a:t>Politica publica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4343400"/>
            <a:ext cx="2468880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Clasificacion de municipios por perfil socioeconomico, segmentacion de hogares, unidades territoriales similares.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Resumen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960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1. Clasificacion por cercania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K-NN clasifica un punto usando los k puntos mas cercanos del conjunto de entrenamiento.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39"/>
            <a:ext cx="8595360" cy="960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240279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2. Distancia euclidiana por defecto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59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 la metrica mas comun, pero no la unica: Manhattan, Minkowski, coseno o Hamming segun el problema.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00400"/>
            <a:ext cx="8595360" cy="960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29184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3. k es un hiperparametro critico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70332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k pequeno sobreajusta; k grande subajusta. Se elige con validacion cruzada.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51959"/>
            <a:ext cx="8595360" cy="960120"/>
          </a:xfrm>
          <a:prstGeom prst="rect">
            <a:avLst/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4343399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4. Siempre escalar las variables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754879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Estandarizacion o normalizacion antes de aplicar K-NN: las escalas grandes dominan el calculo de distancia.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440680"/>
            <a:ext cx="8595360" cy="1005840"/>
          </a:xfrm>
          <a:prstGeom prst="rect">
            <a:avLst/>
          </a:prstGeom>
          <a:solidFill>
            <a:srgbClr val="F0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532120"/>
            <a:ext cx="8321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Cuando usarlo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943600"/>
            <a:ext cx="8321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00000"/>
                </a:solidFill>
                <a:latin typeface="Ubuntu"/>
              </a:rPr>
              <a:t>Ideal cuando se necesita una frontera de decision flexible y se dispone de relativamente pocos datos bien preprocesados.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"/>
            <a:ext cx="5943600" cy="64008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74320"/>
            <a:ext cx="5943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Para reflexionar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000000"/>
                </a:solidFill>
                <a:latin typeface="Ubuntu"/>
              </a:rPr>
              <a:t>Tres preguntas para llevarse a casa: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502920" cy="5029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737360"/>
            <a:ext cx="7909560" cy="12801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Que metrica de distancia tendria sentido para tu dataset?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7635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Piensa en el tipo de variables (continuas, binarias, categoricas, texto) y en si hay outliers.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33375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3200400"/>
            <a:ext cx="7909560" cy="12801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Como afectaria tener clases desbalanceadas a las predicciones?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03320"/>
            <a:ext cx="7635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Que vecinos terminarian dominando el voto y como podrias compensar esa asimetria?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00600"/>
            <a:ext cx="502920" cy="50292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800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4663440"/>
            <a:ext cx="7909560" cy="1280160"/>
          </a:xfrm>
          <a:prstGeom prst="rect">
            <a:avLst/>
          </a:prstGeom>
          <a:solidFill>
            <a:srgbClr val="DDE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54880"/>
            <a:ext cx="7635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4C7D"/>
                </a:solidFill>
                <a:latin typeface="Ubuntu"/>
              </a:rPr>
              <a:t>En que casos K-NN seria preferible a una regresion logistica o un arbol de decision?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60"/>
            <a:ext cx="7635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00000"/>
                </a:solidFill>
                <a:latin typeface="Ubuntu"/>
              </a:rPr>
              <a:t>Pista: tamano del dataset, forma de las fronteras, necesidad de interpretabilidad y velocidad de prediccion.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83680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1">
                <a:solidFill>
                  <a:srgbClr val="555555"/>
                </a:solidFill>
                <a:latin typeface="Ubuntu"/>
              </a:rPr>
              <a:t>K-Vecinos Cercanos - 17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Ubuntu"/>
              </a:rPr>
              <a:t>Gracias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93776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1E4C7D"/>
                </a:solidFill>
                <a:latin typeface="Ubuntu"/>
              </a:rPr>
              <a:t>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