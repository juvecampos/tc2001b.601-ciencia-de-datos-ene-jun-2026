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5"/>
  </p:normalViewPr>
  <p:slideViewPr>
    <p:cSldViewPr snapToGrid="0" snapToObjects="1">
      <p:cViewPr varScale="1">
        <p:scale>
          <a:sx n="115" d="100"/>
          <a:sy n="115" d="100"/>
        </p:scale>
        <p:origin x="175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4C7D"/>
                </a:solidFill>
                <a:latin typeface="Ubuntu"/>
              </a:rPr>
              <a:t>Tecnologico de Monterrey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9144000" cy="320040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400" b="1" i="0">
                <a:solidFill>
                  <a:srgbClr val="1E4C7D"/>
                </a:solidFill>
                <a:latin typeface="Ubuntu"/>
              </a:rPr>
              <a:t>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8046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1E4C7D"/>
                </a:solidFill>
                <a:latin typeface="Ubuntu"/>
              </a:rPr>
              <a:t>Descubrir patrones en datos de contratos publicos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Ubuntu"/>
              </a:rPr>
              <a:t>Proyecto Integrador -- MCCI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943600"/>
            <a:ext cx="1828800" cy="4572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Lo que veremos hoy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4251960" cy="24688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4048" y="117043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1. Que es ML y como se prepara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508760"/>
            <a:ext cx="40325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Tres tipos de problemas, dividir los datos,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variables, valores faltantes, validacion cruzada.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097280"/>
            <a:ext cx="4251960" cy="24688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27448" y="117043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2. El pipeline en tidymodels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1508760"/>
            <a:ext cx="40325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Recipe, workflow, fit. parsnip y el ecosistema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completo de paquetes.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840480"/>
            <a:ext cx="4251960" cy="24688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84048" y="391363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3. Modelos: del simple al potente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4251960"/>
            <a:ext cx="40325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Lineal, logistica, arboles, Random Forest,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XGBoost. Overfitting vs underfitting.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3840480"/>
            <a:ext cx="4251960" cy="24688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27448" y="391363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4. Evaluar, interpretar y ser etico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251960"/>
            <a:ext cx="40325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Metricas, trampas, clustering,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interpretabilidad, sesgos.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Que es Machine Learning?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8595360" cy="16459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1E4C7D"/>
                </a:solidFill>
                <a:latin typeface="Ubuntu"/>
              </a:rPr>
              <a:t>En una frase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8375904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000000"/>
                </a:solidFill>
                <a:latin typeface="Ubuntu"/>
              </a:rPr>
              <a:t>Es ensenar a la computadora a encontrar patrones en datos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000000"/>
                </a:solidFill>
                <a:latin typeface="Ubuntu"/>
              </a:rPr>
              <a:t>y a usar esos patrones para hacer predicciones nuevas.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291840"/>
            <a:ext cx="4251960" cy="237744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33649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Programacion tradicional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703320"/>
            <a:ext cx="40325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Tu escribes las REGLAS.</a:t>
            </a:r>
          </a:p>
          <a:p>
            <a:pPr algn="l">
              <a:lnSpc>
                <a:spcPct val="13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Ejemplo: si costo &gt; 10000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entonces es caro.</a:t>
            </a:r>
          </a:p>
          <a:p>
            <a:pPr algn="l">
              <a:lnSpc>
                <a:spcPct val="13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Funciona, pero hay que escribir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cada regla a mano.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3291840"/>
            <a:ext cx="4251960" cy="237744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33649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Machine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703320"/>
            <a:ext cx="40325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Tu das EJEMPLOS y el modelo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aprende las reglas solo.</a:t>
            </a:r>
          </a:p>
          <a:p>
            <a:pPr algn="l">
              <a:lnSpc>
                <a:spcPct val="13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Ejemplo: aqui tienes 10,000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contratos con su monto, ahora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predice los nuevos.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Los tres sabores que veremos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</a:t>
            </a:r>
          </a:p>
        </p:txBody>
      </p:sp>
      <p:pic>
        <p:nvPicPr>
          <p:cNvPr id="6" name="Picture 5" descr="01_three_flav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762" y="1280160"/>
            <a:ext cx="7966476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760720"/>
            <a:ext cx="8595360" cy="64008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5852160"/>
            <a:ext cx="83759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Cada ejercicio del proyecto usa uno de estos tres sabores.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Con etiqueta o sin etiqueta?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La diferencia mas importante en 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</a:t>
            </a:r>
          </a:p>
        </p:txBody>
      </p:sp>
      <p:pic>
        <p:nvPicPr>
          <p:cNvPr id="7" name="Picture 6" descr="02_supervised_vs_unsupervi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658" y="1645920"/>
            <a:ext cx="7140683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120640"/>
            <a:ext cx="4251960" cy="128016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1937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Supervisado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5532120"/>
            <a:ext cx="403250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Sabemos la 'respuesta correcta' de cada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ejemplo. Clasificacion y regresion.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5120640"/>
            <a:ext cx="4251960" cy="128016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27448" y="51937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Ubuntu"/>
              </a:rPr>
              <a:t>No supervisado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5532120"/>
            <a:ext cx="403250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No tenemos etiquetas. El modelo busca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estructura por su cuenta. Clustering.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Preparar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Conoce tus variables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Cada tipo necesita un tratamiento distinto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2743200" cy="29260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Numericas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2523744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Cantidades medibles.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Ejemplos: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costo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duracion_dias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anio_firma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Modelos las usan tal cual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(normalizadas).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2" y="1463040"/>
            <a:ext cx="2743200" cy="292608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Categoricas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874520"/>
            <a:ext cx="2523744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Etiquetas, no numeros.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Ejemplos: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partido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tipo_contrato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tipo_persona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Hay que convertir a dummies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(0s y 1s).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07608" y="1463040"/>
            <a:ext cx="2743200" cy="292608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17336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Fechas y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1874520"/>
            <a:ext cx="2523744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Estructura especial.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Ejemplos: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fecha_firma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-- descripcion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Extraer features: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mes, duracion, palabras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clave.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663440"/>
            <a:ext cx="8595360" cy="164592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4754880"/>
            <a:ext cx="8375904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 el dataset MCCI hay de los tres tipos. La recipe en tidymodels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tiene un step_* distinto para cada uno.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El problema de los valores faltantes (NA)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8595360" cy="146304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Por que pasa?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83759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Encuestas mal contestadas, sensores que fallaron, datos no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reportados, fechas que no aplicaban. En el mundo real, los NA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son la norma, no la excepcion.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017520"/>
            <a:ext cx="4251960" cy="310896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309067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Si NO los tratas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429000"/>
            <a:ext cx="4032504" cy="2606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Muchos modelos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simplemente fallan.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Otros tiran todas las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filas con cualquier NA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(perdida masiva).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Otros usan defaults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silenciosos peligrosos.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3017520"/>
            <a:ext cx="4251960" cy="310896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309067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Si los tratas bien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429000"/>
            <a:ext cx="4032504" cy="2606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Decides la estrategia.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Conservas todas las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filas con informacion.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El modelo entiende que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'faltante' tambien es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informacion en si misma.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Imputacion: rellenar los huecos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- 9</a:t>
            </a:r>
          </a:p>
        </p:txBody>
      </p:sp>
      <p:pic>
        <p:nvPicPr>
          <p:cNvPr id="6" name="Picture 5" descr="19_im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00" y="1371600"/>
            <a:ext cx="7507000" cy="3108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4251960" cy="15544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482803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step_impute_median()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5166360"/>
            <a:ext cx="403250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Para numericas. Robusto a outliers.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754880"/>
            <a:ext cx="4251960" cy="155448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7448" y="482803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step_unknown()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5166360"/>
            <a:ext cx="403250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Para categoricas. Crea un nivel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llamado 'desconocido'.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Feature engineering: crear variables nuevas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El secreto mal guardado de los buenos modelos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8595360" cy="14630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Que 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83759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Crear variables derivadas a partir de las que ya tienes.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Un buen feature puede mejorar el modelo mas que un mejor algoritmo.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320040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318211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Ejemplos del proyecto MCCI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520440"/>
            <a:ext cx="8375904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duracion_dias = fecha_fin_vigencia - fecha_inicio_vigencia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mes_firma = mes extraido de fecha_firma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es_diciembre = TRUE si firmaron en diciembre (cuestion politica)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log_costo = log(costo) para normalizar la cola larga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alto_valor = TRUE si costo &gt; mediana (binarizacion)</a:t>
            </a:r>
          </a:p>
          <a:p>
            <a:pPr algn="l">
              <a:lnSpc>
                <a:spcPct val="15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Estas viven en la funcion agregar_features_ml() en utils.R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El error mas comun en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8595360" cy="146304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Evaluar el modelo con los MISMOS datos que uso para aprender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8375904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Es como hacer un examen con las mismas preguntas que viste en clase.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Vas a sacar 10, pero eso NO significa que aprendiste.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08960"/>
            <a:ext cx="4251960" cy="27432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318211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Lo que parece pasar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520440"/>
            <a:ext cx="403250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Accuracy en train: 99%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'Mi modelo es perfecto!'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El modelo memorizo los datos.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3108960"/>
            <a:ext cx="4251960" cy="274320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318211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Lo que realmente pasa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520440"/>
            <a:ext cx="403250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Accuracy en datos nuevos: 60%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El modelo no APRENDIO,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solo MEMORIZO.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 esto se le llama 'overfitting'.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Solucion: dividir los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El conjunto de prueba es 'sagrado': solo se mira UNA vez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- 12</a:t>
            </a:r>
          </a:p>
        </p:txBody>
      </p:sp>
      <p:pic>
        <p:nvPicPr>
          <p:cNvPr id="7" name="Picture 6" descr="03_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283" y="1645920"/>
            <a:ext cx="7345434" cy="2560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80560"/>
            <a:ext cx="8595360" cy="18288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455371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En R con tidymodels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489204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split &lt;- initial_split(datos, prop = 0.8, strata = mi_target)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train &lt;- training(split)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test  &lt;- testing(split)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Validacion cruzada (cross-validation)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Como evaluar sin tocar el set de prueba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- 13</a:t>
            </a:r>
          </a:p>
        </p:txBody>
      </p:sp>
      <p:pic>
        <p:nvPicPr>
          <p:cNvPr id="7" name="Picture 6" descr="04_cross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90" y="1554480"/>
            <a:ext cx="7351619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91440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folds &lt;- vfold_cv(train, v = 5, strata = mi_target)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Usamos solo el set de entrenamiento. El de prueba sigue intacto.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Armar el pipeline en tidymodels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El ecosistema tidymodels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Una familia de paquetes, una sola filosofia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2743200" cy="21031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rsample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2523744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Splits y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Cross-validation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1" y="1463040"/>
            <a:ext cx="2743200" cy="21031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19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recipes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19" y="1874520"/>
            <a:ext cx="2523744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Limpieza y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preprocesamiento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463040"/>
            <a:ext cx="2743200" cy="21031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08192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parsnip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874520"/>
            <a:ext cx="2523744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Modelos con sintaxis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unificada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749039"/>
            <a:ext cx="2743200" cy="21031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3822191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4160519"/>
            <a:ext cx="2523744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Ensamblar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recipe + modelo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6391" y="3749039"/>
            <a:ext cx="2743200" cy="21031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46119" y="3822191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tune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19" y="4160519"/>
            <a:ext cx="2523744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Optimizar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hiperparametros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98464" y="3749039"/>
            <a:ext cx="2743200" cy="21031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08192" y="3822191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1E4C7D"/>
                </a:solidFill>
                <a:latin typeface="Ubuntu"/>
              </a:rPr>
              <a:t>yardstick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8192" y="4160519"/>
            <a:ext cx="2523744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Medir el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desempeno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6126480"/>
            <a:ext cx="8595360" cy="45720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4048" y="6217920"/>
            <a:ext cx="83759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library(tidymodels) carga todos a la vez.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parsnip: una sintaxis, muchos engines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Cambiar de algoritmo = cambiar UNA linea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8595360" cy="228600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La forma vieja: cada paquete tenia su sintaxis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8375904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lm(y ~ x, data)              -- regresion lineal base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glmnet(x, y, alpha = 0.5)    -- elastic net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ranger(y ~ ., data)          -- random forest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xgboost(data, nrounds = 100) -- xgboost</a:t>
            </a:r>
          </a:p>
          <a:p>
            <a:pPr algn="l">
              <a:lnSpc>
                <a:spcPct val="15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Cada uno con argumentos distintos. Un dolor.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931920"/>
            <a:ext cx="8595360" cy="237744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400507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La forma tidymodels: cambias solo el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343400"/>
            <a:ext cx="83759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rand_forest() |&gt; set_engine('ranger') |&gt; set_mode('classification')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boost_tree() |&gt; set_engine('xgboost') |&gt; set_mode('classification')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logistic_reg() |&gt; set_engine('glmnet') |&gt; set_mode('classification')</a:t>
            </a:r>
          </a:p>
          <a:p>
            <a:pPr algn="l">
              <a:lnSpc>
                <a:spcPct val="15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Misma sintaxis. Cambias 'ranger' por 'xgboost' y listo.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Recipe: la receta de cocina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Define como preparar las variables ANTES del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45920"/>
            <a:ext cx="4251960" cy="22860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71907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Que hace una recipe?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057400"/>
            <a:ext cx="4032504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Rellena valores faltantes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Convierte categorias en numeros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Normaliza variables numericas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Quita variables sin variacion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645920"/>
            <a:ext cx="4251960" cy="228600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7448" y="171907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Ventaja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057400"/>
            <a:ext cx="4032504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La receta se 'cocina' UNA sola vez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con los datos de entrenamiento.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No filtra informacion de test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al modelo.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114800"/>
            <a:ext cx="8595360" cy="219456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41879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Ejemplo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526280"/>
            <a:ext cx="837590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receta &lt;- recipe(alto_valor ~ ., data = train) |&gt;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step_impute_median(all_numeric_predictors()) |&gt;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step_dummy(all_nominal_predictors()) |&gt;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step_normalize(all_numeric_predictors())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Workflow: receta + modelo en un solo objeto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- 18</a:t>
            </a:r>
          </a:p>
        </p:txBody>
      </p:sp>
      <p:pic>
        <p:nvPicPr>
          <p:cNvPr id="6" name="Picture 5" descr="05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7" y="1371600"/>
            <a:ext cx="7654065" cy="2926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572000"/>
            <a:ext cx="8595360" cy="18288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46451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Por que esto importa?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98348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Antes hacias todo a mano: limpiar, transformar, ajustar el modelo,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predecir. El workflow lo encapsula todo. Lo entrenas con fit()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y lo aplicas con predict().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Elegir el modelo correcto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El equilibrio: ni muy simple ni muy complejo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- 20</a:t>
            </a:r>
          </a:p>
        </p:txBody>
      </p:sp>
      <p:pic>
        <p:nvPicPr>
          <p:cNvPr id="6" name="Picture 5" descr="17_overfit_under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29398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55448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482803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Ubuntu"/>
              </a:rPr>
              <a:t>Underfit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5166360"/>
            <a:ext cx="25237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No captura patrones,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ni los obvios.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2" y="4754880"/>
            <a:ext cx="2743200" cy="155448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482803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7A3A"/>
                </a:solidFill>
                <a:latin typeface="Ubuntu"/>
              </a:rPr>
              <a:t>Justo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166360"/>
            <a:ext cx="25237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Captura el patron real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sin obsesionarse.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07608" y="4754880"/>
            <a:ext cx="2743200" cy="155448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17336" y="482803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Ubuntu"/>
              </a:rPr>
              <a:t>Overfit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5166360"/>
            <a:ext cx="2523744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Memoriza el ruido,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falla con datos nuevos.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Repaso: Regresion lineal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El modelo mas basico para predecir un numero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- 21</a:t>
            </a:r>
          </a:p>
        </p:txBody>
      </p:sp>
      <p:pic>
        <p:nvPicPr>
          <p:cNvPr id="7" name="Picture 6" descr="06_linear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030" y="1463040"/>
            <a:ext cx="574394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91440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Idea: encontrar la linea recta que minimiza la distancia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promedio a los puntos reales.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Repaso: Regresion logistica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La 'lineal' adaptada para predecir SI o 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- 22</a:t>
            </a:r>
          </a:p>
        </p:txBody>
      </p:sp>
      <p:pic>
        <p:nvPicPr>
          <p:cNvPr id="7" name="Picture 6" descr="07_logistic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109" y="1463040"/>
            <a:ext cx="5735781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91440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Devuelve una PROBABILIDAD entre 0 y 1. Si pasa el umbral 0.5,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decimos 'clase 1'. Si no, 'clase 0'.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Arboles de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Series de preguntas si/no, como un juego de '20 preguntas'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- 23</a:t>
            </a:r>
          </a:p>
        </p:txBody>
      </p:sp>
      <p:pic>
        <p:nvPicPr>
          <p:cNvPr id="7" name="Picture 6" descr="08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103" y="1463040"/>
            <a:ext cx="6191794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577840"/>
            <a:ext cx="8595360" cy="82296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669280"/>
            <a:ext cx="83759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Ventaja: facil de interpretar. Desventaja: un solo arbol suele sobreajustarse.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Dos formas de juntar muchos arboles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Las dos estrategias dominantes en ML moderno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- 24</a:t>
            </a:r>
          </a:p>
        </p:txBody>
      </p:sp>
      <p:pic>
        <p:nvPicPr>
          <p:cNvPr id="7" name="Picture 6" descr="18_bagging_vs_bo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412" y="1463040"/>
            <a:ext cx="7417175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937760"/>
            <a:ext cx="4251960" cy="13716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01091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Bagging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5349240"/>
            <a:ext cx="4032504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Random Forest. Arboles independientes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entrenados en paralelo, votan.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4937760"/>
            <a:ext cx="4251960" cy="137160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27448" y="501091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Ubuntu"/>
              </a:rPr>
              <a:t>Boosting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5349240"/>
            <a:ext cx="4032504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XGBoost. Cada arbol corrige los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errores del anterior, secuenciales.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Random Forest: el poder de votar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Cientos de arboles diferentes votan la respuesta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- 25</a:t>
            </a:r>
          </a:p>
        </p:txBody>
      </p:sp>
      <p:pic>
        <p:nvPicPr>
          <p:cNvPr id="7" name="Picture 6" descr="09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76" y="1463040"/>
            <a:ext cx="7403648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03520"/>
            <a:ext cx="8595360" cy="109728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394960"/>
            <a:ext cx="837590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Por que funciona? Cada arbol se equivoca de forma distinta. Cuando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votan en conjunto, los errores se cancelan. Es uno de los modelos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mas populares por su buen balance entre potencia y simplicidad.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Otros modelos potentes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251960" cy="25603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XGBoost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403250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Arboles que aprenden de los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errores de los arboles previos.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Suele ganar competencias.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Mas hiperparametros que tunear.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371600"/>
            <a:ext cx="4251960" cy="256032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274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Elastic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783080"/>
            <a:ext cx="403250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Regresion con 'freno' para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evitar sobreajuste.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Util cuando hay muchas variables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y pocas observaciones.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206240"/>
            <a:ext cx="8595360" cy="210312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427939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Como elegir?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617720"/>
            <a:ext cx="8375904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No hay un 'mejor' modelo universal. La regla en la practica: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1. Empezar con un modelo simple (lineal/logistica) como baseline.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2. Probar Random Forest -- suele dar buenos resultados sin tunear mucho.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3. Si necesitas mas precision, ir a XGBoost.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Entrenar bien: hiperparametros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Parametros vs Hiperparametros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251960" cy="274320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Parametros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403250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Los APRENDE el modelo solo,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entrenando con tus datos.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Ejemplo: la pendiente y la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ordenada de una regresion lineal.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371600"/>
            <a:ext cx="4251960" cy="274320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274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Hiperparametros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783080"/>
            <a:ext cx="403250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Los DECIDES TU, antes de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entrenar el modelo.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Ejemplo: cuantos arboles tiene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el Random Forest, que tan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profundo crece cada arbol.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389120"/>
            <a:ext cx="8595360" cy="19202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446227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Analogia: receta de pastel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800600"/>
            <a:ext cx="8375904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Los parametros son la mezcla resultante (el modelo aprende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la consistencia probando).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Los hiperparametros son la TEMPERATURA del horno y los MINUTOS: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tu los pones, y afectan mucho el resultado.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Tuning: probar muchas combinaciones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El modelo se entrena CIENTOS de veces para encontrar los mejores valores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- 29</a:t>
            </a:r>
          </a:p>
        </p:txBody>
      </p:sp>
      <p:pic>
        <p:nvPicPr>
          <p:cNvPr id="7" name="Picture 6" descr="10_grid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061" y="1554480"/>
            <a:ext cx="4991877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486400"/>
            <a:ext cx="8595360" cy="82296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577840"/>
            <a:ext cx="83759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Cada celda = una combinacion de hiperparametros. La estrella roja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es la mejor segun cross-validation.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Racing: tuning mas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No todas las combinaciones merecen el mismo tiempo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4251960" cy="256032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Grid search puro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403250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Prueba TODAS las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combinaciones en TODOS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los folds.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10 combinaciones x 5 folds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= 50 entrenamientos.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Caro y lento.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463040"/>
            <a:ext cx="4251960" cy="256032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7448" y="15361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tune_race_anova()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1874520"/>
            <a:ext cx="403250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Despues de unos folds,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descarta combinaciones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claramente peores.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Las buenas siguen.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Las malas se eliminan.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2-5x mas rapido.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297680"/>
            <a:ext cx="8595360" cy="20116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437083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Codigo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709160"/>
            <a:ext cx="8375904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library(finetune)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resultados &lt;- wf_set |&gt;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workflow_map('tune_race_anova',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             resamples = folds, grid = 15)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Comparar varios modelos a la vez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- 31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8595360" cy="219456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53619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workflow_set()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874520"/>
            <a:ext cx="837590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 lugar de evaluar un modelo a la vez, podemos meter VARIOS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en un solo objeto y dejar que tidymodels los compare en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validacion cruzada.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840480"/>
            <a:ext cx="8595360" cy="246888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391363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Ejemplo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251960"/>
            <a:ext cx="83759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wf_set &lt;- workflow_set(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preproc = list(estandar = receta),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models  = list(logistica = mod_log, rf = mod_rf, xgb = mod_xgb)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)</a:t>
            </a:r>
          </a:p>
          <a:p>
            <a:pPr algn="l">
              <a:lnSpc>
                <a:spcPct val="15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wf_set |&gt; workflow_map('tune_grid', resamples = folds, grid = 10)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Evaluar el modelo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Matriz de confusion (clasificacion)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Donde acierta y donde se equivoca el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- 33</a:t>
            </a:r>
          </a:p>
        </p:txBody>
      </p:sp>
      <p:pic>
        <p:nvPicPr>
          <p:cNvPr id="7" name="Picture 6" descr="11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380" y="1371600"/>
            <a:ext cx="4037239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577840"/>
            <a:ext cx="8595360" cy="82296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669280"/>
            <a:ext cx="83759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Diagonal = aciertos. Fuera de la diagonal = errores.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Accuracy = aciertos / total.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Precision vs Recall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No todos los errores cuestan lo mismo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- 34</a:t>
            </a:r>
          </a:p>
        </p:txBody>
      </p:sp>
      <p:pic>
        <p:nvPicPr>
          <p:cNvPr id="7" name="Picture 6" descr="20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906" y="1371600"/>
            <a:ext cx="6214187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03520"/>
            <a:ext cx="8595360" cy="109728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394960"/>
            <a:ext cx="837590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Filtros antispam: prefieren alta PRECISION (no marcar bueno como spam).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Deteccion de cancer: prefieren alto RECALL (no perder ningun caso real).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Que metrica usar?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Depende del problema y de las clases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4251960" cy="24688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Clases balanceadas (~50/50)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40325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Accuracy esta bien.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Tambien AUC para tener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una metrica mas robusta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que no depende del umbral.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463040"/>
            <a:ext cx="4251960" cy="246888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7448" y="15361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Clases desbalanceadas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1874520"/>
            <a:ext cx="4032504" cy="12591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000000"/>
                </a:solidFill>
                <a:latin typeface="Ubuntu"/>
              </a:rPr>
              <a:t>Accuracy </a:t>
            </a:r>
            <a:r>
              <a:rPr sz="1200" b="0" i="0" dirty="0" err="1">
                <a:solidFill>
                  <a:srgbClr val="000000"/>
                </a:solidFill>
                <a:latin typeface="Ubuntu"/>
              </a:rPr>
              <a:t>enga</a:t>
            </a:r>
            <a:r>
              <a:rPr lang="es-ES" sz="1200" b="0" i="0" dirty="0">
                <a:solidFill>
                  <a:srgbClr val="000000"/>
                </a:solidFill>
                <a:latin typeface="Ubuntu"/>
              </a:rPr>
              <a:t>ñ</a:t>
            </a:r>
            <a:r>
              <a:rPr sz="1200" b="0" i="0" dirty="0">
                <a:solidFill>
                  <a:srgbClr val="000000"/>
                </a:solidFill>
                <a:latin typeface="Ubuntu"/>
              </a:rPr>
              <a:t>a. Mejor usar:</a:t>
            </a:r>
          </a:p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000000"/>
                </a:solidFill>
                <a:latin typeface="Ubuntu"/>
              </a:rPr>
              <a:t>-- AUC</a:t>
            </a:r>
          </a:p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000000"/>
                </a:solidFill>
                <a:latin typeface="Ubuntu"/>
              </a:rPr>
              <a:t>-- F1-score (media armonica</a:t>
            </a:r>
          </a:p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000000"/>
                </a:solidFill>
                <a:latin typeface="Ubuntu"/>
              </a:rPr>
              <a:t>  de precision y recall)</a:t>
            </a:r>
          </a:p>
          <a:p>
            <a:pPr algn="l">
              <a:lnSpc>
                <a:spcPct val="140000"/>
              </a:lnSpc>
            </a:pPr>
            <a:r>
              <a:rPr sz="1200" b="0" i="0" dirty="0">
                <a:solidFill>
                  <a:srgbClr val="000000"/>
                </a:solidFill>
                <a:latin typeface="Ubuntu"/>
              </a:rPr>
              <a:t>-- </a:t>
            </a:r>
            <a:r>
              <a:rPr sz="1200" b="0" i="0" dirty="0" err="1">
                <a:solidFill>
                  <a:srgbClr val="000000"/>
                </a:solidFill>
                <a:latin typeface="Ubuntu"/>
              </a:rPr>
              <a:t>balanced_accuracy</a:t>
            </a:r>
            <a:endParaRPr sz="1200" b="0" i="0" dirty="0">
              <a:solidFill>
                <a:srgbClr val="000000"/>
              </a:solidFill>
              <a:latin typeface="Ubuntu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74320" y="4114800"/>
            <a:ext cx="8595360" cy="219456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41879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En tidymodels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526280"/>
            <a:ext cx="837590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metricas &lt;- metric_set(roc_auc, accuracy,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                       sensitivity, specificity, f_meas)</a:t>
            </a:r>
          </a:p>
          <a:p>
            <a:pPr algn="l">
              <a:lnSpc>
                <a:spcPct val="15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Se aplican automaticamente en cross-validation.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Cuando accuracy NO es suficiente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Si tus clases estan desbalanceadas, accuracy enganha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- 36</a:t>
            </a:r>
          </a:p>
        </p:txBody>
      </p:sp>
      <p:pic>
        <p:nvPicPr>
          <p:cNvPr id="7" name="Picture 6" descr="12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63" y="1463040"/>
            <a:ext cx="4777273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10058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AUC = area bajo la curva. Va de 0.5 (azar) a 1.0 (perfecto).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Es la metrica preferida para clasificacion binaria.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Y si las clases estan muy desbalanceadas?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themis::step_smote() genera ejemplos sinteticos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- 37</a:t>
            </a:r>
          </a:p>
        </p:txBody>
      </p:sp>
      <p:pic>
        <p:nvPicPr>
          <p:cNvPr id="7" name="Picture 6" descr="21_sm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63040"/>
            <a:ext cx="740664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029200"/>
            <a:ext cx="8595360" cy="128016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120640"/>
            <a:ext cx="8375904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receta |&gt; step_smote(target_variable, over_ratio = 1)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Se aplica SOLO en train, nunca en test. Se hace dentro del workflow.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Metricas de regresion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Como medir si predecimos bien un numero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- 38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2743200" cy="27432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252374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Raiz del error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cuadratico medio.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Penaliza mucho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los errores grandes.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Esta en las unidades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originales (MXN).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2" y="1463040"/>
            <a:ext cx="2743200" cy="274320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874520"/>
            <a:ext cx="252374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Error absoluto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medio.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Mas representativo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del error 'tipico'.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Menos sensible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a outliers.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07608" y="1463040"/>
            <a:ext cx="2743200" cy="274320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17336" y="153619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R cuadrada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17336" y="1874520"/>
            <a:ext cx="252374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Porcentaje de la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varianza que el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modelo explica.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Va de 0 a 1.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1 = perfecto.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0 = no explica nada.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480560"/>
            <a:ext cx="8595360" cy="182880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455371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Tip practico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489204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Si modelas log(costo), RMSE en log no es interpretable. Convierte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las predicciones a pesos con expm1() antes de reportar al usuario.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Trampas comunes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Trampa #1: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8595360" cy="164592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C0392B"/>
                </a:solidFill>
                <a:latin typeface="Ubuntu"/>
              </a:rPr>
              <a:t>Que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8375904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Usar informacion en el entrenamiento que NO estaria disponible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000000"/>
                </a:solidFill>
                <a:latin typeface="Ubuntu"/>
              </a:rPr>
              <a:t>al momento de predecir en la vida real.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200400"/>
            <a:ext cx="8595360" cy="18288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32735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Ejemplo del proyecto MCCI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61188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Si queremos predecir si un contrato es 'alto_valor' (mayor que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la mediana de costo), no podemos usar 'costo' como predictor.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El target SE DEFINE desde 'costo'. AUC saldria de 1.00 (perfecto).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212080"/>
            <a:ext cx="8595360" cy="118872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5303520"/>
            <a:ext cx="8375904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Regla: pregunta siempre 'tendria esta variable disponible al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momento de hacer la prediccion?'. Si la respuesta es no, fuera.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Trampa #2: Usar el test set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- 41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El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Probaste tu modelo en test, sacaste AUC = 0.72. No te gusto.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Cambiaste un hiperparametro y volviste a evaluar en test.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Sin querer, estas optimizando PARA EL TEST.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383280"/>
            <a:ext cx="8595360" cy="18288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345643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Por que es trampa?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79476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Cada vez que miras el test y ajustas, lo conviertes en un segundo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train. La estimacion deja de ser honesta. Tu modelo no rendira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igual en datos verdaderamente nuevos.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394960"/>
            <a:ext cx="8595360" cy="10058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5486400"/>
            <a:ext cx="837590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Solucion: usar cross-validation en train para tunear. last_fit()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toca test UNA sola vez al final, sin volver atras.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Trampa #3: Datos muy sesgados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La transformacion log salva muchas regresiones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- 42</a:t>
            </a:r>
          </a:p>
        </p:txBody>
      </p:sp>
      <p:pic>
        <p:nvPicPr>
          <p:cNvPr id="7" name="Picture 6" descr="13_skewed_to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39" y="1554480"/>
            <a:ext cx="7518921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029200"/>
            <a:ext cx="8595360" cy="137160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120640"/>
            <a:ext cx="8375904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El costo de los contratos va desde miles hasta cientos de millones.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Si modelamos crudo, el modelo solo intenta acertar los gigantes.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Con log1p() los grandes y chicos pesan parecido.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Trampa #4: No fijar la semilla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Reproducibilidad = mismo resultado al re-correr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- 43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8595360" cy="164592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8375904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Muchos modelos usan aleatoriedad: splits, bootstrap, inicializacion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de pesos. Sin semilla fija, cada corrida da resultados distintos.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291840"/>
            <a:ext cx="4251960" cy="30175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33649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Sin semilla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703320"/>
            <a:ext cx="4032504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Corrida 1: AUC = 0.84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Corrida 2: AUC = 0.81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Corrida 3: AUC = 0.86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No puedes comparar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modelos. No puedes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reproducir.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3291840"/>
            <a:ext cx="4251960" cy="301752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7448" y="33649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Con semilla fija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703320"/>
            <a:ext cx="4032504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set.seed(20260516)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antes de cada paso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aleatorio.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Corrida 1: AUC = 0.84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Corrida 2: AUC = 0.84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Comparable y verificable.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Clustering: descubrir grupos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Antes de clusterizar: NORMALIZAR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Sin esto, una sola variable dominara la distancia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8595360" cy="201168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4447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783080"/>
            <a:ext cx="8375904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Si tienes monto_total (millones) y n_partidos (entre 1 y 9),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K-Means casi solo mira monto_total. La distancia euclidiana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se domina por la variable de mayor escala.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566160"/>
            <a:ext cx="8595360" cy="274320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363931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La solucion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977640"/>
            <a:ext cx="8375904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step_normalize() pone todas las variables en la misma escala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(media 0, desviacion 1). Cada feature aporta proporcionalmente.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Tambien util: step_log() para variables muy sesgadas (montos).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K-Means: el clustering mas usado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Agrupa puntos por cercania a un 'centroide'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- 46</a:t>
            </a:r>
          </a:p>
        </p:txBody>
      </p:sp>
      <p:pic>
        <p:nvPicPr>
          <p:cNvPr id="7" name="Picture 6" descr="14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084" y="1463040"/>
            <a:ext cx="5145832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10058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Tu eliges k (numero de clusters) y el algoritmo asigna cada punto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al centroide mas cercano, luego mueve los centroides al promedio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de su grupo, y repite hasta que se estabiliza.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Clustering jerarquico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Construye un arbol de clusters anidados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- 47</a:t>
            </a:r>
          </a:p>
        </p:txBody>
      </p:sp>
      <p:pic>
        <p:nvPicPr>
          <p:cNvPr id="7" name="Picture 6" descr="22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473" y="1463040"/>
            <a:ext cx="6567054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03520"/>
            <a:ext cx="8595360" cy="109728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394960"/>
            <a:ext cx="837590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El dendrograma muestra como se agrupan punto a punto. CORTAS a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una altura para obtener el numero de clusters que quieres.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En tidyclust: hier_clust(num_clusters = 3, linkage_method = 'ward.D2').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Como elegir el numero de clusters?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Metodo del codo + silueta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- 48</a:t>
            </a:r>
          </a:p>
        </p:txBody>
      </p:sp>
      <p:pic>
        <p:nvPicPr>
          <p:cNvPr id="7" name="Picture 6" descr="15_elb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030" y="1463040"/>
            <a:ext cx="574394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10058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Mas clusters = menor error, pero a partir de cierto punto deja de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mejorar. Ese 'codo' marca el k razonable. La silueta lo confirma.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Visualizar clusters en 2D con PCA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Como ver clusters cuando tienes 9 features?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- 49</a:t>
            </a:r>
          </a:p>
        </p:txBody>
      </p:sp>
      <p:pic>
        <p:nvPicPr>
          <p:cNvPr id="7" name="Picture 6" descr="23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471" y="1463040"/>
            <a:ext cx="5519057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03520"/>
            <a:ext cx="8595360" cy="109728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394960"/>
            <a:ext cx="8375904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PCA encuentra las 2 direcciones donde los datos varian mas.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Proyectar a esas 2 nuevas variables nos da un mapa 2D donde se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pueden 'ver' los clusters. En recipes: step_pca(num_comp = 2).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Ubuntu"/>
              </a:rPr>
              <a:t>Entender y ser etico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4297680"/>
            <a:ext cx="18288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Ubuntu"/>
              </a:rPr>
              <a:t>Parte 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Que variables usa el modelo?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Importancia: que tanto contribuye cada variable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- 51</a:t>
            </a:r>
          </a:p>
        </p:txBody>
      </p:sp>
      <p:pic>
        <p:nvPicPr>
          <p:cNvPr id="7" name="Picture 6" descr="16_variabl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291" y="1463040"/>
            <a:ext cx="6151418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10058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Saber QUE pesa mas en las decisiones del modelo es la primera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capa de interpretabilidad. En R lo hacemos con vip::vip().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DALEX: explicar cualquier 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Funciona con regresion lineal, RF, XGBoost... y cualquier otro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- 52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8595360" cy="182880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La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DALEX (Descriptive mAchine Learning EXplanations) trata al modelo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como una CAJA NEGRA. Le pasas inputs, recibes outputs, y explica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los patrones que ve. No necesita conocer el algoritmo por dentro.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474720"/>
            <a:ext cx="4251960" cy="283464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354787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Importancia global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3886200"/>
            <a:ext cx="4032504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model_parts(explainer)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Que tanto empeora el modelo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si quito esta variable?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3474720"/>
            <a:ext cx="4251960" cy="283464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27448" y="354787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Explicacion local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886200"/>
            <a:ext cx="4032504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predict_parts(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explainer, new_observation = x)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Por que el modelo predijo esto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para este caso especifico?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Partial Dependence Plot (PDP)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Como afecta UNA variable a la prediccion, en promedio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- 53</a:t>
            </a:r>
          </a:p>
        </p:txBody>
      </p:sp>
      <p:pic>
        <p:nvPicPr>
          <p:cNvPr id="7" name="Picture 6" descr="24_p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16" y="1463040"/>
            <a:ext cx="6160168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394960"/>
            <a:ext cx="8595360" cy="10058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" y="5486400"/>
            <a:ext cx="837590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Para cada valor de la variable, calcula la prediccion promedio.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Util para entender RELACIONES NO LINEALES capturadas por RF/XGBoost.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Correlacion NO es causalidad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- 54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8595360" cy="182880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El error mas peligroso al interpretar un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8375904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Que el modelo encuentre que el partido X esta muy correlacionado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con contratos de alto valor NO significa que ese partido CAUSE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los montos altos.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474720"/>
            <a:ext cx="8595360" cy="283464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354787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Ejemplos cotidianos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886200"/>
            <a:ext cx="8375904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Las ventas de helado se correlacionan con ahogamientos en alberca.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No es porque el helado cause ahogamientos -- es el verano.</a:t>
            </a:r>
          </a:p>
          <a:p>
            <a:pPr algn="l">
              <a:lnSpc>
                <a:spcPct val="15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El numero de bomberos en un incendio se correlaciona con los danos.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No es porque los bomberos causen los danos -- es el tamano del fuego.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Sesgo algoritmico y responsabilidad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- 55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251960" cy="228600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Los datos tienen sesgos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4032504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Si los datos historicos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reflejan injusticias,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el modelo las APRENDE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y las amplifica.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371600"/>
            <a:ext cx="4251960" cy="228600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274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Tu eres responsable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783080"/>
            <a:ext cx="4032504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El modelo no decide solo.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Tu eliges los datos, las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features y como usar el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resultado. Tu firmas.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8595360" cy="237744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400507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Buenas practicas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343400"/>
            <a:ext cx="83759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Documenta de donde vienen los datos y sus limitaciones.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Revisa si tu modelo perjudica a algun grupo en particular.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No publiques resultados que senalen personas o empresas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 sin contrastar con periodismo serio.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Si usaste IA para generar codigo, da credito y verificalo.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Cuando NO usar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000000"/>
                </a:solidFill>
                <a:latin typeface="Ubuntu"/>
              </a:rPr>
              <a:t>Veces que una regla simple es mejor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4251960" cy="237744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5361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No lo uses si...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40325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Tienes menos de ~100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observaciones.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Una regla simple resuelve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el problema.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Los datos cambian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constantemente.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463040"/>
            <a:ext cx="4251960" cy="237744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27448" y="153619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  <a:latin typeface="Ubuntu"/>
              </a:rPr>
              <a:t>Cuidado tambien si...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1874520"/>
            <a:ext cx="4032504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La decision tiene impacto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legal o medico critico.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No puedes explicar el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modelo a un humano.</a:t>
            </a:r>
          </a:p>
          <a:p>
            <a:pPr algn="l">
              <a:lnSpc>
                <a:spcPct val="140000"/>
              </a:lnSpc>
            </a:pPr>
            <a:endParaRPr sz="12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Solo tienes datos sesgados.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114800"/>
            <a:ext cx="8595360" cy="219456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4048" y="41879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Una buena pregunta antes de empezar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4526280"/>
            <a:ext cx="837590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Una persona experta en el dominio, con las mismas variables que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le voy a dar al modelo, podria contestar bien? Si la respuesta es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'ni de chiste, ni con todos los datos del mundo', ML no va a hacer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magia. Hay un limite duro: lo que la informacion permite predecir.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El pipeline completo de un proyecto de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- 57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2011680" cy="219456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1.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Cargar y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explorar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79" y="1371600"/>
            <a:ext cx="2011680" cy="219456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78607" y="1444752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2. 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7" y="1783080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Train + test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+ folds CV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371600"/>
            <a:ext cx="2011680" cy="219456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73168" y="1444752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3. Recipe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Limpiar y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procesar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7999" y="1371600"/>
            <a:ext cx="2011680" cy="219456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67727" y="1444752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E4C7D"/>
                </a:solidFill>
                <a:latin typeface="Ubuntu"/>
              </a:rPr>
              <a:t>4. Modelo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7" y="1783080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Elegir uno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o varios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749039"/>
            <a:ext cx="2011680" cy="219456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3822191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7A3A"/>
                </a:solidFill>
                <a:latin typeface="Ubuntu"/>
              </a:rPr>
              <a:t>5. Workflow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4160519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Recipe +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Modelo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79" y="3749039"/>
            <a:ext cx="2011680" cy="219456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78607" y="3822191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A7A3A"/>
                </a:solidFill>
                <a:latin typeface="Ubuntu"/>
              </a:rPr>
              <a:t>6. Tune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7" y="4160519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Probar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hiperparams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3749039"/>
            <a:ext cx="2011680" cy="219456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73168" y="3822191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Ubuntu"/>
              </a:rPr>
              <a:t>7. Evaluar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4160519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Metricas en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test unico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7999" y="3749039"/>
            <a:ext cx="2011680" cy="2194560"/>
          </a:xfrm>
          <a:prstGeom prst="rect">
            <a:avLst/>
          </a:prstGeom>
          <a:solidFill>
            <a:srgbClr val="FAD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67727" y="3822191"/>
            <a:ext cx="179222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Ubuntu"/>
              </a:rPr>
              <a:t>8. Interpretar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7" y="4160519"/>
            <a:ext cx="179222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vip + DALEX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+ etica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172200"/>
            <a:ext cx="8595360" cy="45720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4048" y="6263640"/>
            <a:ext cx="83759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Este es el flujo que vas a aplicar tres veces en el proyecto.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Que van a hacer ustedes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256032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35331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Ejercicio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691640"/>
            <a:ext cx="252374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Clasificacion</a:t>
            </a:r>
          </a:p>
          <a:p>
            <a:pPr algn="l">
              <a:lnSpc>
                <a:spcPct val="13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Predecir si un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contrato es de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alto valor.</a:t>
            </a:r>
          </a:p>
          <a:p>
            <a:pPr algn="l">
              <a:lnSpc>
                <a:spcPct val="13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4 modelos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comparados.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6392" y="1280160"/>
            <a:ext cx="2743200" cy="256032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46120" y="135331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Ejercicio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691640"/>
            <a:ext cx="252374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Regresion</a:t>
            </a:r>
          </a:p>
          <a:p>
            <a:pPr algn="l">
              <a:lnSpc>
                <a:spcPct val="13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Predecir el monto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de un contrato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antes de firmarse.</a:t>
            </a:r>
          </a:p>
          <a:p>
            <a:pPr algn="l">
              <a:lnSpc>
                <a:spcPct val="13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Evaluar en MXN.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280160"/>
            <a:ext cx="2743200" cy="256032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17336" y="1353312"/>
            <a:ext cx="252374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Ejercicio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17336" y="1691640"/>
            <a:ext cx="2523744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Clustering</a:t>
            </a:r>
          </a:p>
          <a:p>
            <a:pPr algn="l">
              <a:lnSpc>
                <a:spcPct val="13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Encontrar perfiles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de proveedores.</a:t>
            </a:r>
          </a:p>
          <a:p>
            <a:pPr algn="l">
              <a:lnSpc>
                <a:spcPct val="130000"/>
              </a:lnSpc>
            </a:pPr>
            <a:endParaRPr sz="1100" b="0" i="0">
              <a:solidFill>
                <a:srgbClr val="000000"/>
              </a:solidFill>
              <a:latin typeface="Ubuntu"/>
            </a:endParaRP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000000"/>
                </a:solidFill>
                <a:latin typeface="Ubuntu"/>
              </a:rPr>
              <a:t>Tu eliges el 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114800"/>
            <a:ext cx="8595360" cy="2194560"/>
          </a:xfrm>
          <a:prstGeom prst="rect">
            <a:avLst/>
          </a:prstGeom>
          <a:solidFill>
            <a:srgbClr val="F0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418795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Reglas del juego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526280"/>
            <a:ext cx="837590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1. Codigo en R, tidymodels obligatorio.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2. Tu pregunta de investigacion DEBE ser original (no copiar).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3. Documenta tu codigo y da credito a cualquier IA que uses.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4. PROHIBIDO usar pasteles o donas como visualizaciones.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"/>
            <a:ext cx="5486400" cy="64008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27432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Ubuntu"/>
              </a:rPr>
              <a:t>Para seguir aprendiendo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6583680"/>
            <a:ext cx="25603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555555"/>
                </a:solidFill>
                <a:latin typeface="Ubuntu"/>
              </a:rPr>
              <a:t>ML para descubrir patrones - 59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71600"/>
            <a:ext cx="4251960" cy="2468880"/>
          </a:xfrm>
          <a:prstGeom prst="rect">
            <a:avLst/>
          </a:prstGeom>
          <a:solidFill>
            <a:srgbClr val="EA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Documentacion oficial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783080"/>
            <a:ext cx="40325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tidymodels.org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bookdown.org/max/FES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www.tmwr.org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(Tidy Modeling with R)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371600"/>
            <a:ext cx="4251960" cy="246888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27448" y="1444752"/>
            <a:ext cx="40325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E4C7D"/>
                </a:solidFill>
                <a:latin typeface="Ubuntu"/>
              </a:rPr>
              <a:t>Para conceptos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1783080"/>
            <a:ext cx="4032504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StatQuest (YouTube)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-- 3Blue1Brown -- Neural Nets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An Introduction to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  Statistical Learning (libro)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023360"/>
            <a:ext cx="8595360" cy="2286000"/>
          </a:xfrm>
          <a:prstGeom prst="rect">
            <a:avLst/>
          </a:prstGeom>
          <a:solidFill>
            <a:srgbClr val="D5F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4096512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7A3A"/>
                </a:solidFill>
                <a:latin typeface="Ubuntu"/>
              </a:rPr>
              <a:t>Para practicar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434840"/>
            <a:ext cx="8375904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Kaggle Learn (cursos cortos gratis)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Tidy Tuesday (datos nuevos cada semana)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00000"/>
                </a:solidFill>
                <a:latin typeface="Ubuntu"/>
              </a:rPr>
              <a:t>-- INEGI, Datos Abiertos CDMX, MCCI (datos publicos en espanol)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E4C7D"/>
                </a:solidFill>
                <a:latin typeface="Ubuntu"/>
              </a:rPr>
              <a:t>Tecnologico de Monterrey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9144000" cy="3200400"/>
          </a:xfrm>
          <a:prstGeom prst="rect">
            <a:avLst/>
          </a:prstGeom>
          <a:solidFill>
            <a:srgbClr val="DDE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04672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0" b="1" i="0">
                <a:solidFill>
                  <a:srgbClr val="1E4C7D"/>
                </a:solidFill>
                <a:latin typeface="Ubuntu"/>
              </a:rPr>
              <a:t>Gracias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937760"/>
            <a:ext cx="3657600" cy="914400"/>
          </a:xfrm>
          <a:prstGeom prst="rect">
            <a:avLst/>
          </a:prstGeom>
          <a:solidFill>
            <a:srgbClr val="1E4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0" y="493776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Ubuntu"/>
              </a:rPr>
              <a:t>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3939</Words>
  <Application>Microsoft Macintosh PowerPoint</Application>
  <PresentationFormat>Presentación en pantalla (4:3)</PresentationFormat>
  <Paragraphs>682</Paragraphs>
  <Slides>60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60</vt:i4>
      </vt:variant>
    </vt:vector>
  </HeadingPairs>
  <TitlesOfParts>
    <vt:vector size="64" baseType="lpstr">
      <vt:lpstr>Arial</vt:lpstr>
      <vt:lpstr>Calibri</vt:lpstr>
      <vt:lpstr>Ubuntu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Jorge Juvenal Campos Ferreira</cp:lastModifiedBy>
  <cp:revision>2</cp:revision>
  <dcterms:created xsi:type="dcterms:W3CDTF">2013-01-27T09:14:16Z</dcterms:created>
  <dcterms:modified xsi:type="dcterms:W3CDTF">2026-05-20T16:00:23Z</dcterms:modified>
  <cp:category/>
</cp:coreProperties>
</file>