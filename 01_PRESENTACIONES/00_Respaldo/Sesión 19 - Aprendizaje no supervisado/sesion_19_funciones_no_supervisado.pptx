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058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5486400" cy="548640"/>
          </a:xfrm>
          <a:prstGeom prst="rect">
            <a:avLst/>
          </a:prstGeom>
          <a:noFill/>
        </p:spPr>
        <p:txBody>
          <a:bodyPr wrap="square" lIns="0" rIns="0" tIns="0" bIns="0" anchor="ctr">
            <a:spAutoFit/>
          </a:bodyPr>
          <a:lstStyle/>
          <a:p>
            <a:pPr algn="l"/>
            <a:r>
              <a:rPr sz="2000" b="1" i="0">
                <a:solidFill>
                  <a:srgbClr val="1E4C7D"/>
                </a:solidFill>
                <a:latin typeface="Ubuntu"/>
              </a:rPr>
              <a:t>Tecnológico de Monterrey</a:t>
            </a:r>
          </a:p>
        </p:txBody>
      </p:sp>
      <p:sp>
        <p:nvSpPr>
          <p:cNvPr id="5" name="Rectangle 4"/>
          <p:cNvSpPr/>
          <p:nvPr/>
        </p:nvSpPr>
        <p:spPr>
          <a:xfrm>
            <a:off x="0" y="1005840"/>
            <a:ext cx="9144000" cy="3291840"/>
          </a:xfrm>
          <a:prstGeom prst="rect">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8046720" cy="1828800"/>
          </a:xfrm>
          <a:prstGeom prst="rect">
            <a:avLst/>
          </a:prstGeom>
          <a:noFill/>
        </p:spPr>
        <p:txBody>
          <a:bodyPr wrap="square" lIns="0" rIns="0" tIns="0" bIns="0">
            <a:spAutoFit/>
          </a:bodyPr>
          <a:lstStyle/>
          <a:p>
            <a:pPr algn="l">
              <a:lnSpc>
                <a:spcPct val="105000"/>
              </a:lnSpc>
            </a:pPr>
            <a:r>
              <a:rPr sz="4000" b="1" i="0">
                <a:solidFill>
                  <a:srgbClr val="1E4C7D"/>
                </a:solidFill>
                <a:latin typeface="Ubuntu"/>
              </a:rPr>
              <a:t>Sesión 19: Aprendizaje no</a:t>
            </a:r>
          </a:p>
          <a:p>
            <a:pPr algn="l">
              <a:lnSpc>
                <a:spcPct val="105000"/>
              </a:lnSpc>
            </a:pPr>
            <a:r>
              <a:rPr sz="4000" b="1" i="0">
                <a:solidFill>
                  <a:srgbClr val="1E4C7D"/>
                </a:solidFill>
                <a:latin typeface="Ubuntu"/>
              </a:rPr>
              <a:t>supervisado (PCA + clustering)</a:t>
            </a:r>
          </a:p>
        </p:txBody>
      </p:sp>
      <p:sp>
        <p:nvSpPr>
          <p:cNvPr id="7" name="TextBox 6"/>
          <p:cNvSpPr txBox="1"/>
          <p:nvPr/>
        </p:nvSpPr>
        <p:spPr>
          <a:xfrm>
            <a:off x="548640" y="3611880"/>
            <a:ext cx="8046720" cy="640080"/>
          </a:xfrm>
          <a:prstGeom prst="rect">
            <a:avLst/>
          </a:prstGeom>
          <a:noFill/>
        </p:spPr>
        <p:txBody>
          <a:bodyPr wrap="square" lIns="0" rIns="0" tIns="0" bIns="0">
            <a:spAutoFit/>
          </a:bodyPr>
          <a:lstStyle/>
          <a:p>
            <a:pPr algn="l"/>
            <a:r>
              <a:rPr sz="1800" b="0" i="1">
                <a:solidFill>
                  <a:srgbClr val="1E4C7D"/>
                </a:solidFill>
                <a:latin typeface="Ubuntu"/>
              </a:rPr>
              <a:t>Las funciones de R que usamos, una por una</a:t>
            </a:r>
          </a:p>
        </p:txBody>
      </p:sp>
      <p:sp>
        <p:nvSpPr>
          <p:cNvPr id="8" name="TextBox 7"/>
          <p:cNvSpPr txBox="1"/>
          <p:nvPr/>
        </p:nvSpPr>
        <p:spPr>
          <a:xfrm>
            <a:off x="548640" y="4937760"/>
            <a:ext cx="8046720" cy="914400"/>
          </a:xfrm>
          <a:prstGeom prst="rect">
            <a:avLst/>
          </a:prstGeom>
          <a:noFill/>
        </p:spPr>
        <p:txBody>
          <a:bodyPr wrap="square" lIns="0" rIns="0" tIns="0" bIns="0">
            <a:spAutoFit/>
          </a:bodyPr>
          <a:lstStyle/>
          <a:p>
            <a:pPr algn="l">
              <a:lnSpc>
                <a:spcPct val="130000"/>
              </a:lnSpc>
            </a:pPr>
            <a:r>
              <a:rPr sz="1400" b="0" i="0">
                <a:solidFill>
                  <a:srgbClr val="000000"/>
                </a:solidFill>
                <a:latin typeface="Ubuntu"/>
              </a:rPr>
              <a:t>TC2001B.601 - Ciencia de datos para la toma de decisiones I</a:t>
            </a:r>
          </a:p>
          <a:p>
            <a:pPr algn="l">
              <a:lnSpc>
                <a:spcPct val="130000"/>
              </a:lnSpc>
            </a:pPr>
            <a:r>
              <a:rPr sz="1400" b="0" i="0">
                <a:solidFill>
                  <a:srgbClr val="000000"/>
                </a:solidFill>
                <a:latin typeface="Ubuntu"/>
              </a:rPr>
              <a:t>Enfoque tidymodels nativo: recipes + tidyclust</a:t>
            </a:r>
          </a:p>
          <a:p>
            <a:pPr algn="l">
              <a:lnSpc>
                <a:spcPct val="130000"/>
              </a:lnSpc>
            </a:pPr>
            <a:r>
              <a:rPr sz="1400" b="0" i="0">
                <a:solidFill>
                  <a:srgbClr val="000000"/>
                </a:solidFill>
                <a:latin typeface="Ubuntu"/>
              </a:rPr>
              <a:t>Ejemplos: apostadores en línea y tipologías de municipios</a:t>
            </a:r>
          </a:p>
        </p:txBody>
      </p:sp>
      <p:sp>
        <p:nvSpPr>
          <p:cNvPr id="9" name="Rectangle 8"/>
          <p:cNvSpPr/>
          <p:nvPr/>
        </p:nvSpPr>
        <p:spPr>
          <a:xfrm>
            <a:off x="548640" y="6126480"/>
            <a:ext cx="1828800" cy="4572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Sin variable objetivo: descubrir estructura</a:t>
            </a:r>
          </a:p>
        </p:txBody>
      </p:sp>
      <p:sp>
        <p:nvSpPr>
          <p:cNvPr id="5" name="TextBox 4"/>
          <p:cNvSpPr txBox="1"/>
          <p:nvPr/>
        </p:nvSpPr>
        <p:spPr>
          <a:xfrm>
            <a:off x="365760" y="1143000"/>
            <a:ext cx="8412480" cy="1280160"/>
          </a:xfrm>
          <a:prstGeom prst="rect">
            <a:avLst/>
          </a:prstGeom>
          <a:noFill/>
        </p:spPr>
        <p:txBody>
          <a:bodyPr wrap="square" lIns="0" rIns="0" tIns="0" bIns="0">
            <a:spAutoFit/>
          </a:bodyPr>
          <a:lstStyle/>
          <a:p>
            <a:pPr algn="l">
              <a:lnSpc>
                <a:spcPct val="130000"/>
              </a:lnSpc>
            </a:pPr>
            <a:r>
              <a:rPr sz="1500" b="0" i="0">
                <a:solidFill>
                  <a:srgbClr val="000000"/>
                </a:solidFill>
                <a:latin typeface="Ubuntu"/>
              </a:rPr>
              <a:t>En el aprendizaje NO supervisado no hay una 'y' que predecir, así que NO partimos en entrenamiento/prueba: no existe un acierto que medir. El objetivo es resumir variables (PCA) y descubrir grupos (clustering). Usamos el ecosistema tidymodels: recipes para preparar y para el PCA, y tidyclust para el clustering. Estas son las funciones, en orden de uso.</a:t>
            </a:r>
          </a:p>
        </p:txBody>
      </p:sp>
      <p:sp>
        <p:nvSpPr>
          <p:cNvPr id="6" name="Rectangle 5"/>
          <p:cNvSpPr/>
          <p:nvPr/>
        </p:nvSpPr>
        <p:spPr>
          <a:xfrm>
            <a:off x="274320" y="2560320"/>
            <a:ext cx="8595360" cy="338328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 y="2651760"/>
            <a:ext cx="8302752" cy="365760"/>
          </a:xfrm>
          <a:prstGeom prst="rect">
            <a:avLst/>
          </a:prstGeom>
          <a:noFill/>
        </p:spPr>
        <p:txBody>
          <a:bodyPr wrap="square" lIns="0" rIns="0" tIns="0" bIns="0">
            <a:spAutoFit/>
          </a:bodyPr>
          <a:lstStyle/>
          <a:p>
            <a:pPr algn="l"/>
            <a:r>
              <a:rPr sz="1600" b="1" i="0">
                <a:solidFill>
                  <a:srgbClr val="1E4C7D"/>
                </a:solidFill>
                <a:latin typeface="Ubuntu"/>
              </a:rPr>
              <a:t>Funciones que veremos, en orden de uso</a:t>
            </a:r>
          </a:p>
        </p:txBody>
      </p:sp>
      <p:sp>
        <p:nvSpPr>
          <p:cNvPr id="8" name="TextBox 7"/>
          <p:cNvSpPr txBox="1"/>
          <p:nvPr/>
        </p:nvSpPr>
        <p:spPr>
          <a:xfrm>
            <a:off x="420624" y="3035808"/>
            <a:ext cx="8302752" cy="2816352"/>
          </a:xfrm>
          <a:prstGeom prst="rect">
            <a:avLst/>
          </a:prstGeom>
          <a:noFill/>
        </p:spPr>
        <p:txBody>
          <a:bodyPr wrap="square" lIns="0" rIns="0" tIns="0" bIns="0">
            <a:spAutoFit/>
          </a:bodyPr>
          <a:lstStyle/>
          <a:p>
            <a:pPr algn="l">
              <a:lnSpc>
                <a:spcPct val="145000"/>
              </a:lnSpc>
            </a:pPr>
            <a:r>
              <a:rPr sz="1300" b="0" i="0">
                <a:solidFill>
                  <a:srgbClr val="000000"/>
                </a:solidFill>
                <a:latin typeface="Ubuntu"/>
              </a:rPr>
              <a:t>1.  library() + tidymodels_prefer()</a:t>
            </a:r>
          </a:p>
          <a:p>
            <a:pPr algn="l">
              <a:lnSpc>
                <a:spcPct val="145000"/>
              </a:lnSpc>
            </a:pPr>
            <a:r>
              <a:rPr sz="1300" b="0" i="0">
                <a:solidFill>
                  <a:srgbClr val="000000"/>
                </a:solidFill>
                <a:latin typeface="Ubuntu"/>
              </a:rPr>
              <a:t>2.  read_csv()  -  cargar los datos</a:t>
            </a:r>
          </a:p>
          <a:p>
            <a:pPr algn="l">
              <a:lnSpc>
                <a:spcPct val="145000"/>
              </a:lnSpc>
            </a:pPr>
            <a:r>
              <a:rPr sz="1300" b="0" i="0">
                <a:solidFill>
                  <a:srgbClr val="000000"/>
                </a:solidFill>
                <a:latin typeface="Ubuntu"/>
              </a:rPr>
              <a:t>3.  recipe() + update_role()  -  declarar roles</a:t>
            </a:r>
          </a:p>
          <a:p>
            <a:pPr algn="l">
              <a:lnSpc>
                <a:spcPct val="145000"/>
              </a:lnSpc>
            </a:pPr>
            <a:r>
              <a:rPr sz="1300" b="0" i="0">
                <a:solidFill>
                  <a:srgbClr val="000000"/>
                </a:solidFill>
                <a:latin typeface="Ubuntu"/>
              </a:rPr>
              <a:t>4.  step_impute_median() + step_normalize()  -  preparar</a:t>
            </a:r>
          </a:p>
          <a:p>
            <a:pPr algn="l">
              <a:lnSpc>
                <a:spcPct val="145000"/>
              </a:lnSpc>
            </a:pPr>
            <a:r>
              <a:rPr sz="1300" b="0" i="0">
                <a:solidFill>
                  <a:srgbClr val="000000"/>
                </a:solidFill>
                <a:latin typeface="Ubuntu"/>
              </a:rPr>
              <a:t>5.  prep() + bake()  -  aplicar la receta</a:t>
            </a:r>
          </a:p>
          <a:p>
            <a:pPr algn="l">
              <a:lnSpc>
                <a:spcPct val="145000"/>
              </a:lnSpc>
            </a:pPr>
            <a:r>
              <a:rPr sz="1300" b="0" i="0">
                <a:solidFill>
                  <a:srgbClr val="000000"/>
                </a:solidFill>
                <a:latin typeface="Ubuntu"/>
              </a:rPr>
              <a:t>6.  step_pca() + tidy()  -  PCA y su lectura</a:t>
            </a:r>
          </a:p>
          <a:p>
            <a:pPr algn="l">
              <a:lnSpc>
                <a:spcPct val="145000"/>
              </a:lnSpc>
            </a:pPr>
            <a:r>
              <a:rPr sz="1300" b="0" i="0">
                <a:solidFill>
                  <a:srgbClr val="000000"/>
                </a:solidFill>
                <a:latin typeface="Ubuntu"/>
              </a:rPr>
              <a:t>7.  k_means() + set_engine() + workflow()  -  modelo</a:t>
            </a:r>
          </a:p>
          <a:p>
            <a:pPr algn="l">
              <a:lnSpc>
                <a:spcPct val="145000"/>
              </a:lnSpc>
            </a:pPr>
            <a:r>
              <a:rPr sz="1300" b="0" i="0">
                <a:solidFill>
                  <a:srgbClr val="000000"/>
                </a:solidFill>
                <a:latin typeface="Ubuntu"/>
              </a:rPr>
              <a:t>8.  vfold_cv() + cluster_metric_set() + tune_cluster()  -  elegir k</a:t>
            </a:r>
          </a:p>
          <a:p>
            <a:pPr algn="l">
              <a:lnSpc>
                <a:spcPct val="145000"/>
              </a:lnSpc>
            </a:pPr>
            <a:r>
              <a:rPr sz="1300" b="0" i="0">
                <a:solidFill>
                  <a:srgbClr val="000000"/>
                </a:solidFill>
                <a:latin typeface="Ubuntu"/>
              </a:rPr>
              <a:t>9.  fit() + extract_cluster_assignment() + extract_centroids()</a:t>
            </a:r>
          </a:p>
          <a:p>
            <a:pPr algn="l">
              <a:lnSpc>
                <a:spcPct val="145000"/>
              </a:lnSpc>
            </a:pPr>
            <a:r>
              <a:rPr sz="1300" b="0" i="0">
                <a:solidFill>
                  <a:srgbClr val="000000"/>
                </a:solidFill>
                <a:latin typeface="Ubuntu"/>
              </a:rPr>
              <a:t>10. hier_clust()  -  jerárquico (comparación)</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library() + tidymodels_prefer()</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Cargamos el universo tidyverse + tidymodels y, con tidyclust, el soporte de clustering. tidymodels_prefer() evita choques de nombres.</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library(tidyverse)    # dplyr, ggplot2, readr...</a:t>
            </a:r>
          </a:p>
          <a:p>
            <a:pPr algn="l">
              <a:lnSpc>
                <a:spcPct val="108000"/>
              </a:lnSpc>
            </a:pPr>
            <a:r>
              <a:rPr sz="1200">
                <a:solidFill>
                  <a:srgbClr val="EAEDF0"/>
                </a:solidFill>
                <a:latin typeface="Menlo"/>
              </a:rPr>
              <a:t>library(tidymodels)   # recipes, workflows, tune...</a:t>
            </a:r>
          </a:p>
          <a:p>
            <a:pPr algn="l">
              <a:lnSpc>
                <a:spcPct val="108000"/>
              </a:lnSpc>
            </a:pPr>
            <a:r>
              <a:rPr sz="1200">
                <a:solidFill>
                  <a:srgbClr val="EAEDF0"/>
                </a:solidFill>
                <a:latin typeface="Menlo"/>
              </a:rPr>
              <a:t>library(tidyclust)    # k_means(), hier_clust()</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tidymodels_prefer()   # resuelve conflictos de nombres</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tidyclust es la extensión de tidymodels para clustering: trae k_means() y hier_clust() con la misma gramática de modelos que ya conoces.</a:t>
            </a:r>
          </a:p>
          <a:p>
            <a:pPr algn="l">
              <a:lnSpc>
                <a:spcPct val="132000"/>
              </a:lnSpc>
            </a:pPr>
            <a:r>
              <a:rPr sz="1300" b="0" i="0">
                <a:solidFill>
                  <a:srgbClr val="000000"/>
                </a:solidFill>
                <a:latin typeface="Ubuntu"/>
              </a:rPr>
              <a:t>- tidymodels_prefer() hace que, cuando dos paquetes definen una función con el mismo nombre, gane la de tidymodels (p. ej. tune()).</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read_csv()</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Carga el CSV como tibble. El identificador (folio, nombre de municipio) no es un atributo de comportamiento: se tratará aparte.</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8CA68C"/>
                </a:solidFill>
                <a:latin typeface="Menlo"/>
              </a:rPr>
              <a:t># Apostadores: 500 cuentas (jugador_id es el folio)</a:t>
            </a:r>
          </a:p>
          <a:p>
            <a:pPr algn="l">
              <a:lnSpc>
                <a:spcPct val="108000"/>
              </a:lnSpc>
            </a:pPr>
            <a:r>
              <a:rPr sz="1200">
                <a:solidFill>
                  <a:srgbClr val="EAEDF0"/>
                </a:solidFill>
                <a:latin typeface="Menlo"/>
              </a:rPr>
              <a:t>apostadores &lt;- read_csv("datos.csv")</a:t>
            </a:r>
          </a:p>
          <a:p>
            <a:pPr algn="l">
              <a:lnSpc>
                <a:spcPct val="108000"/>
              </a:lnSpc>
            </a:pPr>
            <a:r>
              <a:rPr sz="1200">
                <a:solidFill>
                  <a:srgbClr val="EAEDF0"/>
                </a:solidFill>
                <a:latin typeface="Menlo"/>
              </a:rPr>
              <a:t> </a:t>
            </a:r>
          </a:p>
          <a:p>
            <a:pPr algn="l">
              <a:lnSpc>
                <a:spcPct val="108000"/>
              </a:lnSpc>
            </a:pPr>
            <a:r>
              <a:rPr sz="1200">
                <a:solidFill>
                  <a:srgbClr val="8CA68C"/>
                </a:solidFill>
                <a:latin typeface="Menlo"/>
              </a:rPr>
              <a:t># Municipios: el id es el nombre genérico</a:t>
            </a:r>
          </a:p>
          <a:p>
            <a:pPr algn="l">
              <a:lnSpc>
                <a:spcPct val="108000"/>
              </a:lnSpc>
            </a:pPr>
            <a:r>
              <a:rPr sz="1200">
                <a:solidFill>
                  <a:srgbClr val="EAEDF0"/>
                </a:solidFill>
                <a:latin typeface="Menlo"/>
              </a:rPr>
              <a:t>municipios &lt;- read_csv("datos.csv")</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read_csv() (de readr) lee el archivo y lo deja como tibble, infiriendo los tipos de columna.</a:t>
            </a:r>
          </a:p>
          <a:p>
            <a:pPr algn="l">
              <a:lnSpc>
                <a:spcPct val="132000"/>
              </a:lnSpc>
            </a:pPr>
            <a:r>
              <a:rPr sz="1300" b="0" i="0">
                <a:solidFill>
                  <a:srgbClr val="000000"/>
                </a:solidFill>
                <a:latin typeface="Ubuntu"/>
              </a:rPr>
              <a:t>- Un identificador (jugador_id, municipio) NO es un indicador: si entrara al modelo, se calcularían 'distancias' entre folios, lo que no tiene sentido. En el siguiente paso le damos un rol especial.</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recipe() + update_role()</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La receta declara la fórmula y los roles de las columnas. Sin 'y' a la izquierda: es la marca del no supervisado.</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receta &lt;- recipe(~ ., data = apostadores) %&gt;%</a:t>
            </a:r>
          </a:p>
          <a:p>
            <a:pPr algn="l">
              <a:lnSpc>
                <a:spcPct val="108000"/>
              </a:lnSpc>
            </a:pPr>
            <a:r>
              <a:rPr sz="1200">
                <a:solidFill>
                  <a:srgbClr val="EAEDF0"/>
                </a:solidFill>
                <a:latin typeface="Menlo"/>
              </a:rPr>
              <a:t>  update_role(jugador_id, new_role = "id")</a:t>
            </a:r>
          </a:p>
          <a:p>
            <a:pPr algn="l">
              <a:lnSpc>
                <a:spcPct val="108000"/>
              </a:lnSpc>
            </a:pPr>
            <a:r>
              <a:rPr sz="1200">
                <a:solidFill>
                  <a:srgbClr val="EAEDF0"/>
                </a:solidFill>
                <a:latin typeface="Menlo"/>
              </a:rPr>
              <a:t> </a:t>
            </a:r>
          </a:p>
          <a:p>
            <a:pPr algn="l">
              <a:lnSpc>
                <a:spcPct val="108000"/>
              </a:lnSpc>
            </a:pPr>
            <a:r>
              <a:rPr sz="1200">
                <a:solidFill>
                  <a:srgbClr val="8CA68C"/>
                </a:solidFill>
                <a:latin typeface="Menlo"/>
              </a:rPr>
              <a:t># En municipios:  update_role(municipio, ...)</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La fórmula ~ . (nada a la izquierda) significa 'no hay variable objetivo': todas las columnas son predictores.</a:t>
            </a:r>
          </a:p>
          <a:p>
            <a:pPr algn="l">
              <a:lnSpc>
                <a:spcPct val="132000"/>
              </a:lnSpc>
            </a:pPr>
            <a:r>
              <a:rPr sz="1300" b="0" i="0">
                <a:solidFill>
                  <a:srgbClr val="000000"/>
                </a:solidFill>
                <a:latin typeface="Ubuntu"/>
              </a:rPr>
              <a:t>- update_role() marca el identificador con el rol 'id'. Así NO se usa como predictor (no entra en el PCA ni en las distancias), pero se conserva en la tabla por si lo necesitamos.</a:t>
            </a:r>
          </a:p>
          <a:p>
            <a:pPr algn="l">
              <a:lnSpc>
                <a:spcPct val="132000"/>
              </a:lnSpc>
            </a:pPr>
            <a:r>
              <a:rPr sz="1300" b="0" i="0">
                <a:solidFill>
                  <a:srgbClr val="000000"/>
                </a:solidFill>
                <a:latin typeface="Ubuntu"/>
              </a:rPr>
              <a:t>- Alternativa: step_rm() para eliminarlo del todo.</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step_impute_median()</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Rellena los valores faltantes (NAs) de las variables numéricas con su mediana. Va PRIMERO: los pasos siguientes no toleran NAs.</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receta &lt;- recipe(~ ., data = apostadores) %&gt;%</a:t>
            </a:r>
          </a:p>
          <a:p>
            <a:pPr algn="l">
              <a:lnSpc>
                <a:spcPct val="108000"/>
              </a:lnSpc>
            </a:pPr>
            <a:r>
              <a:rPr sz="1200">
                <a:solidFill>
                  <a:srgbClr val="EAEDF0"/>
                </a:solidFill>
                <a:latin typeface="Menlo"/>
              </a:rPr>
              <a:t>  update_role(jugador_id, new_role = "id") %&gt;%</a:t>
            </a:r>
          </a:p>
          <a:p>
            <a:pPr algn="l">
              <a:lnSpc>
                <a:spcPct val="108000"/>
              </a:lnSpc>
            </a:pPr>
            <a:r>
              <a:rPr sz="1200">
                <a:solidFill>
                  <a:srgbClr val="EAEDF0"/>
                </a:solidFill>
                <a:latin typeface="Menlo"/>
              </a:rPr>
              <a:t>  step_impute_median(all_numeric_predictors()) %&gt;%</a:t>
            </a:r>
          </a:p>
          <a:p>
            <a:pPr algn="l">
              <a:lnSpc>
                <a:spcPct val="108000"/>
              </a:lnSpc>
            </a:pPr>
            <a:r>
              <a:rPr sz="1200">
                <a:solidFill>
                  <a:srgbClr val="EAEDF0"/>
                </a:solidFill>
                <a:latin typeface="Menlo"/>
              </a:rPr>
              <a:t>  step_normalize(all_numeric_predictors())</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En apostadores, deposito_mensual_mxn tiene ~3% de NAs; en municipios, pib_per_capita_mxn ~4%. El PCA y las distancias NO admiten NAs.</a:t>
            </a:r>
          </a:p>
          <a:p>
            <a:pPr algn="l">
              <a:lnSpc>
                <a:spcPct val="132000"/>
              </a:lnSpc>
            </a:pPr>
            <a:r>
              <a:rPr sz="1300" b="0" i="0">
                <a:solidFill>
                  <a:srgbClr val="000000"/>
                </a:solidFill>
                <a:latin typeface="Ubuntu"/>
              </a:rPr>
              <a:t>- Se usa la MEDIANA (no la media) porque los montos son asimétricos: unos pocos valores enormes inflarían la media.</a:t>
            </a:r>
          </a:p>
          <a:p>
            <a:pPr algn="l">
              <a:lnSpc>
                <a:spcPct val="132000"/>
              </a:lnSpc>
            </a:pPr>
            <a:r>
              <a:rPr sz="1300" b="0" i="0">
                <a:solidFill>
                  <a:srgbClr val="000000"/>
                </a:solidFill>
                <a:latin typeface="Ubuntu"/>
              </a:rPr>
              <a:t>- all_numeric_predictors() aplica el paso a todas las numéricas (excluye el id, que ya no es predictor).</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step_normalize()</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Estandariza (z-score) cada variable: media 0, desviación 1. Es INDISPENSABLE antes de PCA y clustering.</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  step_normalize(all_numeric_predictors())</a:t>
            </a:r>
          </a:p>
          <a:p>
            <a:pPr algn="l">
              <a:lnSpc>
                <a:spcPct val="108000"/>
              </a:lnSpc>
            </a:pPr>
            <a:r>
              <a:rPr sz="1200">
                <a:solidFill>
                  <a:srgbClr val="EAEDF0"/>
                </a:solidFill>
                <a:latin typeface="Menlo"/>
              </a:rPr>
              <a:t> </a:t>
            </a:r>
          </a:p>
          <a:p>
            <a:pPr algn="l">
              <a:lnSpc>
                <a:spcPct val="108000"/>
              </a:lnSpc>
            </a:pPr>
            <a:r>
              <a:rPr sz="1200">
                <a:solidFill>
                  <a:srgbClr val="8CA68C"/>
                </a:solidFill>
                <a:latin typeface="Menlo"/>
              </a:rPr>
              <a:t># z = (x - media) / desviación   por cada variable</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PCA maximiza varianza y el clustering mide distancias: ambos son sensibles a la ESCALA. Sin normalizar, una variable en pesos (miles) domina sobre un porcentaje (0-100).</a:t>
            </a:r>
          </a:p>
          <a:p>
            <a:pPr algn="l">
              <a:lnSpc>
                <a:spcPct val="132000"/>
              </a:lnSpc>
            </a:pPr>
            <a:r>
              <a:rPr sz="1300" b="0" i="0">
                <a:solidFill>
                  <a:srgbClr val="000000"/>
                </a:solidFill>
                <a:latin typeface="Ubuntu"/>
              </a:rPr>
              <a:t>- El z-score deja todas las variables comparables, de modo que cada una pese por igual.</a:t>
            </a:r>
          </a:p>
          <a:p>
            <a:pPr algn="l">
              <a:lnSpc>
                <a:spcPct val="132000"/>
              </a:lnSpc>
            </a:pPr>
            <a:r>
              <a:rPr sz="1300" b="0" i="0">
                <a:solidFill>
                  <a:srgbClr val="000000"/>
                </a:solidFill>
                <a:latin typeface="Ubuntu"/>
              </a:rPr>
              <a:t>- Regla de oro de la sesión: normaliza SIEMPRE.</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prep() + bake()</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prep() APRENDE los parámetros (medianas, medias, desviaciones) con los datos; bake() los APLICA y devuelve la tabla lista.</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datos_norm &lt;- receta %&gt;%</a:t>
            </a:r>
          </a:p>
          <a:p>
            <a:pPr algn="l">
              <a:lnSpc>
                <a:spcPct val="108000"/>
              </a:lnSpc>
            </a:pPr>
            <a:r>
              <a:rPr sz="1200">
                <a:solidFill>
                  <a:srgbClr val="EAEDF0"/>
                </a:solidFill>
                <a:latin typeface="Menlo"/>
              </a:rPr>
              <a:t>  prep() %&gt;%</a:t>
            </a:r>
          </a:p>
          <a:p>
            <a:pPr algn="l">
              <a:lnSpc>
                <a:spcPct val="108000"/>
              </a:lnSpc>
            </a:pPr>
            <a:r>
              <a:rPr sz="1200">
                <a:solidFill>
                  <a:srgbClr val="EAEDF0"/>
                </a:solidFill>
                <a:latin typeface="Menlo"/>
              </a:rPr>
              <a:t>  bake(new_data = NULL)</a:t>
            </a:r>
          </a:p>
          <a:p>
            <a:pPr algn="l">
              <a:lnSpc>
                <a:spcPct val="108000"/>
              </a:lnSpc>
            </a:pPr>
            <a:r>
              <a:rPr sz="1200">
                <a:solidFill>
                  <a:srgbClr val="EAEDF0"/>
                </a:solidFill>
                <a:latin typeface="Menlo"/>
              </a:rPr>
              <a:t> </a:t>
            </a:r>
          </a:p>
          <a:p>
            <a:pPr algn="l">
              <a:lnSpc>
                <a:spcPct val="108000"/>
              </a:lnSpc>
            </a:pPr>
            <a:r>
              <a:rPr sz="1200">
                <a:solidFill>
                  <a:srgbClr val="8CA68C"/>
                </a:solidFill>
                <a:latin typeface="Menlo"/>
              </a:rPr>
              <a:t># new_data = NULL  -&gt;  usa los mismos datos del prep()</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prep() recorre la receta y calcula lo que cada paso necesita (las medianas para imputar, la media y desviación para normalizar).</a:t>
            </a:r>
          </a:p>
          <a:p>
            <a:pPr algn="l">
              <a:lnSpc>
                <a:spcPct val="132000"/>
              </a:lnSpc>
            </a:pPr>
            <a:r>
              <a:rPr sz="1300" b="0" i="0">
                <a:solidFill>
                  <a:srgbClr val="000000"/>
                </a:solidFill>
                <a:latin typeface="Ubuntu"/>
              </a:rPr>
              <a:t>- bake(new_data = NULL) devuelve la tabla ya transformada con los datos de entrenamiento; con new_data = otros aplicaría lo aprendido a datos nuevos.</a:t>
            </a:r>
          </a:p>
          <a:p>
            <a:pPr algn="l">
              <a:lnSpc>
                <a:spcPct val="132000"/>
              </a:lnSpc>
            </a:pPr>
            <a:r>
              <a:rPr sz="1300" b="0" i="0">
                <a:solidFill>
                  <a:srgbClr val="000000"/>
                </a:solidFill>
                <a:latin typeface="Ubuntu"/>
              </a:rPr>
              <a:t>- El resultado tiene media ~0 y desviación ~1 en cada columna numérica.</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step_pca()</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Añade el PCA como UN PASO MÁS de la receta. Le ponemos un id para poder extraer después la varianza y las cargas.</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receta_pca &lt;- receta %&gt;%</a:t>
            </a:r>
          </a:p>
          <a:p>
            <a:pPr algn="l">
              <a:lnSpc>
                <a:spcPct val="108000"/>
              </a:lnSpc>
            </a:pPr>
            <a:r>
              <a:rPr sz="1200">
                <a:solidFill>
                  <a:srgbClr val="EAEDF0"/>
                </a:solidFill>
                <a:latin typeface="Menlo"/>
              </a:rPr>
              <a:t>  step_pca(all_numeric_predictors(),</a:t>
            </a:r>
          </a:p>
          <a:p>
            <a:pPr algn="l">
              <a:lnSpc>
                <a:spcPct val="108000"/>
              </a:lnSpc>
            </a:pPr>
            <a:r>
              <a:rPr sz="1200">
                <a:solidFill>
                  <a:srgbClr val="EAEDF0"/>
                </a:solidFill>
                <a:latin typeface="Menlo"/>
              </a:rPr>
              <a:t>           num_comp = 11, id = "pca")</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pca_prep &lt;- prep(receta_pca)</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En tidymodels el PCA no es una función aparte: es step_pca() dentro de la receta, después de normalizar.</a:t>
            </a:r>
          </a:p>
          <a:p>
            <a:pPr algn="l">
              <a:lnSpc>
                <a:spcPct val="132000"/>
              </a:lnSpc>
            </a:pPr>
            <a:r>
              <a:rPr sz="1300" b="0" i="0">
                <a:solidFill>
                  <a:srgbClr val="000000"/>
                </a:solidFill>
                <a:latin typeface="Ubuntu"/>
              </a:rPr>
              <a:t>- num_comp fija cuántas componentes calcular; id = 'pca' nos deja identificar este paso para inspeccionarlo con tidy().</a:t>
            </a:r>
          </a:p>
          <a:p>
            <a:pPr algn="l">
              <a:lnSpc>
                <a:spcPct val="132000"/>
              </a:lnSpc>
            </a:pPr>
            <a:r>
              <a:rPr sz="1300" b="0" i="0">
                <a:solidFill>
                  <a:srgbClr val="000000"/>
                </a:solidFill>
                <a:latin typeface="Ubuntu"/>
              </a:rPr>
              <a:t>- Tras prep(), bake() devolvería las coordenadas (scores) PC01, PC02, ...</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tidy(type = "variance")</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Extrae la varianza explicada por cada componente: el insumo del scree plot.</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varianza &lt;- tidy(pca_prep, id = "pca",</a:t>
            </a:r>
          </a:p>
          <a:p>
            <a:pPr algn="l">
              <a:lnSpc>
                <a:spcPct val="108000"/>
              </a:lnSpc>
            </a:pPr>
            <a:r>
              <a:rPr sz="1200">
                <a:solidFill>
                  <a:srgbClr val="EAEDF0"/>
                </a:solidFill>
                <a:latin typeface="Menlo"/>
              </a:rPr>
              <a:t>                 type = "variance")</a:t>
            </a:r>
          </a:p>
          <a:p>
            <a:pPr algn="l">
              <a:lnSpc>
                <a:spcPct val="108000"/>
              </a:lnSpc>
            </a:pPr>
            <a:r>
              <a:rPr sz="1200">
                <a:solidFill>
                  <a:srgbClr val="EAEDF0"/>
                </a:solidFill>
                <a:latin typeface="Menlo"/>
              </a:rPr>
              <a:t> </a:t>
            </a:r>
          </a:p>
          <a:p>
            <a:pPr algn="l">
              <a:lnSpc>
                <a:spcPct val="108000"/>
              </a:lnSpc>
            </a:pPr>
            <a:r>
              <a:rPr sz="1200">
                <a:solidFill>
                  <a:srgbClr val="8CA68C"/>
                </a:solidFill>
                <a:latin typeface="Menlo"/>
              </a:rPr>
              <a:t># Filtramos "percent variance" y</a:t>
            </a:r>
          </a:p>
          <a:p>
            <a:pPr algn="l">
              <a:lnSpc>
                <a:spcPct val="108000"/>
              </a:lnSpc>
            </a:pPr>
            <a:r>
              <a:rPr sz="1200">
                <a:solidFill>
                  <a:srgbClr val="8CA68C"/>
                </a:solidFill>
                <a:latin typeface="Menlo"/>
              </a:rPr>
              <a:t># "cumulative percent variance" para graficar</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tidy() 'ordena' la información interna de un objeto en un tibble.</a:t>
            </a:r>
          </a:p>
          <a:p>
            <a:pPr algn="l">
              <a:lnSpc>
                <a:spcPct val="132000"/>
              </a:lnSpc>
            </a:pPr>
            <a:r>
              <a:rPr sz="1300" b="0" i="0">
                <a:solidFill>
                  <a:srgbClr val="000000"/>
                </a:solidFill>
                <a:latin typeface="Ubuntu"/>
              </a:rPr>
              <a:t>- Con type = 'variance' devuelve, por componente, la varianza, el % y el % acumulado.</a:t>
            </a:r>
          </a:p>
          <a:p>
            <a:pPr algn="l">
              <a:lnSpc>
                <a:spcPct val="132000"/>
              </a:lnSpc>
            </a:pPr>
            <a:r>
              <a:rPr sz="1300" b="0" i="0">
                <a:solidFill>
                  <a:srgbClr val="000000"/>
                </a:solidFill>
                <a:latin typeface="Ubuntu"/>
              </a:rPr>
              <a:t>- Con eso hacemos el scree plot (barras = % por componente; línea = acumulado) y decidimos cuántas componentes conservar.</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tidy(type = "coef")</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Extrae las CARGAS: cuánto pesa cada variable original en cada componente. Así interpretamos qué significa cada eje.</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cargas &lt;- tidy(pca_prep, id = "pca",</a:t>
            </a:r>
          </a:p>
          <a:p>
            <a:pPr algn="l">
              <a:lnSpc>
                <a:spcPct val="108000"/>
              </a:lnSpc>
            </a:pPr>
            <a:r>
              <a:rPr sz="1200">
                <a:solidFill>
                  <a:srgbClr val="EAEDF0"/>
                </a:solidFill>
                <a:latin typeface="Menlo"/>
              </a:rPr>
              <a:t>               type = "coef") %&gt;%</a:t>
            </a:r>
          </a:p>
          <a:p>
            <a:pPr algn="l">
              <a:lnSpc>
                <a:spcPct val="108000"/>
              </a:lnSpc>
            </a:pPr>
            <a:r>
              <a:rPr sz="1200">
                <a:solidFill>
                  <a:srgbClr val="EAEDF0"/>
                </a:solidFill>
                <a:latin typeface="Menlo"/>
              </a:rPr>
              <a:t>  filter(component %in% c("PC1", "PC2"))</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Las cargas (loadings) son los pesos φ de cada variable en cada componente.</a:t>
            </a:r>
          </a:p>
          <a:p>
            <a:pPr algn="l">
              <a:lnSpc>
                <a:spcPct val="132000"/>
              </a:lnSpc>
            </a:pPr>
            <a:r>
              <a:rPr sz="1300" b="0" i="0">
                <a:solidFill>
                  <a:srgbClr val="000000"/>
                </a:solidFill>
                <a:latin typeface="Ubuntu"/>
              </a:rPr>
              <a:t>- Variables con carga grande (en valor absoluto) son las que DEFINEN el eje; el signo indica la dirección.</a:t>
            </a:r>
          </a:p>
          <a:p>
            <a:pPr algn="l">
              <a:lnSpc>
                <a:spcPct val="132000"/>
              </a:lnSpc>
            </a:pPr>
            <a:r>
              <a:rPr sz="1300" b="0" i="0">
                <a:solidFill>
                  <a:srgbClr val="000000"/>
                </a:solidFill>
                <a:latin typeface="Ubuntu"/>
              </a:rPr>
              <a:t>- Leerlas es el paso de INTERPRETACIÓN: p. ej. 'PC1 = eje de desarrollo', 'PC2 = servicios vs. primario'.</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k_means() + set_engine()</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Declara el modelo de k-means. num_clusters = tune() deja k por elegir; nstart = 25 lo hace robusto.</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km_spec &lt;- k_means(num_clusters = tune()) %&gt;%</a:t>
            </a:r>
          </a:p>
          <a:p>
            <a:pPr algn="l">
              <a:lnSpc>
                <a:spcPct val="108000"/>
              </a:lnSpc>
            </a:pPr>
            <a:r>
              <a:rPr sz="1200">
                <a:solidFill>
                  <a:srgbClr val="EAEDF0"/>
                </a:solidFill>
                <a:latin typeface="Menlo"/>
              </a:rPr>
              <a:t>  set_engine("stats", nstart = 25)</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k_means() es de tidyclust: define el modelo igual que linear_reg() o knn definen los suyos.</a:t>
            </a:r>
          </a:p>
          <a:p>
            <a:pPr algn="l">
              <a:lnSpc>
                <a:spcPct val="132000"/>
              </a:lnSpc>
            </a:pPr>
            <a:r>
              <a:rPr sz="1300" b="0" i="0">
                <a:solidFill>
                  <a:srgbClr val="000000"/>
                </a:solidFill>
                <a:latin typeface="Ubuntu"/>
              </a:rPr>
              <a:t>- num_clusters = tune() es un 'hueco' que llenaremos probando varios k.</a:t>
            </a:r>
          </a:p>
          <a:p>
            <a:pPr algn="l">
              <a:lnSpc>
                <a:spcPct val="132000"/>
              </a:lnSpc>
            </a:pPr>
            <a:r>
              <a:rPr sz="1300" b="0" i="0">
                <a:solidFill>
                  <a:srgbClr val="000000"/>
                </a:solidFill>
                <a:latin typeface="Ubuntu"/>
              </a:rPr>
              <a:t>- nstart = 25 corre k-means con 25 arranques aleatorios y se queda con el mejor: evita óptimos locales (con el valor por defecto, 1, k-means puede confundir los grupos).</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workflow()</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Une la receta (preprocesamiento) y el modelo en un solo objeto que se ajusta de una vez.</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wf_km &lt;- workflow() %&gt;%</a:t>
            </a:r>
          </a:p>
          <a:p>
            <a:pPr algn="l">
              <a:lnSpc>
                <a:spcPct val="108000"/>
              </a:lnSpc>
            </a:pPr>
            <a:r>
              <a:rPr sz="1200">
                <a:solidFill>
                  <a:srgbClr val="EAEDF0"/>
                </a:solidFill>
                <a:latin typeface="Menlo"/>
              </a:rPr>
              <a:t>  add_recipe(receta_clust) %&gt;%</a:t>
            </a:r>
          </a:p>
          <a:p>
            <a:pPr algn="l">
              <a:lnSpc>
                <a:spcPct val="108000"/>
              </a:lnSpc>
            </a:pPr>
            <a:r>
              <a:rPr sz="1200">
                <a:solidFill>
                  <a:srgbClr val="EAEDF0"/>
                </a:solidFill>
                <a:latin typeface="Menlo"/>
              </a:rPr>
              <a:t>  add_model(km_spec)</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El workflow encapsula 'preparar + modelar' como una sola unidad, igual que en los modelos supervisados que ya vimos.</a:t>
            </a:r>
          </a:p>
          <a:p>
            <a:pPr algn="l">
              <a:lnSpc>
                <a:spcPct val="132000"/>
              </a:lnSpc>
            </a:pPr>
            <a:r>
              <a:rPr sz="1300" b="0" i="0">
                <a:solidFill>
                  <a:srgbClr val="000000"/>
                </a:solidFill>
                <a:latin typeface="Ubuntu"/>
              </a:rPr>
              <a:t>- receta_clust normaliza (sin PCA): agrupamos sobre las variables estandarizadas.</a:t>
            </a:r>
          </a:p>
          <a:p>
            <a:pPr algn="l">
              <a:lnSpc>
                <a:spcPct val="132000"/>
              </a:lnSpc>
            </a:pPr>
            <a:r>
              <a:rPr sz="1300" b="0" i="0">
                <a:solidFill>
                  <a:srgbClr val="000000"/>
                </a:solidFill>
                <a:latin typeface="Ubuntu"/>
              </a:rPr>
              <a:t>- Ventaja: el mismo preprocesamiento se aplica de forma consistente al afinar y al ajustar final.</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vfold_cv() + cluster_metric_set()</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Preparamos el remuestreo (validación cruzada) y las métricas con que evaluaremos cada k.</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set.seed(123)</a:t>
            </a:r>
          </a:p>
          <a:p>
            <a:pPr algn="l">
              <a:lnSpc>
                <a:spcPct val="108000"/>
              </a:lnSpc>
            </a:pPr>
            <a:r>
              <a:rPr sz="1200">
                <a:solidFill>
                  <a:srgbClr val="EAEDF0"/>
                </a:solidFill>
                <a:latin typeface="Menlo"/>
              </a:rPr>
              <a:t>folds &lt;- vfold_cv(apostadores, v = 5)</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metricas_clust &lt;- cluster_metric_set(</a:t>
            </a:r>
          </a:p>
          <a:p>
            <a:pPr algn="l">
              <a:lnSpc>
                <a:spcPct val="108000"/>
              </a:lnSpc>
            </a:pPr>
            <a:r>
              <a:rPr sz="1200">
                <a:solidFill>
                  <a:srgbClr val="EAEDF0"/>
                </a:solidFill>
                <a:latin typeface="Menlo"/>
              </a:rPr>
              <a:t>  sse_within_total, silhouette_avg)</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vfold_cv() parte los datos en 5 'pliegues' para estimar las métricas de forma estable (no en un solo corte).</a:t>
            </a:r>
          </a:p>
          <a:p>
            <a:pPr algn="l">
              <a:lnSpc>
                <a:spcPct val="132000"/>
              </a:lnSpc>
            </a:pPr>
            <a:r>
              <a:rPr sz="1300" b="0" i="0">
                <a:solidFill>
                  <a:srgbClr val="000000"/>
                </a:solidFill>
                <a:latin typeface="Ubuntu"/>
              </a:rPr>
              <a:t>- cluster_metric_set() agrupa las métricas de clustering: sse_within_total (inercia, para el CODO) y silhouette_avg (la SILUETA, más alta = mejor).</a:t>
            </a:r>
          </a:p>
          <a:p>
            <a:pPr algn="l">
              <a:lnSpc>
                <a:spcPct val="132000"/>
              </a:lnSpc>
            </a:pPr>
            <a:r>
              <a:rPr sz="1300" b="0" i="0">
                <a:solidFill>
                  <a:srgbClr val="000000"/>
                </a:solidFill>
                <a:latin typeface="Ubuntu"/>
              </a:rPr>
              <a:t>- set.seed() fija la aleatoriedad para reproducibilidad.</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tune_cluster()</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Prueba todos los valores de k de la rejilla y calcula las métricas para cada uno. Es el equivalente no supervisado de tune_grid().</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rejilla_k &lt;- tibble(num_clusters = 1:8)</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afinado &lt;- tune_cluster(</a:t>
            </a:r>
          </a:p>
          <a:p>
            <a:pPr algn="l">
              <a:lnSpc>
                <a:spcPct val="108000"/>
              </a:lnSpc>
            </a:pPr>
            <a:r>
              <a:rPr sz="1200">
                <a:solidFill>
                  <a:srgbClr val="EAEDF0"/>
                </a:solidFill>
                <a:latin typeface="Menlo"/>
              </a:rPr>
              <a:t>  wf_km, resamples = folds,</a:t>
            </a:r>
          </a:p>
          <a:p>
            <a:pPr algn="l">
              <a:lnSpc>
                <a:spcPct val="108000"/>
              </a:lnSpc>
            </a:pPr>
            <a:r>
              <a:rPr sz="1200">
                <a:solidFill>
                  <a:srgbClr val="EAEDF0"/>
                </a:solidFill>
                <a:latin typeface="Menlo"/>
              </a:rPr>
              <a:t>  grid = rejilla_k, metrics = metricas_clust)</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Recorre k = 1, 2, ..., 8, ajusta k-means en cada pliegue y promedia las métricas.</a:t>
            </a:r>
          </a:p>
          <a:p>
            <a:pPr algn="l">
              <a:lnSpc>
                <a:spcPct val="132000"/>
              </a:lnSpc>
            </a:pPr>
            <a:r>
              <a:rPr sz="1300" b="0" i="0">
                <a:solidFill>
                  <a:srgbClr val="000000"/>
                </a:solidFill>
                <a:latin typeface="Ubuntu"/>
              </a:rPr>
              <a:t>- grid = rejilla con los k a probar; resamples = los pliegues; metrics = el conjunto que definimos.</a:t>
            </a:r>
          </a:p>
          <a:p>
            <a:pPr algn="l">
              <a:lnSpc>
                <a:spcPct val="132000"/>
              </a:lnSpc>
            </a:pPr>
            <a:r>
              <a:rPr sz="1300" b="0" i="0">
                <a:solidFill>
                  <a:srgbClr val="000000"/>
                </a:solidFill>
                <a:latin typeface="Ubuntu"/>
              </a:rPr>
              <a:t>- Su salida no son grupos todavía, sino una TABLA de qué tan bien funciona cada k.</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collect_metrics()</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Recoge las métricas promediadas por k. Con ellas dibujamos el codo y la silueta y elegimos k.</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metricas_k &lt;- collect_metrics(afinado)</a:t>
            </a:r>
          </a:p>
          <a:p>
            <a:pPr algn="l">
              <a:lnSpc>
                <a:spcPct val="108000"/>
              </a:lnSpc>
            </a:pPr>
            <a:r>
              <a:rPr sz="1200">
                <a:solidFill>
                  <a:srgbClr val="EAEDF0"/>
                </a:solidFill>
                <a:latin typeface="Menlo"/>
              </a:rPr>
              <a:t> </a:t>
            </a:r>
          </a:p>
          <a:p>
            <a:pPr algn="l">
              <a:lnSpc>
                <a:spcPct val="108000"/>
              </a:lnSpc>
            </a:pPr>
            <a:r>
              <a:rPr sz="1200">
                <a:solidFill>
                  <a:srgbClr val="8CA68C"/>
                </a:solidFill>
                <a:latin typeface="Menlo"/>
              </a:rPr>
              <a:t># graficamos sse_within_total -&gt; codo</a:t>
            </a:r>
          </a:p>
          <a:p>
            <a:pPr algn="l">
              <a:lnSpc>
                <a:spcPct val="108000"/>
              </a:lnSpc>
            </a:pPr>
            <a:r>
              <a:rPr sz="1200">
                <a:solidFill>
                  <a:srgbClr val="8CA68C"/>
                </a:solidFill>
                <a:latin typeface="Menlo"/>
              </a:rPr>
              <a:t># graficamos silhouette_avg   -&gt; silueta</a:t>
            </a:r>
          </a:p>
          <a:p>
            <a:pPr algn="l">
              <a:lnSpc>
                <a:spcPct val="108000"/>
              </a:lnSpc>
            </a:pPr>
            <a:r>
              <a:rPr sz="1200">
                <a:solidFill>
                  <a:srgbClr val="EAEDF0"/>
                </a:solidFill>
                <a:latin typeface="Menlo"/>
              </a:rPr>
              <a:t>k_elegido &lt;- 4</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Devuelve un tibble con num_clusters, .metric y mean (promedio entre pliegues).</a:t>
            </a:r>
          </a:p>
          <a:p>
            <a:pPr algn="l">
              <a:lnSpc>
                <a:spcPct val="132000"/>
              </a:lnSpc>
            </a:pPr>
            <a:r>
              <a:rPr sz="1300" b="0" i="0">
                <a:solidFill>
                  <a:srgbClr val="000000"/>
                </a:solidFill>
                <a:latin typeface="Ubuntu"/>
              </a:rPr>
              <a:t>- Filtrando por .metric hacemos las dos gráficas de diagnóstico.</a:t>
            </a:r>
          </a:p>
          <a:p>
            <a:pPr algn="l">
              <a:lnSpc>
                <a:spcPct val="132000"/>
              </a:lnSpc>
            </a:pPr>
            <a:r>
              <a:rPr sz="1300" b="0" i="0">
                <a:solidFill>
                  <a:srgbClr val="000000"/>
                </a:solidFill>
                <a:latin typeface="Ubuntu"/>
              </a:rPr>
              <a:t>- En apostadores la silueta sugería k = 2 pero el codo y la interpretación apoyan k = 4: los diagnósticos son guías, decide el sentido sustantivo.</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fit() + extract_cluster_assignment()</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Ajustamos el k-means final con el k elegido y obtenemos a qué grupo pertenece cada observación.</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860803"/>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641347"/>
          </a:xfrm>
          <a:prstGeom prst="rect">
            <a:avLst/>
          </a:prstGeom>
          <a:noFill/>
        </p:spPr>
        <p:txBody>
          <a:bodyPr wrap="none" lIns="0" rIns="0" tIns="0" bIns="0">
            <a:spAutoFit/>
          </a:bodyPr>
          <a:lstStyle/>
          <a:p>
            <a:pPr algn="l">
              <a:lnSpc>
                <a:spcPct val="108000"/>
              </a:lnSpc>
            </a:pPr>
            <a:r>
              <a:rPr sz="1200">
                <a:solidFill>
                  <a:srgbClr val="EAEDF0"/>
                </a:solidFill>
                <a:latin typeface="Menlo"/>
              </a:rPr>
              <a:t>km_final &lt;- k_means(num_clusters = k_elegido) %&gt;%</a:t>
            </a:r>
          </a:p>
          <a:p>
            <a:pPr algn="l">
              <a:lnSpc>
                <a:spcPct val="108000"/>
              </a:lnSpc>
            </a:pPr>
            <a:r>
              <a:rPr sz="1200">
                <a:solidFill>
                  <a:srgbClr val="EAEDF0"/>
                </a:solidFill>
                <a:latin typeface="Menlo"/>
              </a:rPr>
              <a:t>  set_engine("stats", nstart = 25)</a:t>
            </a:r>
          </a:p>
          <a:p>
            <a:pPr algn="l">
              <a:lnSpc>
                <a:spcPct val="108000"/>
              </a:lnSpc>
            </a:pPr>
            <a:r>
              <a:rPr sz="1200">
                <a:solidFill>
                  <a:srgbClr val="EAEDF0"/>
                </a:solidFill>
                <a:latin typeface="Menlo"/>
              </a:rPr>
              <a:t>wf_final &lt;- workflow() %&gt;%</a:t>
            </a:r>
          </a:p>
          <a:p>
            <a:pPr algn="l">
              <a:lnSpc>
                <a:spcPct val="108000"/>
              </a:lnSpc>
            </a:pPr>
            <a:r>
              <a:rPr sz="1200">
                <a:solidFill>
                  <a:srgbClr val="EAEDF0"/>
                </a:solidFill>
                <a:latin typeface="Menlo"/>
              </a:rPr>
              <a:t>  add_recipe(receta_clust) %&gt;% add_model(km_final)</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ajuste_km   &lt;- fit(wf_final, data = apostadores)</a:t>
            </a:r>
          </a:p>
          <a:p>
            <a:pPr algn="l">
              <a:lnSpc>
                <a:spcPct val="108000"/>
              </a:lnSpc>
            </a:pPr>
            <a:r>
              <a:rPr sz="1200">
                <a:solidFill>
                  <a:srgbClr val="EAEDF0"/>
                </a:solidFill>
                <a:latin typeface="Menlo"/>
              </a:rPr>
              <a:t>asignacion  &lt;- extract_cluster_assignment(ajuste_km)</a:t>
            </a:r>
          </a:p>
        </p:txBody>
      </p:sp>
      <p:sp>
        <p:nvSpPr>
          <p:cNvPr id="9" name="Rectangle 8"/>
          <p:cNvSpPr/>
          <p:nvPr/>
        </p:nvSpPr>
        <p:spPr>
          <a:xfrm>
            <a:off x="274320" y="4329683"/>
            <a:ext cx="8595360" cy="2071116"/>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421123"/>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805171"/>
            <a:ext cx="8302752" cy="1504188"/>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fit() ajusta el workflow sobre TODOS los datos con el k decidido.</a:t>
            </a:r>
          </a:p>
          <a:p>
            <a:pPr algn="l">
              <a:lnSpc>
                <a:spcPct val="132000"/>
              </a:lnSpc>
            </a:pPr>
            <a:r>
              <a:rPr sz="1300" b="0" i="0">
                <a:solidFill>
                  <a:srgbClr val="000000"/>
                </a:solidFill>
                <a:latin typeface="Ubuntu"/>
              </a:rPr>
              <a:t>- extract_cluster_assignment() devuelve una columna .cluster con el grupo de cada fila, en el mismo orden que los datos.</a:t>
            </a:r>
          </a:p>
          <a:p>
            <a:pPr algn="l">
              <a:lnSpc>
                <a:spcPct val="132000"/>
              </a:lnSpc>
            </a:pPr>
            <a:r>
              <a:rPr sz="1300" b="0" i="0">
                <a:solidFill>
                  <a:srgbClr val="000000"/>
                </a:solidFill>
                <a:latin typeface="Ubuntu"/>
              </a:rPr>
              <a:t>- Con bind_cols() la pegamos a la tabla original para perfilar.</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extract_centroids()</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Devuelve el centroide (promedio) de cada grupo en el espacio normalizado: dice qué eje domina cada cluster.</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extract_centroids(ajuste_km)</a:t>
            </a:r>
          </a:p>
          <a:p>
            <a:pPr algn="l">
              <a:lnSpc>
                <a:spcPct val="108000"/>
              </a:lnSpc>
            </a:pPr>
            <a:r>
              <a:rPr sz="1200">
                <a:solidFill>
                  <a:srgbClr val="EAEDF0"/>
                </a:solidFill>
                <a:latin typeface="Menlo"/>
              </a:rPr>
              <a:t> </a:t>
            </a:r>
          </a:p>
          <a:p>
            <a:pPr algn="l">
              <a:lnSpc>
                <a:spcPct val="108000"/>
              </a:lnSpc>
            </a:pPr>
            <a:r>
              <a:rPr sz="1200">
                <a:solidFill>
                  <a:srgbClr val="8CA68C"/>
                </a:solidFill>
                <a:latin typeface="Menlo"/>
              </a:rPr>
              <a:t># Valores positivos  -&gt; por encima del promedio</a:t>
            </a:r>
          </a:p>
          <a:p>
            <a:pPr algn="l">
              <a:lnSpc>
                <a:spcPct val="108000"/>
              </a:lnSpc>
            </a:pPr>
            <a:r>
              <a:rPr sz="1200">
                <a:solidFill>
                  <a:srgbClr val="8CA68C"/>
                </a:solidFill>
                <a:latin typeface="Menlo"/>
              </a:rPr>
              <a:t># Valores negativos  -&gt; por debajo del promedio</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Como los centroides están en z-score, un valor positivo en una variable significa 'este grupo está por encima del promedio en esa variable'.</a:t>
            </a:r>
          </a:p>
          <a:p>
            <a:pPr algn="l">
              <a:lnSpc>
                <a:spcPct val="132000"/>
              </a:lnSpc>
            </a:pPr>
            <a:r>
              <a:rPr sz="1300" b="0" i="0">
                <a:solidFill>
                  <a:srgbClr val="000000"/>
                </a:solidFill>
                <a:latin typeface="Ubuntu"/>
              </a:rPr>
              <a:t>- Es una primera lectura rápida del carácter de cada grupo, antes de perfilar en unidades originales.</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bind_cols() + group_by() + summarise()</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Perfilamos: pegamos la etiqueta de grupo y promediamos las variables ORIGINALES por cluster para interpretarlas.</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860803"/>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641347"/>
          </a:xfrm>
          <a:prstGeom prst="rect">
            <a:avLst/>
          </a:prstGeom>
          <a:noFill/>
        </p:spPr>
        <p:txBody>
          <a:bodyPr wrap="none" lIns="0" rIns="0" tIns="0" bIns="0">
            <a:spAutoFit/>
          </a:bodyPr>
          <a:lstStyle/>
          <a:p>
            <a:pPr algn="l">
              <a:lnSpc>
                <a:spcPct val="108000"/>
              </a:lnSpc>
            </a:pPr>
            <a:r>
              <a:rPr sz="1200">
                <a:solidFill>
                  <a:srgbClr val="EAEDF0"/>
                </a:solidFill>
                <a:latin typeface="Menlo"/>
              </a:rPr>
              <a:t>apostadores_grupos &lt;- apostadores %&gt;%</a:t>
            </a:r>
          </a:p>
          <a:p>
            <a:pPr algn="l">
              <a:lnSpc>
                <a:spcPct val="108000"/>
              </a:lnSpc>
            </a:pPr>
            <a:r>
              <a:rPr sz="1200">
                <a:solidFill>
                  <a:srgbClr val="EAEDF0"/>
                </a:solidFill>
                <a:latin typeface="Menlo"/>
              </a:rPr>
              <a:t>  bind_cols(cluster = asignacion$.cluster)</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perfil &lt;- apostadores_grupos %&gt;%</a:t>
            </a:r>
          </a:p>
          <a:p>
            <a:pPr algn="l">
              <a:lnSpc>
                <a:spcPct val="108000"/>
              </a:lnSpc>
            </a:pPr>
            <a:r>
              <a:rPr sz="1200">
                <a:solidFill>
                  <a:srgbClr val="EAEDF0"/>
                </a:solidFill>
                <a:latin typeface="Menlo"/>
              </a:rPr>
              <a:t>  group_by(cluster) %&gt;%</a:t>
            </a:r>
          </a:p>
          <a:p>
            <a:pPr algn="l">
              <a:lnSpc>
                <a:spcPct val="108000"/>
              </a:lnSpc>
            </a:pPr>
            <a:r>
              <a:rPr sz="1200">
                <a:solidFill>
                  <a:srgbClr val="EAEDF0"/>
                </a:solidFill>
                <a:latin typeface="Menlo"/>
              </a:rPr>
              <a:t>  summarise(across(where(is.numeric), mean),</a:t>
            </a:r>
          </a:p>
          <a:p>
            <a:pPr algn="l">
              <a:lnSpc>
                <a:spcPct val="108000"/>
              </a:lnSpc>
            </a:pPr>
            <a:r>
              <a:rPr sz="1200">
                <a:solidFill>
                  <a:srgbClr val="EAEDF0"/>
                </a:solidFill>
                <a:latin typeface="Menlo"/>
              </a:rPr>
              <a:t>            n = n())</a:t>
            </a:r>
          </a:p>
        </p:txBody>
      </p:sp>
      <p:sp>
        <p:nvSpPr>
          <p:cNvPr id="9" name="Rectangle 8"/>
          <p:cNvSpPr/>
          <p:nvPr/>
        </p:nvSpPr>
        <p:spPr>
          <a:xfrm>
            <a:off x="274320" y="4329683"/>
            <a:ext cx="8595360" cy="2071116"/>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421123"/>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805171"/>
            <a:ext cx="8302752" cy="1504188"/>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Usamos las variables en sus UNIDADES reales (pesos, %, sesiones) para que el perfil se lea fácil.</a:t>
            </a:r>
          </a:p>
          <a:p>
            <a:pPr algn="l">
              <a:lnSpc>
                <a:spcPct val="132000"/>
              </a:lnSpc>
            </a:pPr>
            <a:r>
              <a:rPr sz="1300" b="0" i="0">
                <a:solidFill>
                  <a:srgbClr val="000000"/>
                </a:solidFill>
                <a:latin typeface="Ubuntu"/>
              </a:rPr>
              <a:t>- group_by() + summarise() calculan el promedio de cada variable por grupo: la tabla con la que NOMBRAMOS cada cluster.</a:t>
            </a:r>
          </a:p>
          <a:p>
            <a:pPr algn="l">
              <a:lnSpc>
                <a:spcPct val="132000"/>
              </a:lnSpc>
            </a:pPr>
            <a:r>
              <a:rPr sz="1300" b="0" i="0">
                <a:solidFill>
                  <a:srgbClr val="000000"/>
                </a:solidFill>
                <a:latin typeface="Ubuntu"/>
              </a:rPr>
              <a:t>- Este es el paso que convierte 'Cluster_1' en 'apostador en riesgo'.</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hier_clust()</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Clustering jerárquico: NO fija k de antemano; construye un árbol (dendrograma) que luego se corta. Sirve para comparar.</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860803"/>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641347"/>
          </a:xfrm>
          <a:prstGeom prst="rect">
            <a:avLst/>
          </a:prstGeom>
          <a:noFill/>
        </p:spPr>
        <p:txBody>
          <a:bodyPr wrap="none" lIns="0" rIns="0" tIns="0" bIns="0">
            <a:spAutoFit/>
          </a:bodyPr>
          <a:lstStyle/>
          <a:p>
            <a:pPr algn="l">
              <a:lnSpc>
                <a:spcPct val="108000"/>
              </a:lnSpc>
            </a:pPr>
            <a:r>
              <a:rPr sz="1200">
                <a:solidFill>
                  <a:srgbClr val="EAEDF0"/>
                </a:solidFill>
                <a:latin typeface="Menlo"/>
              </a:rPr>
              <a:t>hc_spec &lt;- hier_clust(num_clusters = k_elegido,</a:t>
            </a:r>
          </a:p>
          <a:p>
            <a:pPr algn="l">
              <a:lnSpc>
                <a:spcPct val="108000"/>
              </a:lnSpc>
            </a:pPr>
            <a:r>
              <a:rPr sz="1200">
                <a:solidFill>
                  <a:srgbClr val="EAEDF0"/>
                </a:solidFill>
                <a:latin typeface="Menlo"/>
              </a:rPr>
              <a:t>            linkage_method = "ward.D2") %&gt;%</a:t>
            </a:r>
          </a:p>
          <a:p>
            <a:pPr algn="l">
              <a:lnSpc>
                <a:spcPct val="108000"/>
              </a:lnSpc>
            </a:pPr>
            <a:r>
              <a:rPr sz="1200">
                <a:solidFill>
                  <a:srgbClr val="EAEDF0"/>
                </a:solidFill>
                <a:latin typeface="Menlo"/>
              </a:rPr>
              <a:t>  set_engine("stats")</a:t>
            </a:r>
          </a:p>
          <a:p>
            <a:pPr algn="l">
              <a:lnSpc>
                <a:spcPct val="108000"/>
              </a:lnSpc>
            </a:pPr>
            <a:r>
              <a:rPr sz="1200">
                <a:solidFill>
                  <a:srgbClr val="EAEDF0"/>
                </a:solidFill>
                <a:latin typeface="Menlo"/>
              </a:rPr>
              <a:t> </a:t>
            </a:r>
          </a:p>
          <a:p>
            <a:pPr algn="l">
              <a:lnSpc>
                <a:spcPct val="108000"/>
              </a:lnSpc>
            </a:pPr>
            <a:r>
              <a:rPr sz="1200">
                <a:solidFill>
                  <a:srgbClr val="EAEDF0"/>
                </a:solidFill>
                <a:latin typeface="Menlo"/>
              </a:rPr>
              <a:t>ajuste_hc &lt;- fit(workflow() %&gt;%</a:t>
            </a:r>
          </a:p>
          <a:p>
            <a:pPr algn="l">
              <a:lnSpc>
                <a:spcPct val="108000"/>
              </a:lnSpc>
            </a:pPr>
            <a:r>
              <a:rPr sz="1200">
                <a:solidFill>
                  <a:srgbClr val="EAEDF0"/>
                </a:solidFill>
                <a:latin typeface="Menlo"/>
              </a:rPr>
              <a:t>  add_recipe(receta_clust) %&gt;%</a:t>
            </a:r>
          </a:p>
          <a:p>
            <a:pPr algn="l">
              <a:lnSpc>
                <a:spcPct val="108000"/>
              </a:lnSpc>
            </a:pPr>
            <a:r>
              <a:rPr sz="1200">
                <a:solidFill>
                  <a:srgbClr val="EAEDF0"/>
                </a:solidFill>
                <a:latin typeface="Menlo"/>
              </a:rPr>
              <a:t>  add_model(hc_spec), data = apostadores)</a:t>
            </a:r>
          </a:p>
        </p:txBody>
      </p:sp>
      <p:sp>
        <p:nvSpPr>
          <p:cNvPr id="9" name="Rectangle 8"/>
          <p:cNvSpPr/>
          <p:nvPr/>
        </p:nvSpPr>
        <p:spPr>
          <a:xfrm>
            <a:off x="274320" y="4329683"/>
            <a:ext cx="8595360" cy="2071116"/>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421123"/>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805171"/>
            <a:ext cx="8302752" cy="1504188"/>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También de tidyclust, con la misma gramática. linkage_method = 'ward.D2' forma grupos compactos, comparables con k-means.</a:t>
            </a:r>
          </a:p>
          <a:p>
            <a:pPr algn="l">
              <a:lnSpc>
                <a:spcPct val="132000"/>
              </a:lnSpc>
            </a:pPr>
            <a:r>
              <a:rPr sz="1300" b="0" i="0">
                <a:solidFill>
                  <a:srgbClr val="000000"/>
                </a:solidFill>
                <a:latin typeface="Ubuntu"/>
              </a:rPr>
              <a:t>- Comparamos ambos con table(kmeans, jerarquico): las etiquetas son arbitrarias, así que buscamos que cada grupo de un método caiga mayormente en UN solo grupo del otro. Si coinciden, hay confianza.</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548640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5212080" cy="658368"/>
          </a:xfrm>
          <a:prstGeom prst="rect">
            <a:avLst/>
          </a:prstGeom>
          <a:noFill/>
        </p:spPr>
        <p:txBody>
          <a:bodyPr wrap="square" lIns="0" rIns="0" tIns="0" bIns="0" anchor="ctr">
            <a:spAutoFit/>
          </a:bodyPr>
          <a:lstStyle/>
          <a:p>
            <a:pPr algn="l"/>
            <a:r>
              <a:rPr sz="2200" b="1" i="0">
                <a:solidFill>
                  <a:srgbClr val="FFFFFF"/>
                </a:solidFill>
                <a:latin typeface="Menlo"/>
              </a:rPr>
              <a:t>ggplot() para los diagnósticos</a:t>
            </a:r>
          </a:p>
        </p:txBody>
      </p:sp>
      <p:sp>
        <p:nvSpPr>
          <p:cNvPr id="5" name="TextBox 4"/>
          <p:cNvSpPr txBox="1"/>
          <p:nvPr/>
        </p:nvSpPr>
        <p:spPr>
          <a:xfrm>
            <a:off x="365760" y="1078992"/>
            <a:ext cx="8412480" cy="566928"/>
          </a:xfrm>
          <a:prstGeom prst="rect">
            <a:avLst/>
          </a:prstGeom>
          <a:noFill/>
        </p:spPr>
        <p:txBody>
          <a:bodyPr wrap="square" lIns="0" rIns="0" tIns="0" bIns="0">
            <a:spAutoFit/>
          </a:bodyPr>
          <a:lstStyle/>
          <a:p>
            <a:pPr algn="l">
              <a:lnSpc>
                <a:spcPct val="120000"/>
              </a:lnSpc>
            </a:pPr>
            <a:r>
              <a:rPr sz="1500" b="0" i="1">
                <a:solidFill>
                  <a:srgbClr val="1E4C7D"/>
                </a:solidFill>
                <a:latin typeface="Ubuntu"/>
              </a:rPr>
              <a:t>Todas las gráficas (scree, cargas, codo, silueta, proyección) se hacen con ggplot2 a partir de los tibbles que extrajimos.</a:t>
            </a:r>
          </a:p>
        </p:txBody>
      </p:sp>
      <p:sp>
        <p:nvSpPr>
          <p:cNvPr id="6" name="TextBox 5"/>
          <p:cNvSpPr txBox="1"/>
          <p:nvPr/>
        </p:nvSpPr>
        <p:spPr>
          <a:xfrm>
            <a:off x="274320" y="1673352"/>
            <a:ext cx="8595360" cy="256032"/>
          </a:xfrm>
          <a:prstGeom prst="rect">
            <a:avLst/>
          </a:prstGeom>
          <a:noFill/>
        </p:spPr>
        <p:txBody>
          <a:bodyPr wrap="square" lIns="0" rIns="0" tIns="0" bIns="0">
            <a:spAutoFit/>
          </a:bodyPr>
          <a:lstStyle/>
          <a:p>
            <a:pPr algn="l"/>
            <a:r>
              <a:rPr sz="1100" b="1" i="0">
                <a:solidFill>
                  <a:srgbClr val="1E4C7D"/>
                </a:solidFill>
                <a:latin typeface="Ubuntu"/>
              </a:rPr>
              <a:t>Uso en el ejercicio</a:t>
            </a:r>
          </a:p>
        </p:txBody>
      </p:sp>
      <p:sp>
        <p:nvSpPr>
          <p:cNvPr id="7" name="Rectangle 6"/>
          <p:cNvSpPr/>
          <p:nvPr/>
        </p:nvSpPr>
        <p:spPr>
          <a:xfrm>
            <a:off x="274320" y="1965960"/>
            <a:ext cx="8595360" cy="1554480"/>
          </a:xfrm>
          <a:prstGeom prst="rect">
            <a:avLst/>
          </a:prstGeom>
          <a:solidFill>
            <a:srgbClr val="1E2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75688"/>
            <a:ext cx="8266176" cy="1335024"/>
          </a:xfrm>
          <a:prstGeom prst="rect">
            <a:avLst/>
          </a:prstGeom>
          <a:noFill/>
        </p:spPr>
        <p:txBody>
          <a:bodyPr wrap="none" lIns="0" rIns="0" tIns="0" bIns="0">
            <a:spAutoFit/>
          </a:bodyPr>
          <a:lstStyle/>
          <a:p>
            <a:pPr algn="l">
              <a:lnSpc>
                <a:spcPct val="108000"/>
              </a:lnSpc>
            </a:pPr>
            <a:r>
              <a:rPr sz="1200">
                <a:solidFill>
                  <a:srgbClr val="EAEDF0"/>
                </a:solidFill>
                <a:latin typeface="Menlo"/>
              </a:rPr>
              <a:t>metricas_k %&gt;%</a:t>
            </a:r>
          </a:p>
          <a:p>
            <a:pPr algn="l">
              <a:lnSpc>
                <a:spcPct val="108000"/>
              </a:lnSpc>
            </a:pPr>
            <a:r>
              <a:rPr sz="1200">
                <a:solidFill>
                  <a:srgbClr val="EAEDF0"/>
                </a:solidFill>
                <a:latin typeface="Menlo"/>
              </a:rPr>
              <a:t>  filter(.metric == "silhouette_avg",</a:t>
            </a:r>
          </a:p>
          <a:p>
            <a:pPr algn="l">
              <a:lnSpc>
                <a:spcPct val="108000"/>
              </a:lnSpc>
            </a:pPr>
            <a:r>
              <a:rPr sz="1200">
                <a:solidFill>
                  <a:srgbClr val="EAEDF0"/>
                </a:solidFill>
                <a:latin typeface="Menlo"/>
              </a:rPr>
              <a:t>         num_clusters &gt;= 2) %&gt;%</a:t>
            </a:r>
          </a:p>
          <a:p>
            <a:pPr algn="l">
              <a:lnSpc>
                <a:spcPct val="108000"/>
              </a:lnSpc>
            </a:pPr>
            <a:r>
              <a:rPr sz="1200">
                <a:solidFill>
                  <a:srgbClr val="EAEDF0"/>
                </a:solidFill>
                <a:latin typeface="Menlo"/>
              </a:rPr>
              <a:t>  ggplot(aes(num_clusters, mean)) +</a:t>
            </a:r>
          </a:p>
          <a:p>
            <a:pPr algn="l">
              <a:lnSpc>
                <a:spcPct val="108000"/>
              </a:lnSpc>
            </a:pPr>
            <a:r>
              <a:rPr sz="1200">
                <a:solidFill>
                  <a:srgbClr val="EAEDF0"/>
                </a:solidFill>
                <a:latin typeface="Menlo"/>
              </a:rPr>
              <a:t>  geom_line() + geom_point()</a:t>
            </a:r>
          </a:p>
        </p:txBody>
      </p:sp>
      <p:sp>
        <p:nvSpPr>
          <p:cNvPr id="9" name="Rectangle 8"/>
          <p:cNvSpPr/>
          <p:nvPr/>
        </p:nvSpPr>
        <p:spPr>
          <a:xfrm>
            <a:off x="274320" y="4023359"/>
            <a:ext cx="8595360" cy="237744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4114799"/>
            <a:ext cx="8302752" cy="365760"/>
          </a:xfrm>
          <a:prstGeom prst="rect">
            <a:avLst/>
          </a:prstGeom>
          <a:noFill/>
        </p:spPr>
        <p:txBody>
          <a:bodyPr wrap="square" lIns="0" rIns="0" tIns="0" bIns="0">
            <a:spAutoFit/>
          </a:bodyPr>
          <a:lstStyle/>
          <a:p>
            <a:pPr algn="l"/>
            <a:r>
              <a:rPr sz="1500" b="1" i="0">
                <a:solidFill>
                  <a:srgbClr val="1E4C7D"/>
                </a:solidFill>
                <a:latin typeface="Ubuntu"/>
              </a:rPr>
              <a:t>Qué hace</a:t>
            </a:r>
          </a:p>
        </p:txBody>
      </p:sp>
      <p:sp>
        <p:nvSpPr>
          <p:cNvPr id="11" name="TextBox 10"/>
          <p:cNvSpPr txBox="1"/>
          <p:nvPr/>
        </p:nvSpPr>
        <p:spPr>
          <a:xfrm>
            <a:off x="420624" y="4498847"/>
            <a:ext cx="8302752" cy="1810512"/>
          </a:xfrm>
          <a:prstGeom prst="rect">
            <a:avLst/>
          </a:prstGeom>
          <a:noFill/>
        </p:spPr>
        <p:txBody>
          <a:bodyPr wrap="square" lIns="0" rIns="0" tIns="0" bIns="0">
            <a:spAutoFit/>
          </a:bodyPr>
          <a:lstStyle/>
          <a:p>
            <a:pPr algn="l">
              <a:lnSpc>
                <a:spcPct val="132000"/>
              </a:lnSpc>
            </a:pPr>
            <a:r>
              <a:rPr sz="1300" b="0" i="0">
                <a:solidFill>
                  <a:srgbClr val="000000"/>
                </a:solidFill>
                <a:latin typeface="Ubuntu"/>
              </a:rPr>
              <a:t>- Como todo sale en tibbles ordenados (tidy), graficar es directo con ggplot2.</a:t>
            </a:r>
          </a:p>
          <a:p>
            <a:pPr algn="l">
              <a:lnSpc>
                <a:spcPct val="132000"/>
              </a:lnSpc>
            </a:pPr>
            <a:r>
              <a:rPr sz="1300" b="0" i="0">
                <a:solidFill>
                  <a:srgbClr val="000000"/>
                </a:solidFill>
                <a:latin typeface="Ubuntu"/>
              </a:rPr>
              <a:t>- La silueta no se define para k = 1, por eso filtramos num_clusters &gt;= 2.</a:t>
            </a:r>
          </a:p>
          <a:p>
            <a:pPr algn="l">
              <a:lnSpc>
                <a:spcPct val="132000"/>
              </a:lnSpc>
            </a:pPr>
            <a:r>
              <a:rPr sz="1300" b="0" i="0">
                <a:solidFill>
                  <a:srgbClr val="000000"/>
                </a:solidFill>
                <a:latin typeface="Ubuntu"/>
              </a:rPr>
              <a:t>- Mismo patrón para el codo (sse_within_total), el scree (varianza) y la proyección PC1-PC2 coloreada por grupo.</a:t>
            </a:r>
          </a:p>
        </p:txBody>
      </p:sp>
      <p:sp>
        <p:nvSpPr>
          <p:cNvPr id="12" name="TextBox 11"/>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En resumen: el flujo en tidymodels</a:t>
            </a:r>
          </a:p>
        </p:txBody>
      </p:sp>
      <p:sp>
        <p:nvSpPr>
          <p:cNvPr id="5" name="Rectangle 4"/>
          <p:cNvSpPr/>
          <p:nvPr/>
        </p:nvSpPr>
        <p:spPr>
          <a:xfrm>
            <a:off x="274320" y="1188720"/>
            <a:ext cx="8595360" cy="493776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280160"/>
            <a:ext cx="8302752" cy="365760"/>
          </a:xfrm>
          <a:prstGeom prst="rect">
            <a:avLst/>
          </a:prstGeom>
          <a:noFill/>
        </p:spPr>
        <p:txBody>
          <a:bodyPr wrap="square" lIns="0" rIns="0" tIns="0" bIns="0">
            <a:spAutoFit/>
          </a:bodyPr>
          <a:lstStyle/>
          <a:p>
            <a:pPr algn="l"/>
            <a:r>
              <a:rPr sz="1800" b="1" i="0">
                <a:solidFill>
                  <a:srgbClr val="1A7A3A"/>
                </a:solidFill>
                <a:latin typeface="Ubuntu"/>
              </a:rPr>
              <a:t>Ideas clave para llevarte</a:t>
            </a:r>
          </a:p>
        </p:txBody>
      </p:sp>
      <p:sp>
        <p:nvSpPr>
          <p:cNvPr id="7" name="TextBox 6"/>
          <p:cNvSpPr txBox="1"/>
          <p:nvPr/>
        </p:nvSpPr>
        <p:spPr>
          <a:xfrm>
            <a:off x="420624" y="1664208"/>
            <a:ext cx="8302752" cy="4370832"/>
          </a:xfrm>
          <a:prstGeom prst="rect">
            <a:avLst/>
          </a:prstGeom>
          <a:noFill/>
        </p:spPr>
        <p:txBody>
          <a:bodyPr wrap="square" lIns="0" rIns="0" tIns="0" bIns="0">
            <a:spAutoFit/>
          </a:bodyPr>
          <a:lstStyle/>
          <a:p>
            <a:pPr algn="l">
              <a:lnSpc>
                <a:spcPct val="150000"/>
              </a:lnSpc>
            </a:pPr>
            <a:r>
              <a:rPr sz="1500" b="0" i="0">
                <a:solidFill>
                  <a:srgbClr val="000000"/>
                </a:solidFill>
                <a:latin typeface="Ubuntu"/>
              </a:rPr>
              <a:t>• recipe() + update_role() + step_impute_median() + step_normalize(): preparar (¡siempre normalizar!).</a:t>
            </a:r>
          </a:p>
          <a:p>
            <a:pPr algn="l">
              <a:lnSpc>
                <a:spcPct val="150000"/>
              </a:lnSpc>
            </a:pPr>
            <a:r>
              <a:rPr sz="1500" b="0" i="0">
                <a:solidFill>
                  <a:srgbClr val="000000"/>
                </a:solidFill>
                <a:latin typeface="Ubuntu"/>
              </a:rPr>
              <a:t/>
            </a:r>
          </a:p>
          <a:p>
            <a:pPr algn="l">
              <a:lnSpc>
                <a:spcPct val="150000"/>
              </a:lnSpc>
            </a:pPr>
            <a:r>
              <a:rPr sz="1500" b="0" i="0">
                <a:solidFill>
                  <a:srgbClr val="000000"/>
                </a:solidFill>
                <a:latin typeface="Ubuntu"/>
              </a:rPr>
              <a:t>• step_pca() + tidy(): PCA y su lectura (varianza con 'variance', cargas con 'coef').</a:t>
            </a:r>
          </a:p>
          <a:p>
            <a:pPr algn="l">
              <a:lnSpc>
                <a:spcPct val="150000"/>
              </a:lnSpc>
            </a:pPr>
            <a:r>
              <a:rPr sz="1500" b="0" i="0">
                <a:solidFill>
                  <a:srgbClr val="000000"/>
                </a:solidFill>
                <a:latin typeface="Ubuntu"/>
              </a:rPr>
              <a:t/>
            </a:r>
          </a:p>
          <a:p>
            <a:pPr algn="l">
              <a:lnSpc>
                <a:spcPct val="150000"/>
              </a:lnSpc>
            </a:pPr>
            <a:r>
              <a:rPr sz="1500" b="0" i="0">
                <a:solidFill>
                  <a:srgbClr val="000000"/>
                </a:solidFill>
                <a:latin typeface="Ubuntu"/>
              </a:rPr>
              <a:t>• k_means()/hier_clust() + workflow(): el modelo, con nstart = 25 para k-means robusto.</a:t>
            </a:r>
          </a:p>
          <a:p>
            <a:pPr algn="l">
              <a:lnSpc>
                <a:spcPct val="150000"/>
              </a:lnSpc>
            </a:pPr>
            <a:r>
              <a:rPr sz="1500" b="0" i="0">
                <a:solidFill>
                  <a:srgbClr val="000000"/>
                </a:solidFill>
                <a:latin typeface="Ubuntu"/>
              </a:rPr>
              <a:t/>
            </a:r>
          </a:p>
          <a:p>
            <a:pPr algn="l">
              <a:lnSpc>
                <a:spcPct val="150000"/>
              </a:lnSpc>
            </a:pPr>
            <a:r>
              <a:rPr sz="1500" b="0" i="0">
                <a:solidFill>
                  <a:srgbClr val="000000"/>
                </a:solidFill>
                <a:latin typeface="Ubuntu"/>
              </a:rPr>
              <a:t>• vfold_cv() + cluster_metric_set() + tune_cluster() + collect_metrics(): elegir k (codo y silueta).</a:t>
            </a:r>
          </a:p>
          <a:p>
            <a:pPr algn="l">
              <a:lnSpc>
                <a:spcPct val="150000"/>
              </a:lnSpc>
            </a:pPr>
            <a:r>
              <a:rPr sz="1500" b="0" i="0">
                <a:solidFill>
                  <a:srgbClr val="000000"/>
                </a:solidFill>
                <a:latin typeface="Ubuntu"/>
              </a:rPr>
              <a:t/>
            </a:r>
          </a:p>
          <a:p>
            <a:pPr algn="l">
              <a:lnSpc>
                <a:spcPct val="150000"/>
              </a:lnSpc>
            </a:pPr>
            <a:r>
              <a:rPr sz="1500" b="0" i="0">
                <a:solidFill>
                  <a:srgbClr val="000000"/>
                </a:solidFill>
                <a:latin typeface="Ubuntu"/>
              </a:rPr>
              <a:t>• fit() + extract_cluster_assignment() + group_by()/summarise(): asignar grupos y perfilarlos para decidir.</a:t>
            </a:r>
          </a:p>
        </p:txBody>
      </p:sp>
      <p:sp>
        <p:nvSpPr>
          <p:cNvPr id="8" name="TextBox 7"/>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PCA y clustering (tidymodels)  -  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058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5486400" cy="548640"/>
          </a:xfrm>
          <a:prstGeom prst="rect">
            <a:avLst/>
          </a:prstGeom>
          <a:noFill/>
        </p:spPr>
        <p:txBody>
          <a:bodyPr wrap="square" lIns="0" rIns="0" tIns="0" bIns="0" anchor="ctr">
            <a:spAutoFit/>
          </a:bodyPr>
          <a:lstStyle/>
          <a:p>
            <a:pPr algn="l"/>
            <a:r>
              <a:rPr sz="2000" b="1" i="0">
                <a:solidFill>
                  <a:srgbClr val="1E4C7D"/>
                </a:solidFill>
                <a:latin typeface="Ubuntu"/>
              </a:rPr>
              <a:t>Tecnológico de Monterrey</a:t>
            </a:r>
          </a:p>
        </p:txBody>
      </p:sp>
      <p:sp>
        <p:nvSpPr>
          <p:cNvPr id="5" name="Rectangle 4"/>
          <p:cNvSpPr/>
          <p:nvPr/>
        </p:nvSpPr>
        <p:spPr>
          <a:xfrm>
            <a:off x="0" y="1005840"/>
            <a:ext cx="9144000" cy="3291840"/>
          </a:xfrm>
          <a:prstGeom prst="rect">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8046720" cy="1828800"/>
          </a:xfrm>
          <a:prstGeom prst="rect">
            <a:avLst/>
          </a:prstGeom>
          <a:noFill/>
        </p:spPr>
        <p:txBody>
          <a:bodyPr wrap="square" lIns="0" rIns="0" tIns="0" bIns="0">
            <a:spAutoFit/>
          </a:bodyPr>
          <a:lstStyle/>
          <a:p>
            <a:pPr algn="ctr"/>
            <a:r>
              <a:rPr sz="8000" b="1" i="0">
                <a:solidFill>
                  <a:srgbClr val="1E4C7D"/>
                </a:solidFill>
                <a:latin typeface="Ubuntu"/>
              </a:rPr>
              <a:t>Gracias</a:t>
            </a:r>
          </a:p>
        </p:txBody>
      </p:sp>
      <p:sp>
        <p:nvSpPr>
          <p:cNvPr id="7" name="Rectangle 6"/>
          <p:cNvSpPr/>
          <p:nvPr/>
        </p:nvSpPr>
        <p:spPr>
          <a:xfrm>
            <a:off x="2743200" y="5029200"/>
            <a:ext cx="3657600" cy="9144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5029200"/>
            <a:ext cx="3657600" cy="914400"/>
          </a:xfrm>
          <a:prstGeom prst="rect">
            <a:avLst/>
          </a:prstGeom>
          <a:noFill/>
        </p:spPr>
        <p:txBody>
          <a:bodyPr wrap="square" lIns="0" rIns="0" tIns="0" bIns="0" anchor="ctr">
            <a:spAutoFit/>
          </a:bodyPr>
          <a:lstStyle/>
          <a:p>
            <a:pPr algn="ctr"/>
            <a:r>
              <a:rPr sz="2800" b="1" i="0">
                <a:solidFill>
                  <a:srgbClr val="FFFFFF"/>
                </a:solidFill>
                <a:latin typeface="Ubuntu"/>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