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1005840"/>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28600"/>
            <a:ext cx="5486400" cy="548640"/>
          </a:xfrm>
          <a:prstGeom prst="rect">
            <a:avLst/>
          </a:prstGeom>
          <a:noFill/>
        </p:spPr>
        <p:txBody>
          <a:bodyPr wrap="square" lIns="0" rIns="0" tIns="0" bIns="0" anchor="ctr">
            <a:spAutoFit/>
          </a:bodyPr>
          <a:lstStyle/>
          <a:p>
            <a:pPr algn="l"/>
            <a:r>
              <a:rPr sz="2000" b="1" i="0">
                <a:solidFill>
                  <a:srgbClr val="1E4C7D"/>
                </a:solidFill>
                <a:latin typeface="Ubuntu"/>
              </a:rPr>
              <a:t>Tecnológico de Monterrey</a:t>
            </a:r>
          </a:p>
        </p:txBody>
      </p:sp>
      <p:sp>
        <p:nvSpPr>
          <p:cNvPr id="5" name="Rectangle 4"/>
          <p:cNvSpPr/>
          <p:nvPr/>
        </p:nvSpPr>
        <p:spPr>
          <a:xfrm>
            <a:off x="0" y="1005840"/>
            <a:ext cx="9144000" cy="3291840"/>
          </a:xfrm>
          <a:prstGeom prst="rect">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554480"/>
            <a:ext cx="8046720" cy="1828800"/>
          </a:xfrm>
          <a:prstGeom prst="rect">
            <a:avLst/>
          </a:prstGeom>
          <a:noFill/>
        </p:spPr>
        <p:txBody>
          <a:bodyPr wrap="square" lIns="0" rIns="0" tIns="0" bIns="0">
            <a:spAutoFit/>
          </a:bodyPr>
          <a:lstStyle/>
          <a:p>
            <a:pPr algn="l">
              <a:lnSpc>
                <a:spcPct val="105000"/>
              </a:lnSpc>
            </a:pPr>
            <a:r>
              <a:rPr sz="4000" b="1" i="0">
                <a:solidFill>
                  <a:srgbClr val="1E4C7D"/>
                </a:solidFill>
                <a:latin typeface="Ubuntu"/>
              </a:rPr>
              <a:t>Aprendizaje no supervisado:</a:t>
            </a:r>
          </a:p>
          <a:p>
            <a:pPr algn="l">
              <a:lnSpc>
                <a:spcPct val="105000"/>
              </a:lnSpc>
            </a:pPr>
            <a:r>
              <a:rPr sz="4000" b="1" i="0">
                <a:solidFill>
                  <a:srgbClr val="1E4C7D"/>
                </a:solidFill>
                <a:latin typeface="Ubuntu"/>
              </a:rPr>
              <a:t>PCA y clustering</a:t>
            </a:r>
          </a:p>
        </p:txBody>
      </p:sp>
      <p:sp>
        <p:nvSpPr>
          <p:cNvPr id="7" name="TextBox 6"/>
          <p:cNvSpPr txBox="1"/>
          <p:nvPr/>
        </p:nvSpPr>
        <p:spPr>
          <a:xfrm>
            <a:off x="548640" y="3611880"/>
            <a:ext cx="8046720" cy="640080"/>
          </a:xfrm>
          <a:prstGeom prst="rect">
            <a:avLst/>
          </a:prstGeom>
          <a:noFill/>
        </p:spPr>
        <p:txBody>
          <a:bodyPr wrap="square" lIns="0" rIns="0" tIns="0" bIns="0">
            <a:spAutoFit/>
          </a:bodyPr>
          <a:lstStyle/>
          <a:p>
            <a:pPr algn="l"/>
            <a:r>
              <a:rPr sz="1800" b="0" i="1">
                <a:solidFill>
                  <a:srgbClr val="1E4C7D"/>
                </a:solidFill>
                <a:latin typeface="Ubuntu"/>
              </a:rPr>
              <a:t>Sesión 19 · Descubrir estructura en los datos sin respuestas previas</a:t>
            </a:r>
          </a:p>
        </p:txBody>
      </p:sp>
      <p:sp>
        <p:nvSpPr>
          <p:cNvPr id="8" name="TextBox 7"/>
          <p:cNvSpPr txBox="1"/>
          <p:nvPr/>
        </p:nvSpPr>
        <p:spPr>
          <a:xfrm>
            <a:off x="548640" y="4937760"/>
            <a:ext cx="8046720" cy="914400"/>
          </a:xfrm>
          <a:prstGeom prst="rect">
            <a:avLst/>
          </a:prstGeom>
          <a:noFill/>
        </p:spPr>
        <p:txBody>
          <a:bodyPr wrap="square" lIns="0" rIns="0" tIns="0" bIns="0">
            <a:spAutoFit/>
          </a:bodyPr>
          <a:lstStyle/>
          <a:p>
            <a:pPr algn="l">
              <a:lnSpc>
                <a:spcPct val="130000"/>
              </a:lnSpc>
            </a:pPr>
            <a:r>
              <a:rPr sz="1400" b="0" i="0">
                <a:solidFill>
                  <a:srgbClr val="000000"/>
                </a:solidFill>
                <a:latin typeface="Ubuntu"/>
              </a:rPr>
              <a:t>Tecnológico de Monterrey  ·  TC2001B.601 Ciencia de datos</a:t>
            </a:r>
          </a:p>
          <a:p>
            <a:pPr algn="l">
              <a:lnSpc>
                <a:spcPct val="130000"/>
              </a:lnSpc>
            </a:pPr>
            <a:r>
              <a:rPr sz="1400" b="0" i="0">
                <a:solidFill>
                  <a:srgbClr val="000000"/>
                </a:solidFill>
                <a:latin typeface="Ubuntu"/>
              </a:rPr>
              <a:t>Prof. Jorge Juvenal Campos Ferreira</a:t>
            </a:r>
          </a:p>
        </p:txBody>
      </p:sp>
      <p:sp>
        <p:nvSpPr>
          <p:cNvPr id="9" name="Rectangle 8"/>
          <p:cNvSpPr/>
          <p:nvPr/>
        </p:nvSpPr>
        <p:spPr>
          <a:xfrm>
            <a:off x="548640" y="6126480"/>
            <a:ext cx="1828800" cy="45720"/>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
            <a:ext cx="8595360" cy="658368"/>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274320"/>
            <a:ext cx="8321040" cy="658368"/>
          </a:xfrm>
          <a:prstGeom prst="rect">
            <a:avLst/>
          </a:prstGeom>
          <a:noFill/>
        </p:spPr>
        <p:txBody>
          <a:bodyPr wrap="square" lIns="0" rIns="0" tIns="0" bIns="0" anchor="ctr">
            <a:spAutoFit/>
          </a:bodyPr>
          <a:lstStyle/>
          <a:p>
            <a:pPr algn="l"/>
            <a:r>
              <a:rPr sz="2200" b="1" i="0">
                <a:solidFill>
                  <a:srgbClr val="FFFFFF"/>
                </a:solidFill>
                <a:latin typeface="Ubuntu"/>
              </a:rPr>
              <a:t>Lo que veremos hoy</a:t>
            </a:r>
          </a:p>
        </p:txBody>
      </p:sp>
      <p:sp>
        <p:nvSpPr>
          <p:cNvPr id="5" name="Oval 4"/>
          <p:cNvSpPr/>
          <p:nvPr/>
        </p:nvSpPr>
        <p:spPr>
          <a:xfrm>
            <a:off x="457200" y="1325880"/>
            <a:ext cx="457200" cy="457200"/>
          </a:xfrm>
          <a:prstGeom prst="ellipse">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800" b="1">
                <a:solidFill>
                  <a:srgbClr val="FFFFFF"/>
                </a:solidFill>
                <a:latin typeface="Ubuntu"/>
              </a:rPr>
              <a:t>1</a:t>
            </a:r>
          </a:p>
        </p:txBody>
      </p:sp>
      <p:sp>
        <p:nvSpPr>
          <p:cNvPr id="6" name="TextBox 5"/>
          <p:cNvSpPr txBox="1"/>
          <p:nvPr/>
        </p:nvSpPr>
        <p:spPr>
          <a:xfrm>
            <a:off x="1078992" y="1307592"/>
            <a:ext cx="3383280" cy="822960"/>
          </a:xfrm>
          <a:prstGeom prst="rect">
            <a:avLst/>
          </a:prstGeom>
          <a:noFill/>
        </p:spPr>
        <p:txBody>
          <a:bodyPr wrap="square" lIns="0" rIns="0" tIns="0" bIns="0" anchor="ctr">
            <a:spAutoFit/>
          </a:bodyPr>
          <a:lstStyle/>
          <a:p>
            <a:pPr algn="l">
              <a:lnSpc>
                <a:spcPct val="110000"/>
              </a:lnSpc>
            </a:pPr>
            <a:r>
              <a:rPr sz="1400" b="0" i="0">
                <a:solidFill>
                  <a:srgbClr val="000000"/>
                </a:solidFill>
                <a:latin typeface="Ubuntu"/>
              </a:rPr>
              <a:t>Aprender SIN respuestas: ¿qué es?</a:t>
            </a:r>
          </a:p>
        </p:txBody>
      </p:sp>
      <p:sp>
        <p:nvSpPr>
          <p:cNvPr id="7" name="Oval 6"/>
          <p:cNvSpPr/>
          <p:nvPr/>
        </p:nvSpPr>
        <p:spPr>
          <a:xfrm>
            <a:off x="457200" y="2194560"/>
            <a:ext cx="457200" cy="457200"/>
          </a:xfrm>
          <a:prstGeom prst="ellipse">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800" b="1">
                <a:solidFill>
                  <a:srgbClr val="FFFFFF"/>
                </a:solidFill>
                <a:latin typeface="Ubuntu"/>
              </a:rPr>
              <a:t>2</a:t>
            </a:r>
          </a:p>
        </p:txBody>
      </p:sp>
      <p:sp>
        <p:nvSpPr>
          <p:cNvPr id="8" name="TextBox 7"/>
          <p:cNvSpPr txBox="1"/>
          <p:nvPr/>
        </p:nvSpPr>
        <p:spPr>
          <a:xfrm>
            <a:off x="1078992" y="2176272"/>
            <a:ext cx="3383280" cy="822960"/>
          </a:xfrm>
          <a:prstGeom prst="rect">
            <a:avLst/>
          </a:prstGeom>
          <a:noFill/>
        </p:spPr>
        <p:txBody>
          <a:bodyPr wrap="square" lIns="0" rIns="0" tIns="0" bIns="0" anchor="ctr">
            <a:spAutoFit/>
          </a:bodyPr>
          <a:lstStyle/>
          <a:p>
            <a:pPr algn="l">
              <a:lnSpc>
                <a:spcPct val="110000"/>
              </a:lnSpc>
            </a:pPr>
            <a:r>
              <a:rPr sz="1400" b="0" i="0">
                <a:solidFill>
                  <a:srgbClr val="000000"/>
                </a:solidFill>
                <a:latin typeface="Ubuntu"/>
              </a:rPr>
              <a:t>PCA: el problema de muchas variables</a:t>
            </a:r>
          </a:p>
        </p:txBody>
      </p:sp>
      <p:sp>
        <p:nvSpPr>
          <p:cNvPr id="9" name="Oval 8"/>
          <p:cNvSpPr/>
          <p:nvPr/>
        </p:nvSpPr>
        <p:spPr>
          <a:xfrm>
            <a:off x="457200" y="3063239"/>
            <a:ext cx="457200" cy="457200"/>
          </a:xfrm>
          <a:prstGeom prst="ellipse">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800" b="1">
                <a:solidFill>
                  <a:srgbClr val="FFFFFF"/>
                </a:solidFill>
                <a:latin typeface="Ubuntu"/>
              </a:rPr>
              <a:t>3</a:t>
            </a:r>
          </a:p>
        </p:txBody>
      </p:sp>
      <p:sp>
        <p:nvSpPr>
          <p:cNvPr id="10" name="TextBox 9"/>
          <p:cNvSpPr txBox="1"/>
          <p:nvPr/>
        </p:nvSpPr>
        <p:spPr>
          <a:xfrm>
            <a:off x="1078992" y="3044951"/>
            <a:ext cx="3383280" cy="822960"/>
          </a:xfrm>
          <a:prstGeom prst="rect">
            <a:avLst/>
          </a:prstGeom>
          <a:noFill/>
        </p:spPr>
        <p:txBody>
          <a:bodyPr wrap="square" lIns="0" rIns="0" tIns="0" bIns="0" anchor="ctr">
            <a:spAutoFit/>
          </a:bodyPr>
          <a:lstStyle/>
          <a:p>
            <a:pPr algn="l">
              <a:lnSpc>
                <a:spcPct val="110000"/>
              </a:lnSpc>
            </a:pPr>
            <a:r>
              <a:rPr sz="1400" b="0" i="0">
                <a:solidFill>
                  <a:srgbClr val="000000"/>
                </a:solidFill>
                <a:latin typeface="Ubuntu"/>
              </a:rPr>
              <a:t>PCA: la idea y su matemática</a:t>
            </a:r>
          </a:p>
        </p:txBody>
      </p:sp>
      <p:sp>
        <p:nvSpPr>
          <p:cNvPr id="11" name="Oval 10"/>
          <p:cNvSpPr/>
          <p:nvPr/>
        </p:nvSpPr>
        <p:spPr>
          <a:xfrm>
            <a:off x="457200" y="3931920"/>
            <a:ext cx="457200" cy="457200"/>
          </a:xfrm>
          <a:prstGeom prst="ellipse">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800" b="1">
                <a:solidFill>
                  <a:srgbClr val="FFFFFF"/>
                </a:solidFill>
                <a:latin typeface="Ubuntu"/>
              </a:rPr>
              <a:t>4</a:t>
            </a:r>
          </a:p>
        </p:txBody>
      </p:sp>
      <p:sp>
        <p:nvSpPr>
          <p:cNvPr id="12" name="TextBox 11"/>
          <p:cNvSpPr txBox="1"/>
          <p:nvPr/>
        </p:nvSpPr>
        <p:spPr>
          <a:xfrm>
            <a:off x="1078992" y="3913632"/>
            <a:ext cx="3383280" cy="822960"/>
          </a:xfrm>
          <a:prstGeom prst="rect">
            <a:avLst/>
          </a:prstGeom>
          <a:noFill/>
        </p:spPr>
        <p:txBody>
          <a:bodyPr wrap="square" lIns="0" rIns="0" tIns="0" bIns="0" anchor="ctr">
            <a:spAutoFit/>
          </a:bodyPr>
          <a:lstStyle/>
          <a:p>
            <a:pPr algn="l">
              <a:lnSpc>
                <a:spcPct val="110000"/>
              </a:lnSpc>
            </a:pPr>
            <a:r>
              <a:rPr sz="1400" b="0" i="0">
                <a:solidFill>
                  <a:srgbClr val="000000"/>
                </a:solidFill>
                <a:latin typeface="Ubuntu"/>
              </a:rPr>
              <a:t>Estandarizar y leer la varianza</a:t>
            </a:r>
          </a:p>
        </p:txBody>
      </p:sp>
      <p:sp>
        <p:nvSpPr>
          <p:cNvPr id="13" name="Oval 12"/>
          <p:cNvSpPr/>
          <p:nvPr/>
        </p:nvSpPr>
        <p:spPr>
          <a:xfrm>
            <a:off x="4709160" y="1325880"/>
            <a:ext cx="457200" cy="457200"/>
          </a:xfrm>
          <a:prstGeom prst="ellipse">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800" b="1">
                <a:solidFill>
                  <a:srgbClr val="FFFFFF"/>
                </a:solidFill>
                <a:latin typeface="Ubuntu"/>
              </a:rPr>
              <a:t>5</a:t>
            </a:r>
          </a:p>
        </p:txBody>
      </p:sp>
      <p:sp>
        <p:nvSpPr>
          <p:cNvPr id="14" name="TextBox 13"/>
          <p:cNvSpPr txBox="1"/>
          <p:nvPr/>
        </p:nvSpPr>
        <p:spPr>
          <a:xfrm>
            <a:off x="5330952" y="1307592"/>
            <a:ext cx="3383280" cy="822960"/>
          </a:xfrm>
          <a:prstGeom prst="rect">
            <a:avLst/>
          </a:prstGeom>
          <a:noFill/>
        </p:spPr>
        <p:txBody>
          <a:bodyPr wrap="square" lIns="0" rIns="0" tIns="0" bIns="0" anchor="ctr">
            <a:spAutoFit/>
          </a:bodyPr>
          <a:lstStyle/>
          <a:p>
            <a:pPr algn="l">
              <a:lnSpc>
                <a:spcPct val="110000"/>
              </a:lnSpc>
            </a:pPr>
            <a:r>
              <a:rPr sz="1400" b="0" i="0">
                <a:solidFill>
                  <a:srgbClr val="000000"/>
                </a:solidFill>
                <a:latin typeface="Ubuntu"/>
              </a:rPr>
              <a:t>Clustering: agrupar lo parecido</a:t>
            </a:r>
          </a:p>
        </p:txBody>
      </p:sp>
      <p:sp>
        <p:nvSpPr>
          <p:cNvPr id="15" name="Oval 14"/>
          <p:cNvSpPr/>
          <p:nvPr/>
        </p:nvSpPr>
        <p:spPr>
          <a:xfrm>
            <a:off x="4709160" y="2194560"/>
            <a:ext cx="457200" cy="457200"/>
          </a:xfrm>
          <a:prstGeom prst="ellipse">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800" b="1">
                <a:solidFill>
                  <a:srgbClr val="FFFFFF"/>
                </a:solidFill>
                <a:latin typeface="Ubuntu"/>
              </a:rPr>
              <a:t>6</a:t>
            </a:r>
          </a:p>
        </p:txBody>
      </p:sp>
      <p:sp>
        <p:nvSpPr>
          <p:cNvPr id="16" name="TextBox 15"/>
          <p:cNvSpPr txBox="1"/>
          <p:nvPr/>
        </p:nvSpPr>
        <p:spPr>
          <a:xfrm>
            <a:off x="5330952" y="2176272"/>
            <a:ext cx="3383280" cy="822960"/>
          </a:xfrm>
          <a:prstGeom prst="rect">
            <a:avLst/>
          </a:prstGeom>
          <a:noFill/>
        </p:spPr>
        <p:txBody>
          <a:bodyPr wrap="square" lIns="0" rIns="0" tIns="0" bIns="0" anchor="ctr">
            <a:spAutoFit/>
          </a:bodyPr>
          <a:lstStyle/>
          <a:p>
            <a:pPr algn="l">
              <a:lnSpc>
                <a:spcPct val="110000"/>
              </a:lnSpc>
            </a:pPr>
            <a:r>
              <a:rPr sz="1400" b="0" i="0">
                <a:solidFill>
                  <a:srgbClr val="000000"/>
                </a:solidFill>
                <a:latin typeface="Ubuntu"/>
              </a:rPr>
              <a:t>K-means paso a paso</a:t>
            </a:r>
          </a:p>
        </p:txBody>
      </p:sp>
      <p:sp>
        <p:nvSpPr>
          <p:cNvPr id="17" name="Oval 16"/>
          <p:cNvSpPr/>
          <p:nvPr/>
        </p:nvSpPr>
        <p:spPr>
          <a:xfrm>
            <a:off x="4709160" y="3063239"/>
            <a:ext cx="457200" cy="457200"/>
          </a:xfrm>
          <a:prstGeom prst="ellipse">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800" b="1">
                <a:solidFill>
                  <a:srgbClr val="FFFFFF"/>
                </a:solidFill>
                <a:latin typeface="Ubuntu"/>
              </a:rPr>
              <a:t>7</a:t>
            </a:r>
          </a:p>
        </p:txBody>
      </p:sp>
      <p:sp>
        <p:nvSpPr>
          <p:cNvPr id="18" name="TextBox 17"/>
          <p:cNvSpPr txBox="1"/>
          <p:nvPr/>
        </p:nvSpPr>
        <p:spPr>
          <a:xfrm>
            <a:off x="5330952" y="3044951"/>
            <a:ext cx="3383280" cy="822960"/>
          </a:xfrm>
          <a:prstGeom prst="rect">
            <a:avLst/>
          </a:prstGeom>
          <a:noFill/>
        </p:spPr>
        <p:txBody>
          <a:bodyPr wrap="square" lIns="0" rIns="0" tIns="0" bIns="0" anchor="ctr">
            <a:spAutoFit/>
          </a:bodyPr>
          <a:lstStyle/>
          <a:p>
            <a:pPr algn="l">
              <a:lnSpc>
                <a:spcPct val="110000"/>
              </a:lnSpc>
            </a:pPr>
            <a:r>
              <a:rPr sz="1400" b="0" i="0">
                <a:solidFill>
                  <a:srgbClr val="000000"/>
                </a:solidFill>
                <a:latin typeface="Ubuntu"/>
              </a:rPr>
              <a:t>¿Cuántos grupos? Codo y silueta</a:t>
            </a:r>
          </a:p>
        </p:txBody>
      </p:sp>
      <p:sp>
        <p:nvSpPr>
          <p:cNvPr id="19" name="Oval 18"/>
          <p:cNvSpPr/>
          <p:nvPr/>
        </p:nvSpPr>
        <p:spPr>
          <a:xfrm>
            <a:off x="4709160" y="3931920"/>
            <a:ext cx="457200" cy="457200"/>
          </a:xfrm>
          <a:prstGeom prst="ellipse">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800" b="1">
                <a:solidFill>
                  <a:srgbClr val="FFFFFF"/>
                </a:solidFill>
                <a:latin typeface="Ubuntu"/>
              </a:rPr>
              <a:t>8</a:t>
            </a:r>
          </a:p>
        </p:txBody>
      </p:sp>
      <p:sp>
        <p:nvSpPr>
          <p:cNvPr id="20" name="TextBox 19"/>
          <p:cNvSpPr txBox="1"/>
          <p:nvPr/>
        </p:nvSpPr>
        <p:spPr>
          <a:xfrm>
            <a:off x="5330952" y="3913632"/>
            <a:ext cx="3383280" cy="822960"/>
          </a:xfrm>
          <a:prstGeom prst="rect">
            <a:avLst/>
          </a:prstGeom>
          <a:noFill/>
        </p:spPr>
        <p:txBody>
          <a:bodyPr wrap="square" lIns="0" rIns="0" tIns="0" bIns="0" anchor="ctr">
            <a:spAutoFit/>
          </a:bodyPr>
          <a:lstStyle/>
          <a:p>
            <a:pPr algn="l">
              <a:lnSpc>
                <a:spcPct val="110000"/>
              </a:lnSpc>
            </a:pPr>
            <a:r>
              <a:rPr sz="1400" b="0" i="0">
                <a:solidFill>
                  <a:srgbClr val="000000"/>
                </a:solidFill>
                <a:latin typeface="Ubuntu"/>
              </a:rPr>
              <a:t>Jerárquico, perfiles y aplicaciones</a:t>
            </a:r>
          </a:p>
        </p:txBody>
      </p:sp>
      <p:sp>
        <p:nvSpPr>
          <p:cNvPr id="21" name="TextBox 20"/>
          <p:cNvSpPr txBox="1"/>
          <p:nvPr/>
        </p:nvSpPr>
        <p:spPr>
          <a:xfrm>
            <a:off x="5486400" y="6565392"/>
            <a:ext cx="3474720" cy="201168"/>
          </a:xfrm>
          <a:prstGeom prst="rect">
            <a:avLst/>
          </a:prstGeom>
          <a:noFill/>
        </p:spPr>
        <p:txBody>
          <a:bodyPr wrap="square" lIns="0" rIns="0" tIns="0" bIns="0">
            <a:spAutoFit/>
          </a:bodyPr>
          <a:lstStyle/>
          <a:p>
            <a:pPr algn="r"/>
            <a:r>
              <a:rPr sz="900" b="0" i="1">
                <a:solidFill>
                  <a:srgbClr val="555555"/>
                </a:solidFill>
                <a:latin typeface="Ubuntu"/>
              </a:rPr>
              <a:t>Sesión 19 · Aprendizaje no supervisado  -  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2926080" cy="2743200"/>
          </a:xfrm>
          <a:prstGeom prst="rect">
            <a:avLst/>
          </a:prstGeom>
          <a:noFill/>
        </p:spPr>
        <p:txBody>
          <a:bodyPr wrap="square" lIns="0" rIns="0" tIns="0" bIns="0">
            <a:spAutoFit/>
          </a:bodyPr>
          <a:lstStyle/>
          <a:p>
            <a:pPr algn="l"/>
            <a:r>
              <a:rPr sz="16000" b="1" i="0">
                <a:solidFill>
                  <a:srgbClr val="336395"/>
                </a:solidFill>
                <a:latin typeface="Ubuntu"/>
              </a:rPr>
              <a:t>1</a:t>
            </a:r>
          </a:p>
        </p:txBody>
      </p:sp>
      <p:sp>
        <p:nvSpPr>
          <p:cNvPr id="4" name="Rectangle 3"/>
          <p:cNvSpPr/>
          <p:nvPr/>
        </p:nvSpPr>
        <p:spPr>
          <a:xfrm>
            <a:off x="3383280" y="2194560"/>
            <a:ext cx="73152" cy="20116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0" y="2286000"/>
            <a:ext cx="5120640" cy="1645920"/>
          </a:xfrm>
          <a:prstGeom prst="rect">
            <a:avLst/>
          </a:prstGeom>
          <a:noFill/>
        </p:spPr>
        <p:txBody>
          <a:bodyPr wrap="square" lIns="0" rIns="0" tIns="0" bIns="0" anchor="ctr">
            <a:spAutoFit/>
          </a:bodyPr>
          <a:lstStyle/>
          <a:p>
            <a:pPr algn="l">
              <a:lnSpc>
                <a:spcPct val="105000"/>
              </a:lnSpc>
            </a:pPr>
            <a:r>
              <a:rPr sz="3400" b="1" i="0">
                <a:solidFill>
                  <a:srgbClr val="FFFFFF"/>
                </a:solidFill>
                <a:latin typeface="Ubuntu"/>
              </a:rPr>
              <a:t>Aprender SIN</a:t>
            </a:r>
          </a:p>
          <a:p>
            <a:pPr algn="l">
              <a:lnSpc>
                <a:spcPct val="105000"/>
              </a:lnSpc>
            </a:pPr>
            <a:r>
              <a:rPr sz="3400" b="1" i="0">
                <a:solidFill>
                  <a:srgbClr val="FFFFFF"/>
                </a:solidFill>
                <a:latin typeface="Ubuntu"/>
              </a:rPr>
              <a:t>respuestas</a:t>
            </a:r>
          </a:p>
        </p:txBody>
      </p:sp>
      <p:sp>
        <p:nvSpPr>
          <p:cNvPr id="6" name="TextBox 5"/>
          <p:cNvSpPr txBox="1"/>
          <p:nvPr/>
        </p:nvSpPr>
        <p:spPr>
          <a:xfrm>
            <a:off x="3657600" y="4069080"/>
            <a:ext cx="5120640" cy="822960"/>
          </a:xfrm>
          <a:prstGeom prst="rect">
            <a:avLst/>
          </a:prstGeom>
          <a:noFill/>
        </p:spPr>
        <p:txBody>
          <a:bodyPr wrap="square" lIns="0" rIns="0" tIns="0" bIns="0">
            <a:spAutoFit/>
          </a:bodyPr>
          <a:lstStyle/>
          <a:p>
            <a:pPr algn="l">
              <a:lnSpc>
                <a:spcPct val="120000"/>
              </a:lnSpc>
            </a:pPr>
            <a:r>
              <a:rPr sz="1500" b="0" i="1">
                <a:solidFill>
                  <a:srgbClr val="C7D7E6"/>
                </a:solidFill>
                <a:latin typeface="Ubuntu"/>
              </a:rPr>
              <a:t>¿Qué hacemos cuando no hay etiquetas?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
            <a:ext cx="8595360" cy="658368"/>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274320"/>
            <a:ext cx="8321040" cy="658368"/>
          </a:xfrm>
          <a:prstGeom prst="rect">
            <a:avLst/>
          </a:prstGeom>
          <a:noFill/>
        </p:spPr>
        <p:txBody>
          <a:bodyPr wrap="square" lIns="0" rIns="0" tIns="0" bIns="0" anchor="ctr">
            <a:spAutoFit/>
          </a:bodyPr>
          <a:lstStyle/>
          <a:p>
            <a:pPr algn="l"/>
            <a:r>
              <a:rPr sz="2200" b="1" i="0">
                <a:solidFill>
                  <a:srgbClr val="FFFFFF"/>
                </a:solidFill>
                <a:latin typeface="Ubuntu"/>
              </a:rPr>
              <a:t>Supervisado vs no supervisado</a:t>
            </a:r>
          </a:p>
        </p:txBody>
      </p:sp>
      <p:sp>
        <p:nvSpPr>
          <p:cNvPr id="5" name="Rectangle 4"/>
          <p:cNvSpPr/>
          <p:nvPr/>
        </p:nvSpPr>
        <p:spPr>
          <a:xfrm>
            <a:off x="274320" y="1234440"/>
            <a:ext cx="8595360" cy="2743200"/>
          </a:xfrm>
          <a:prstGeom prst="rect">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20624" y="1325880"/>
            <a:ext cx="8302752" cy="365760"/>
          </a:xfrm>
          <a:prstGeom prst="rect">
            <a:avLst/>
          </a:prstGeom>
          <a:noFill/>
        </p:spPr>
        <p:txBody>
          <a:bodyPr wrap="square" lIns="0" rIns="0" tIns="0" bIns="0">
            <a:spAutoFit/>
          </a:bodyPr>
          <a:lstStyle/>
          <a:p>
            <a:pPr algn="l"/>
            <a:r>
              <a:rPr sz="1800" b="1" i="0">
                <a:solidFill>
                  <a:srgbClr val="1E4C7D"/>
                </a:solidFill>
                <a:latin typeface="Ubuntu"/>
              </a:rPr>
              <a:t>Definición</a:t>
            </a:r>
          </a:p>
        </p:txBody>
      </p:sp>
      <p:sp>
        <p:nvSpPr>
          <p:cNvPr id="7" name="TextBox 6"/>
          <p:cNvSpPr txBox="1"/>
          <p:nvPr/>
        </p:nvSpPr>
        <p:spPr>
          <a:xfrm>
            <a:off x="420624" y="1709928"/>
            <a:ext cx="8302752" cy="2176272"/>
          </a:xfrm>
          <a:prstGeom prst="rect">
            <a:avLst/>
          </a:prstGeom>
          <a:noFill/>
        </p:spPr>
        <p:txBody>
          <a:bodyPr wrap="square" lIns="0" rIns="0" tIns="0" bIns="0">
            <a:spAutoFit/>
          </a:bodyPr>
          <a:lstStyle/>
          <a:p>
            <a:pPr algn="l">
              <a:lnSpc>
                <a:spcPct val="140000"/>
              </a:lnSpc>
            </a:pPr>
            <a:r>
              <a:rPr sz="1800" b="0" i="0">
                <a:solidFill>
                  <a:srgbClr val="000000"/>
                </a:solidFill>
                <a:latin typeface="Ubuntu"/>
              </a:rPr>
              <a:t>En el aprendizaje SUPERVISADO cada ejemplo trae una etiqueta o respuesta:</a:t>
            </a:r>
          </a:p>
          <a:p>
            <a:pPr algn="l">
              <a:lnSpc>
                <a:spcPct val="140000"/>
              </a:lnSpc>
            </a:pPr>
            <a:r>
              <a:rPr sz="1800" b="0" i="0">
                <a:solidFill>
                  <a:srgbClr val="000000"/>
                </a:solidFill>
                <a:latin typeface="Ubuntu"/>
              </a:rPr>
              <a:t>"este crédito se pagó", "este correo es spam". El modelo aprende a</a:t>
            </a:r>
          </a:p>
          <a:p>
            <a:pPr algn="l">
              <a:lnSpc>
                <a:spcPct val="140000"/>
              </a:lnSpc>
            </a:pPr>
            <a:r>
              <a:rPr sz="1800" b="0" i="0">
                <a:solidFill>
                  <a:srgbClr val="000000"/>
                </a:solidFill>
                <a:latin typeface="Ubuntu"/>
              </a:rPr>
              <a:t>predecir esa respuesta.</a:t>
            </a:r>
          </a:p>
          <a:p>
            <a:pPr algn="l">
              <a:lnSpc>
                <a:spcPct val="140000"/>
              </a:lnSpc>
            </a:pPr>
            <a:r>
              <a:rPr sz="1800" b="0" i="0">
                <a:solidFill>
                  <a:srgbClr val="000000"/>
                </a:solidFill>
                <a:latin typeface="Ubuntu"/>
              </a:rPr>
              <a:t/>
            </a:r>
          </a:p>
          <a:p>
            <a:pPr algn="l">
              <a:lnSpc>
                <a:spcPct val="140000"/>
              </a:lnSpc>
            </a:pPr>
            <a:r>
              <a:rPr sz="1800" b="0" i="0">
                <a:solidFill>
                  <a:srgbClr val="000000"/>
                </a:solidFill>
                <a:latin typeface="Ubuntu"/>
              </a:rPr>
              <a:t>En el aprendizaje NO SUPERVISADO NO hay respuesta. El algoritmo recibe</a:t>
            </a:r>
          </a:p>
          <a:p>
            <a:pPr algn="l">
              <a:lnSpc>
                <a:spcPct val="140000"/>
              </a:lnSpc>
            </a:pPr>
            <a:r>
              <a:rPr sz="1800" b="0" i="0">
                <a:solidFill>
                  <a:srgbClr val="000000"/>
                </a:solidFill>
                <a:latin typeface="Ubuntu"/>
              </a:rPr>
              <a:t>solo los datos y debe DESCUBRIR su estructura por sí solo: grupos</a:t>
            </a:r>
          </a:p>
          <a:p>
            <a:pPr algn="l">
              <a:lnSpc>
                <a:spcPct val="140000"/>
              </a:lnSpc>
            </a:pPr>
            <a:r>
              <a:rPr sz="1800" b="0" i="0">
                <a:solidFill>
                  <a:srgbClr val="000000"/>
                </a:solidFill>
                <a:latin typeface="Ubuntu"/>
              </a:rPr>
              <a:t>naturales, patrones o las dimensiones que de verdad importan.</a:t>
            </a:r>
          </a:p>
        </p:txBody>
      </p:sp>
      <p:sp>
        <p:nvSpPr>
          <p:cNvPr id="8" name="Rectangle 7"/>
          <p:cNvSpPr/>
          <p:nvPr/>
        </p:nvSpPr>
        <p:spPr>
          <a:xfrm>
            <a:off x="274320" y="4206240"/>
            <a:ext cx="8595360" cy="2011680"/>
          </a:xfrm>
          <a:prstGeom prst="rect">
            <a:avLst/>
          </a:prstGeom>
          <a:solidFill>
            <a:srgbClr val="F0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0624" y="4297680"/>
            <a:ext cx="8302752" cy="365760"/>
          </a:xfrm>
          <a:prstGeom prst="rect">
            <a:avLst/>
          </a:prstGeom>
          <a:noFill/>
        </p:spPr>
        <p:txBody>
          <a:bodyPr wrap="square" lIns="0" rIns="0" tIns="0" bIns="0">
            <a:spAutoFit/>
          </a:bodyPr>
          <a:lstStyle/>
          <a:p>
            <a:pPr algn="l"/>
            <a:r>
              <a:rPr sz="1600" b="1" i="0">
                <a:solidFill>
                  <a:srgbClr val="1A7A3A"/>
                </a:solidFill>
                <a:latin typeface="Ubuntu"/>
              </a:rPr>
              <a:t>En palabras simples</a:t>
            </a:r>
          </a:p>
        </p:txBody>
      </p:sp>
      <p:sp>
        <p:nvSpPr>
          <p:cNvPr id="10" name="TextBox 9"/>
          <p:cNvSpPr txBox="1"/>
          <p:nvPr/>
        </p:nvSpPr>
        <p:spPr>
          <a:xfrm>
            <a:off x="420624" y="4681728"/>
            <a:ext cx="8302752" cy="1444752"/>
          </a:xfrm>
          <a:prstGeom prst="rect">
            <a:avLst/>
          </a:prstGeom>
          <a:noFill/>
        </p:spPr>
        <p:txBody>
          <a:bodyPr wrap="square" lIns="0" rIns="0" tIns="0" bIns="0">
            <a:spAutoFit/>
          </a:bodyPr>
          <a:lstStyle/>
          <a:p>
            <a:pPr algn="l">
              <a:lnSpc>
                <a:spcPct val="140000"/>
              </a:lnSpc>
            </a:pPr>
            <a:r>
              <a:rPr sz="1600" b="0" i="0">
                <a:solidFill>
                  <a:srgbClr val="000000"/>
                </a:solidFill>
                <a:latin typeface="Ubuntu"/>
              </a:rPr>
              <a:t>Es como llegar a una fiesta sin conocer a nadie y, solo observando, darte cuenta de que la gente se junta en grupos: no te dieron la lista de grupos, la descubriste tú.</a:t>
            </a:r>
          </a:p>
        </p:txBody>
      </p:sp>
      <p:sp>
        <p:nvSpPr>
          <p:cNvPr id="11" name="TextBox 10"/>
          <p:cNvSpPr txBox="1"/>
          <p:nvPr/>
        </p:nvSpPr>
        <p:spPr>
          <a:xfrm>
            <a:off x="5486400" y="6565392"/>
            <a:ext cx="3474720" cy="201168"/>
          </a:xfrm>
          <a:prstGeom prst="rect">
            <a:avLst/>
          </a:prstGeom>
          <a:noFill/>
        </p:spPr>
        <p:txBody>
          <a:bodyPr wrap="square" lIns="0" rIns="0" tIns="0" bIns="0">
            <a:spAutoFit/>
          </a:bodyPr>
          <a:lstStyle/>
          <a:p>
            <a:pPr algn="r"/>
            <a:r>
              <a:rPr sz="900" b="0" i="1">
                <a:solidFill>
                  <a:srgbClr val="555555"/>
                </a:solidFill>
                <a:latin typeface="Ubuntu"/>
              </a:rPr>
              <a:t>Sesión 19 · Aprendizaje no supervisado  -  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
            <a:ext cx="8595360" cy="658368"/>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274320"/>
            <a:ext cx="8321040" cy="658368"/>
          </a:xfrm>
          <a:prstGeom prst="rect">
            <a:avLst/>
          </a:prstGeom>
          <a:noFill/>
        </p:spPr>
        <p:txBody>
          <a:bodyPr wrap="square" lIns="0" rIns="0" tIns="0" bIns="0" anchor="ctr">
            <a:spAutoFit/>
          </a:bodyPr>
          <a:lstStyle/>
          <a:p>
            <a:pPr algn="l"/>
            <a:r>
              <a:rPr sz="2200" b="1" i="0">
                <a:solidFill>
                  <a:srgbClr val="FFFFFF"/>
                </a:solidFill>
                <a:latin typeface="Ubuntu"/>
              </a:rPr>
              <a:t>Supervisado vs no supervisado</a:t>
            </a:r>
          </a:p>
        </p:txBody>
      </p:sp>
      <p:pic>
        <p:nvPicPr>
          <p:cNvPr id="5" name="Picture 4" descr="01_supervisado_vs_no.png"/>
          <p:cNvPicPr>
            <a:picLocks noChangeAspect="1"/>
          </p:cNvPicPr>
          <p:nvPr/>
        </p:nvPicPr>
        <p:blipFill>
          <a:blip r:embed="rId2"/>
          <a:stretch>
            <a:fillRect/>
          </a:stretch>
        </p:blipFill>
        <p:spPr>
          <a:xfrm>
            <a:off x="457200" y="1370121"/>
            <a:ext cx="8229600" cy="3751998"/>
          </a:xfrm>
          <a:prstGeom prst="rect">
            <a:avLst/>
          </a:prstGeom>
        </p:spPr>
      </p:pic>
      <p:sp>
        <p:nvSpPr>
          <p:cNvPr id="6" name="TextBox 5"/>
          <p:cNvSpPr txBox="1"/>
          <p:nvPr/>
        </p:nvSpPr>
        <p:spPr>
          <a:xfrm>
            <a:off x="457200" y="5303520"/>
            <a:ext cx="8229600" cy="365760"/>
          </a:xfrm>
          <a:prstGeom prst="rect">
            <a:avLst/>
          </a:prstGeom>
          <a:noFill/>
        </p:spPr>
        <p:txBody>
          <a:bodyPr wrap="square" lIns="0" rIns="0" tIns="0" bIns="0">
            <a:spAutoFit/>
          </a:bodyPr>
          <a:lstStyle/>
          <a:p>
            <a:pPr algn="ctr"/>
            <a:r>
              <a:rPr sz="1300" b="0" i="1">
                <a:solidFill>
                  <a:srgbClr val="555555"/>
                </a:solidFill>
                <a:latin typeface="Ubuntu"/>
              </a:rPr>
              <a:t>Izquierda: las etiquetas se conocen. Derecha: no hay etiquetas; se descubren.</a:t>
            </a:r>
          </a:p>
        </p:txBody>
      </p:sp>
      <p:sp>
        <p:nvSpPr>
          <p:cNvPr id="7" name="Rectangle 6"/>
          <p:cNvSpPr/>
          <p:nvPr/>
        </p:nvSpPr>
        <p:spPr>
          <a:xfrm>
            <a:off x="274320" y="5486400"/>
            <a:ext cx="8595360" cy="868680"/>
          </a:xfrm>
          <a:prstGeom prst="rect">
            <a:avLst/>
          </a:prstGeom>
          <a:solidFill>
            <a:srgbClr val="F0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0624" y="5577840"/>
            <a:ext cx="8302752" cy="685800"/>
          </a:xfrm>
          <a:prstGeom prst="rect">
            <a:avLst/>
          </a:prstGeom>
          <a:noFill/>
        </p:spPr>
        <p:txBody>
          <a:bodyPr wrap="square" lIns="0" rIns="0" tIns="0" bIns="0">
            <a:spAutoFit/>
          </a:bodyPr>
          <a:lstStyle/>
          <a:p>
            <a:pPr algn="l">
              <a:lnSpc>
                <a:spcPct val="125000"/>
              </a:lnSpc>
            </a:pPr>
            <a:r>
              <a:rPr sz="1400" b="0" i="0">
                <a:solidFill>
                  <a:srgbClr val="000000"/>
                </a:solidFill>
                <a:latin typeface="Ubuntu"/>
              </a:rPr>
              <a:t>No supervisado = aprender SIN respuestas correctas. Solo hay datos y buscamos la estructura escondida. No se parte en entrenamiento/prueba: no hay un acierto que medir.</a:t>
            </a:r>
          </a:p>
        </p:txBody>
      </p:sp>
      <p:sp>
        <p:nvSpPr>
          <p:cNvPr id="9" name="TextBox 8"/>
          <p:cNvSpPr txBox="1"/>
          <p:nvPr/>
        </p:nvSpPr>
        <p:spPr>
          <a:xfrm>
            <a:off x="5486400" y="6565392"/>
            <a:ext cx="3474720" cy="201168"/>
          </a:xfrm>
          <a:prstGeom prst="rect">
            <a:avLst/>
          </a:prstGeom>
          <a:noFill/>
        </p:spPr>
        <p:txBody>
          <a:bodyPr wrap="square" lIns="0" rIns="0" tIns="0" bIns="0">
            <a:spAutoFit/>
          </a:bodyPr>
          <a:lstStyle/>
          <a:p>
            <a:pPr algn="r"/>
            <a:r>
              <a:rPr sz="900" b="0" i="1">
                <a:solidFill>
                  <a:srgbClr val="555555"/>
                </a:solidFill>
                <a:latin typeface="Ubuntu"/>
              </a:rPr>
              <a:t>Sesión 19 · Aprendizaje no supervisado  -  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
            <a:ext cx="8595360" cy="658368"/>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274320"/>
            <a:ext cx="8321040" cy="658368"/>
          </a:xfrm>
          <a:prstGeom prst="rect">
            <a:avLst/>
          </a:prstGeom>
          <a:noFill/>
        </p:spPr>
        <p:txBody>
          <a:bodyPr wrap="square" lIns="0" rIns="0" tIns="0" bIns="0" anchor="ctr">
            <a:spAutoFit/>
          </a:bodyPr>
          <a:lstStyle/>
          <a:p>
            <a:pPr algn="l"/>
            <a:r>
              <a:rPr sz="2200" b="1" i="0">
                <a:solidFill>
                  <a:srgbClr val="FFFFFF"/>
                </a:solidFill>
                <a:latin typeface="Ubuntu"/>
              </a:rPr>
              <a:t>¿Para qué sirve descubrir estructura?</a:t>
            </a:r>
          </a:p>
        </p:txBody>
      </p:sp>
      <p:sp>
        <p:nvSpPr>
          <p:cNvPr id="5" name="TextBox 4"/>
          <p:cNvSpPr txBox="1"/>
          <p:nvPr/>
        </p:nvSpPr>
        <p:spPr>
          <a:xfrm>
            <a:off x="365760" y="1097280"/>
            <a:ext cx="8412480" cy="640080"/>
          </a:xfrm>
          <a:prstGeom prst="rect">
            <a:avLst/>
          </a:prstGeom>
          <a:noFill/>
        </p:spPr>
        <p:txBody>
          <a:bodyPr wrap="square" lIns="0" rIns="0" tIns="0" bIns="0">
            <a:spAutoFit/>
          </a:bodyPr>
          <a:lstStyle/>
          <a:p>
            <a:pPr algn="l">
              <a:lnSpc>
                <a:spcPct val="120000"/>
              </a:lnSpc>
            </a:pPr>
            <a:r>
              <a:rPr sz="1500" b="0" i="1">
                <a:solidFill>
                  <a:srgbClr val="1E4C7D"/>
                </a:solidFill>
                <a:latin typeface="Ubuntu"/>
              </a:rPr>
              <a:t>Dos grandes familias de técnicas no supervisadas que veremos hoy:</a:t>
            </a:r>
          </a:p>
        </p:txBody>
      </p:sp>
      <p:sp>
        <p:nvSpPr>
          <p:cNvPr id="6" name="Rectangle 5"/>
          <p:cNvSpPr/>
          <p:nvPr/>
        </p:nvSpPr>
        <p:spPr>
          <a:xfrm>
            <a:off x="274320" y="1874519"/>
            <a:ext cx="4114800" cy="4114800"/>
          </a:xfrm>
          <a:prstGeom prst="rect">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20624" y="1965959"/>
            <a:ext cx="3822192" cy="3931920"/>
          </a:xfrm>
          <a:prstGeom prst="rect">
            <a:avLst/>
          </a:prstGeom>
          <a:noFill/>
        </p:spPr>
        <p:txBody>
          <a:bodyPr wrap="square" lIns="0" rIns="0" tIns="0" bIns="0">
            <a:spAutoFit/>
          </a:bodyPr>
          <a:lstStyle/>
          <a:p>
            <a:pPr algn="l">
              <a:lnSpc>
                <a:spcPct val="140000"/>
              </a:lnSpc>
            </a:pPr>
            <a:r>
              <a:rPr sz="1300" b="0" i="0">
                <a:solidFill>
                  <a:srgbClr val="000000"/>
                </a:solidFill>
                <a:latin typeface="Ubuntu"/>
              </a:rPr>
              <a:t>PCA (reducir dimensiones)</a:t>
            </a:r>
          </a:p>
          <a:p>
            <a:pPr algn="l">
              <a:lnSpc>
                <a:spcPct val="140000"/>
              </a:lnSpc>
            </a:pPr>
            <a:r>
              <a:rPr sz="1300" b="0" i="0">
                <a:solidFill>
                  <a:srgbClr val="000000"/>
                </a:solidFill>
                <a:latin typeface="Ubuntu"/>
              </a:rPr>
              <a:t>• Resume muchas variables en pocas.</a:t>
            </a:r>
          </a:p>
          <a:p>
            <a:pPr algn="l">
              <a:lnSpc>
                <a:spcPct val="140000"/>
              </a:lnSpc>
            </a:pPr>
            <a:r>
              <a:rPr sz="1300" b="0" i="0">
                <a:solidFill>
                  <a:srgbClr val="000000"/>
                </a:solidFill>
                <a:latin typeface="Ubuntu"/>
              </a:rPr>
              <a:t>• Sirve para VISUALIZAR y para quitar redundancia.</a:t>
            </a:r>
          </a:p>
          <a:p>
            <a:pPr algn="l">
              <a:lnSpc>
                <a:spcPct val="140000"/>
              </a:lnSpc>
            </a:pPr>
            <a:r>
              <a:rPr sz="1300" b="0" i="0">
                <a:solidFill>
                  <a:srgbClr val="000000"/>
                </a:solidFill>
                <a:latin typeface="Ubuntu"/>
              </a:rPr>
              <a:t/>
            </a:r>
          </a:p>
          <a:p>
            <a:pPr algn="l">
              <a:lnSpc>
                <a:spcPct val="140000"/>
              </a:lnSpc>
            </a:pPr>
            <a:r>
              <a:rPr sz="1300" b="0" i="0">
                <a:solidFill>
                  <a:srgbClr val="000000"/>
                </a:solidFill>
                <a:latin typeface="Ubuntu"/>
              </a:rPr>
              <a:t>Clustering (agrupar)</a:t>
            </a:r>
          </a:p>
          <a:p>
            <a:pPr algn="l">
              <a:lnSpc>
                <a:spcPct val="140000"/>
              </a:lnSpc>
            </a:pPr>
            <a:r>
              <a:rPr sz="1300" b="0" i="0">
                <a:solidFill>
                  <a:srgbClr val="000000"/>
                </a:solidFill>
                <a:latin typeface="Ubuntu"/>
              </a:rPr>
              <a:t>• Encuentra grupos de observaciones parecidas.</a:t>
            </a:r>
          </a:p>
          <a:p>
            <a:pPr algn="l">
              <a:lnSpc>
                <a:spcPct val="140000"/>
              </a:lnSpc>
            </a:pPr>
            <a:r>
              <a:rPr sz="1300" b="0" i="0">
                <a:solidFill>
                  <a:srgbClr val="000000"/>
                </a:solidFill>
                <a:latin typeface="Ubuntu"/>
              </a:rPr>
              <a:t>• Sirve para SEGMENTAR: clientes, municipios, pacientes.</a:t>
            </a:r>
          </a:p>
          <a:p>
            <a:pPr algn="l">
              <a:lnSpc>
                <a:spcPct val="140000"/>
              </a:lnSpc>
            </a:pPr>
            <a:r>
              <a:rPr sz="1300" b="0" i="0">
                <a:solidFill>
                  <a:srgbClr val="000000"/>
                </a:solidFill>
                <a:latin typeface="Ubuntu"/>
              </a:rPr>
              <a:t/>
            </a:r>
          </a:p>
          <a:p>
            <a:pPr algn="l">
              <a:lnSpc>
                <a:spcPct val="140000"/>
              </a:lnSpc>
            </a:pPr>
            <a:r>
              <a:rPr sz="1300" b="0" i="0">
                <a:solidFill>
                  <a:srgbClr val="000000"/>
                </a:solidFill>
                <a:latin typeface="Ubuntu"/>
              </a:rPr>
              <a:t>Ejemplos: segmentar usuarios, detectar fraude o anomalías, tipologías de municipios, comprimir imágenes.</a:t>
            </a:r>
          </a:p>
        </p:txBody>
      </p:sp>
      <p:pic>
        <p:nvPicPr>
          <p:cNvPr id="8" name="Picture 7" descr="15_flujo_completo.png"/>
          <p:cNvPicPr>
            <a:picLocks noChangeAspect="1"/>
          </p:cNvPicPr>
          <p:nvPr/>
        </p:nvPicPr>
        <p:blipFill>
          <a:blip r:embed="rId2"/>
          <a:stretch>
            <a:fillRect/>
          </a:stretch>
        </p:blipFill>
        <p:spPr>
          <a:xfrm>
            <a:off x="4663440" y="3133348"/>
            <a:ext cx="4206240" cy="1597141"/>
          </a:xfrm>
          <a:prstGeom prst="rect">
            <a:avLst/>
          </a:prstGeom>
        </p:spPr>
      </p:pic>
      <p:sp>
        <p:nvSpPr>
          <p:cNvPr id="9" name="TextBox 8"/>
          <p:cNvSpPr txBox="1"/>
          <p:nvPr/>
        </p:nvSpPr>
        <p:spPr>
          <a:xfrm>
            <a:off x="4663440" y="6035040"/>
            <a:ext cx="4206240" cy="310896"/>
          </a:xfrm>
          <a:prstGeom prst="rect">
            <a:avLst/>
          </a:prstGeom>
          <a:noFill/>
        </p:spPr>
        <p:txBody>
          <a:bodyPr wrap="square" lIns="0" rIns="0" tIns="0" bIns="0">
            <a:spAutoFit/>
          </a:bodyPr>
          <a:lstStyle/>
          <a:p>
            <a:pPr algn="ctr"/>
            <a:r>
              <a:rPr sz="1100" b="0" i="1">
                <a:solidFill>
                  <a:srgbClr val="555555"/>
                </a:solidFill>
                <a:latin typeface="Ubuntu"/>
              </a:rPr>
              <a:t>A menudo se combinan: primero PCA, luego clustering.</a:t>
            </a:r>
          </a:p>
        </p:txBody>
      </p:sp>
      <p:sp>
        <p:nvSpPr>
          <p:cNvPr id="10" name="TextBox 9"/>
          <p:cNvSpPr txBox="1"/>
          <p:nvPr/>
        </p:nvSpPr>
        <p:spPr>
          <a:xfrm>
            <a:off x="5486400" y="6565392"/>
            <a:ext cx="3474720" cy="201168"/>
          </a:xfrm>
          <a:prstGeom prst="rect">
            <a:avLst/>
          </a:prstGeom>
          <a:noFill/>
        </p:spPr>
        <p:txBody>
          <a:bodyPr wrap="square" lIns="0" rIns="0" tIns="0" bIns="0">
            <a:spAutoFit/>
          </a:bodyPr>
          <a:lstStyle/>
          <a:p>
            <a:pPr algn="r"/>
            <a:r>
              <a:rPr sz="900" b="0" i="1">
                <a:solidFill>
                  <a:srgbClr val="555555"/>
                </a:solidFill>
                <a:latin typeface="Ubuntu"/>
              </a:rPr>
              <a:t>Sesión 19 · Aprendizaje no supervisado  -  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2926080" cy="2743200"/>
          </a:xfrm>
          <a:prstGeom prst="rect">
            <a:avLst/>
          </a:prstGeom>
          <a:noFill/>
        </p:spPr>
        <p:txBody>
          <a:bodyPr wrap="square" lIns="0" rIns="0" tIns="0" bIns="0">
            <a:spAutoFit/>
          </a:bodyPr>
          <a:lstStyle/>
          <a:p>
            <a:pPr algn="l"/>
            <a:r>
              <a:rPr sz="16000" b="1" i="0">
                <a:solidFill>
                  <a:srgbClr val="336395"/>
                </a:solidFill>
                <a:latin typeface="Ubuntu"/>
              </a:rPr>
              <a:t>2</a:t>
            </a:r>
          </a:p>
        </p:txBody>
      </p:sp>
      <p:sp>
        <p:nvSpPr>
          <p:cNvPr id="4" name="Rectangle 3"/>
          <p:cNvSpPr/>
          <p:nvPr/>
        </p:nvSpPr>
        <p:spPr>
          <a:xfrm>
            <a:off x="3383280" y="2194560"/>
            <a:ext cx="73152" cy="20116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0" y="2286000"/>
            <a:ext cx="5120640" cy="1645920"/>
          </a:xfrm>
          <a:prstGeom prst="rect">
            <a:avLst/>
          </a:prstGeom>
          <a:noFill/>
        </p:spPr>
        <p:txBody>
          <a:bodyPr wrap="square" lIns="0" rIns="0" tIns="0" bIns="0" anchor="ctr">
            <a:spAutoFit/>
          </a:bodyPr>
          <a:lstStyle/>
          <a:p>
            <a:pPr algn="l">
              <a:lnSpc>
                <a:spcPct val="105000"/>
              </a:lnSpc>
            </a:pPr>
            <a:r>
              <a:rPr sz="3400" b="1" i="0">
                <a:solidFill>
                  <a:srgbClr val="FFFFFF"/>
                </a:solidFill>
                <a:latin typeface="Ubuntu"/>
              </a:rPr>
              <a:t>PCA</a:t>
            </a:r>
          </a:p>
        </p:txBody>
      </p:sp>
      <p:sp>
        <p:nvSpPr>
          <p:cNvPr id="6" name="TextBox 5"/>
          <p:cNvSpPr txBox="1"/>
          <p:nvPr/>
        </p:nvSpPr>
        <p:spPr>
          <a:xfrm>
            <a:off x="3657600" y="4069080"/>
            <a:ext cx="5120640" cy="822960"/>
          </a:xfrm>
          <a:prstGeom prst="rect">
            <a:avLst/>
          </a:prstGeom>
          <a:noFill/>
        </p:spPr>
        <p:txBody>
          <a:bodyPr wrap="square" lIns="0" rIns="0" tIns="0" bIns="0">
            <a:spAutoFit/>
          </a:bodyPr>
          <a:lstStyle/>
          <a:p>
            <a:pPr algn="l">
              <a:lnSpc>
                <a:spcPct val="120000"/>
              </a:lnSpc>
            </a:pPr>
            <a:r>
              <a:rPr sz="1500" b="0" i="1">
                <a:solidFill>
                  <a:srgbClr val="C7D7E6"/>
                </a:solidFill>
                <a:latin typeface="Ubuntu"/>
              </a:rPr>
              <a:t>Componentes principales: resumir sin perder lo esencial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
            <a:ext cx="8595360" cy="658368"/>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274320"/>
            <a:ext cx="8321040" cy="658368"/>
          </a:xfrm>
          <a:prstGeom prst="rect">
            <a:avLst/>
          </a:prstGeom>
          <a:noFill/>
        </p:spPr>
        <p:txBody>
          <a:bodyPr wrap="square" lIns="0" rIns="0" tIns="0" bIns="0" anchor="ctr">
            <a:spAutoFit/>
          </a:bodyPr>
          <a:lstStyle/>
          <a:p>
            <a:pPr algn="l"/>
            <a:r>
              <a:rPr sz="2200" b="1" i="0">
                <a:solidFill>
                  <a:srgbClr val="FFFFFF"/>
                </a:solidFill>
                <a:latin typeface="Ubuntu"/>
              </a:rPr>
              <a:t>El problema: demasiadas variables</a:t>
            </a:r>
          </a:p>
        </p:txBody>
      </p:sp>
      <p:pic>
        <p:nvPicPr>
          <p:cNvPr id="5" name="Picture 4" descr="08_dimension.png"/>
          <p:cNvPicPr>
            <a:picLocks noChangeAspect="1"/>
          </p:cNvPicPr>
          <p:nvPr/>
        </p:nvPicPr>
        <p:blipFill>
          <a:blip r:embed="rId2"/>
          <a:stretch>
            <a:fillRect/>
          </a:stretch>
        </p:blipFill>
        <p:spPr>
          <a:xfrm>
            <a:off x="457200" y="1346420"/>
            <a:ext cx="8229600" cy="3799399"/>
          </a:xfrm>
          <a:prstGeom prst="rect">
            <a:avLst/>
          </a:prstGeom>
        </p:spPr>
      </p:pic>
      <p:sp>
        <p:nvSpPr>
          <p:cNvPr id="6" name="TextBox 5"/>
          <p:cNvSpPr txBox="1"/>
          <p:nvPr/>
        </p:nvSpPr>
        <p:spPr>
          <a:xfrm>
            <a:off x="457200" y="5303520"/>
            <a:ext cx="8229600" cy="365760"/>
          </a:xfrm>
          <a:prstGeom prst="rect">
            <a:avLst/>
          </a:prstGeom>
          <a:noFill/>
        </p:spPr>
        <p:txBody>
          <a:bodyPr wrap="square" lIns="0" rIns="0" tIns="0" bIns="0">
            <a:spAutoFit/>
          </a:bodyPr>
          <a:lstStyle/>
          <a:p>
            <a:pPr algn="ctr"/>
            <a:r>
              <a:rPr sz="1300" b="0" i="1">
                <a:solidFill>
                  <a:srgbClr val="555555"/>
                </a:solidFill>
                <a:latin typeface="Ubuntu"/>
              </a:rPr>
              <a:t>Con muchas variables no podemos graficar ni ver patrones a simple vista.</a:t>
            </a:r>
          </a:p>
        </p:txBody>
      </p:sp>
      <p:sp>
        <p:nvSpPr>
          <p:cNvPr id="7" name="Rectangle 6"/>
          <p:cNvSpPr/>
          <p:nvPr/>
        </p:nvSpPr>
        <p:spPr>
          <a:xfrm>
            <a:off x="274320" y="5486400"/>
            <a:ext cx="8595360" cy="868680"/>
          </a:xfrm>
          <a:prstGeom prst="rect">
            <a:avLst/>
          </a:prstGeom>
          <a:solidFill>
            <a:srgbClr val="F0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0624" y="5577840"/>
            <a:ext cx="8302752" cy="685800"/>
          </a:xfrm>
          <a:prstGeom prst="rect">
            <a:avLst/>
          </a:prstGeom>
          <a:noFill/>
        </p:spPr>
        <p:txBody>
          <a:bodyPr wrap="square" lIns="0" rIns="0" tIns="0" bIns="0">
            <a:spAutoFit/>
          </a:bodyPr>
          <a:lstStyle/>
          <a:p>
            <a:pPr algn="l">
              <a:lnSpc>
                <a:spcPct val="125000"/>
              </a:lnSpc>
            </a:pPr>
            <a:r>
              <a:rPr sz="1400" b="0" i="0">
                <a:solidFill>
                  <a:srgbClr val="000000"/>
                </a:solidFill>
                <a:latin typeface="Ubuntu"/>
              </a:rPr>
              <a:t>Con 12 variables hay 66 posibles pares de ejes para graficar: imposible de inspeccionar. PCA busca POCOS ejes nuevos que concentren casi toda la información.</a:t>
            </a:r>
          </a:p>
        </p:txBody>
      </p:sp>
      <p:sp>
        <p:nvSpPr>
          <p:cNvPr id="9" name="TextBox 8"/>
          <p:cNvSpPr txBox="1"/>
          <p:nvPr/>
        </p:nvSpPr>
        <p:spPr>
          <a:xfrm>
            <a:off x="5486400" y="6565392"/>
            <a:ext cx="3474720" cy="201168"/>
          </a:xfrm>
          <a:prstGeom prst="rect">
            <a:avLst/>
          </a:prstGeom>
          <a:noFill/>
        </p:spPr>
        <p:txBody>
          <a:bodyPr wrap="square" lIns="0" rIns="0" tIns="0" bIns="0">
            <a:spAutoFit/>
          </a:bodyPr>
          <a:lstStyle/>
          <a:p>
            <a:pPr algn="r"/>
            <a:r>
              <a:rPr sz="900" b="0" i="1">
                <a:solidFill>
                  <a:srgbClr val="555555"/>
                </a:solidFill>
                <a:latin typeface="Ubuntu"/>
              </a:rPr>
              <a:t>Sesión 19 · Aprendizaje no supervisado  -  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
            <a:ext cx="8595360" cy="658368"/>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274320"/>
            <a:ext cx="8321040" cy="658368"/>
          </a:xfrm>
          <a:prstGeom prst="rect">
            <a:avLst/>
          </a:prstGeom>
          <a:noFill/>
        </p:spPr>
        <p:txBody>
          <a:bodyPr wrap="square" lIns="0" rIns="0" tIns="0" bIns="0" anchor="ctr">
            <a:spAutoFit/>
          </a:bodyPr>
          <a:lstStyle/>
          <a:p>
            <a:pPr algn="l"/>
            <a:r>
              <a:rPr sz="2200" b="1" i="0">
                <a:solidFill>
                  <a:srgbClr val="FFFFFF"/>
                </a:solidFill>
                <a:latin typeface="Ubuntu"/>
              </a:rPr>
              <a:t>La idea de PCA, en una analogía</a:t>
            </a:r>
          </a:p>
        </p:txBody>
      </p:sp>
      <p:sp>
        <p:nvSpPr>
          <p:cNvPr id="5" name="Rectangle 4"/>
          <p:cNvSpPr/>
          <p:nvPr/>
        </p:nvSpPr>
        <p:spPr>
          <a:xfrm>
            <a:off x="274320" y="1280160"/>
            <a:ext cx="109728" cy="4572000"/>
          </a:xfrm>
          <a:prstGeom prst="rect">
            <a:avLst/>
          </a:prstGeom>
          <a:solidFill>
            <a:srgbClr val="C97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80160"/>
            <a:ext cx="4206240" cy="4572000"/>
          </a:xfrm>
          <a:prstGeom prst="rect">
            <a:avLst/>
          </a:prstGeom>
          <a:solidFill>
            <a:srgbClr val="F7EC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3504" y="1371600"/>
            <a:ext cx="3913632" cy="365760"/>
          </a:xfrm>
          <a:prstGeom prst="rect">
            <a:avLst/>
          </a:prstGeom>
          <a:noFill/>
        </p:spPr>
        <p:txBody>
          <a:bodyPr wrap="square" lIns="0" rIns="0" tIns="0" bIns="0">
            <a:spAutoFit/>
          </a:bodyPr>
          <a:lstStyle/>
          <a:p>
            <a:pPr algn="l"/>
            <a:r>
              <a:rPr sz="1800" b="1" i="0">
                <a:solidFill>
                  <a:srgbClr val="C97B2A"/>
                </a:solidFill>
                <a:latin typeface="Ubuntu"/>
              </a:rPr>
              <a:t>Piénsalo así</a:t>
            </a:r>
          </a:p>
        </p:txBody>
      </p:sp>
      <p:sp>
        <p:nvSpPr>
          <p:cNvPr id="8" name="TextBox 7"/>
          <p:cNvSpPr txBox="1"/>
          <p:nvPr/>
        </p:nvSpPr>
        <p:spPr>
          <a:xfrm>
            <a:off x="603504" y="1755648"/>
            <a:ext cx="3913632" cy="4005072"/>
          </a:xfrm>
          <a:prstGeom prst="rect">
            <a:avLst/>
          </a:prstGeom>
          <a:noFill/>
        </p:spPr>
        <p:txBody>
          <a:bodyPr wrap="square" lIns="0" rIns="0" tIns="0" bIns="0">
            <a:spAutoFit/>
          </a:bodyPr>
          <a:lstStyle/>
          <a:p>
            <a:pPr algn="l">
              <a:lnSpc>
                <a:spcPct val="145000"/>
              </a:lnSpc>
            </a:pPr>
            <a:r>
              <a:rPr sz="1600" b="0" i="0">
                <a:solidFill>
                  <a:srgbClr val="000000"/>
                </a:solidFill>
                <a:latin typeface="Ubuntu"/>
              </a:rPr>
              <a:t>Imagina las calificaciones de 6 materias de cada alumno. En lugar de cargar las 6, podrías resumirlas en 2 números: un "perfil de ciencias" y un "perfil de humanidades".</a:t>
            </a:r>
          </a:p>
          <a:p>
            <a:pPr algn="l">
              <a:lnSpc>
                <a:spcPct val="145000"/>
              </a:lnSpc>
            </a:pPr>
            <a:r>
              <a:rPr sz="1600" b="0" i="0">
                <a:solidFill>
                  <a:srgbClr val="000000"/>
                </a:solidFill>
                <a:latin typeface="Ubuntu"/>
              </a:rPr>
              <a:t/>
            </a:r>
          </a:p>
          <a:p>
            <a:pPr algn="l">
              <a:lnSpc>
                <a:spcPct val="145000"/>
              </a:lnSpc>
            </a:pPr>
            <a:r>
              <a:rPr sz="1600" b="0" i="0">
                <a:solidFill>
                  <a:srgbClr val="000000"/>
                </a:solidFill>
                <a:latin typeface="Ubuntu"/>
              </a:rPr>
              <a:t>Pierdes algún detalle, pero conservas casi toda la información con muchos menos números. ESO hace PCA: crea "resúmenes" (componentes) que combinan las variables originales.</a:t>
            </a:r>
          </a:p>
        </p:txBody>
      </p:sp>
      <p:pic>
        <p:nvPicPr>
          <p:cNvPr id="9" name="Picture 8" descr="10_analogia_pca.png"/>
          <p:cNvPicPr>
            <a:picLocks noChangeAspect="1"/>
          </p:cNvPicPr>
          <p:nvPr/>
        </p:nvPicPr>
        <p:blipFill>
          <a:blip r:embed="rId2"/>
          <a:stretch>
            <a:fillRect/>
          </a:stretch>
        </p:blipFill>
        <p:spPr>
          <a:xfrm>
            <a:off x="4846320" y="2644548"/>
            <a:ext cx="4023360" cy="1843223"/>
          </a:xfrm>
          <a:prstGeom prst="rect">
            <a:avLst/>
          </a:prstGeom>
        </p:spPr>
      </p:pic>
      <p:sp>
        <p:nvSpPr>
          <p:cNvPr id="10" name="TextBox 9"/>
          <p:cNvSpPr txBox="1"/>
          <p:nvPr/>
        </p:nvSpPr>
        <p:spPr>
          <a:xfrm>
            <a:off x="5486400" y="6565392"/>
            <a:ext cx="3474720" cy="201168"/>
          </a:xfrm>
          <a:prstGeom prst="rect">
            <a:avLst/>
          </a:prstGeom>
          <a:noFill/>
        </p:spPr>
        <p:txBody>
          <a:bodyPr wrap="square" lIns="0" rIns="0" tIns="0" bIns="0">
            <a:spAutoFit/>
          </a:bodyPr>
          <a:lstStyle/>
          <a:p>
            <a:pPr algn="r"/>
            <a:r>
              <a:rPr sz="900" b="0" i="1">
                <a:solidFill>
                  <a:srgbClr val="555555"/>
                </a:solidFill>
                <a:latin typeface="Ubuntu"/>
              </a:rPr>
              <a:t>Sesión 19 · Aprendizaje no supervisado  -  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
            <a:ext cx="8595360" cy="658368"/>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274320"/>
            <a:ext cx="8321040" cy="658368"/>
          </a:xfrm>
          <a:prstGeom prst="rect">
            <a:avLst/>
          </a:prstGeom>
          <a:noFill/>
        </p:spPr>
        <p:txBody>
          <a:bodyPr wrap="square" lIns="0" rIns="0" tIns="0" bIns="0" anchor="ctr">
            <a:spAutoFit/>
          </a:bodyPr>
          <a:lstStyle/>
          <a:p>
            <a:pPr algn="l"/>
            <a:r>
              <a:rPr sz="2200" b="1" i="0">
                <a:solidFill>
                  <a:srgbClr val="FFFFFF"/>
                </a:solidFill>
                <a:latin typeface="Ubuntu"/>
              </a:rPr>
              <a:t>¿Qué es una componente principal?</a:t>
            </a:r>
          </a:p>
        </p:txBody>
      </p:sp>
      <p:pic>
        <p:nvPicPr>
          <p:cNvPr id="5" name="Picture 4" descr="09_pca_idea.png"/>
          <p:cNvPicPr>
            <a:picLocks noChangeAspect="1"/>
          </p:cNvPicPr>
          <p:nvPr/>
        </p:nvPicPr>
        <p:blipFill>
          <a:blip r:embed="rId2"/>
          <a:stretch>
            <a:fillRect/>
          </a:stretch>
        </p:blipFill>
        <p:spPr>
          <a:xfrm>
            <a:off x="638538" y="1234440"/>
            <a:ext cx="7866924" cy="4023360"/>
          </a:xfrm>
          <a:prstGeom prst="rect">
            <a:avLst/>
          </a:prstGeom>
        </p:spPr>
      </p:pic>
      <p:sp>
        <p:nvSpPr>
          <p:cNvPr id="6" name="TextBox 5"/>
          <p:cNvSpPr txBox="1"/>
          <p:nvPr/>
        </p:nvSpPr>
        <p:spPr>
          <a:xfrm>
            <a:off x="457200" y="5303520"/>
            <a:ext cx="8229600" cy="365760"/>
          </a:xfrm>
          <a:prstGeom prst="rect">
            <a:avLst/>
          </a:prstGeom>
          <a:noFill/>
        </p:spPr>
        <p:txBody>
          <a:bodyPr wrap="square" lIns="0" rIns="0" tIns="0" bIns="0">
            <a:spAutoFit/>
          </a:bodyPr>
          <a:lstStyle/>
          <a:p>
            <a:pPr algn="ctr"/>
            <a:r>
              <a:rPr sz="1300" b="0" i="1">
                <a:solidFill>
                  <a:srgbClr val="555555"/>
                </a:solidFill>
                <a:latin typeface="Ubuntu"/>
              </a:rPr>
              <a:t>La 1ª componente es la dirección en la que la nube de puntos más se estira.</a:t>
            </a:r>
          </a:p>
        </p:txBody>
      </p:sp>
      <p:sp>
        <p:nvSpPr>
          <p:cNvPr id="7" name="Rectangle 6"/>
          <p:cNvSpPr/>
          <p:nvPr/>
        </p:nvSpPr>
        <p:spPr>
          <a:xfrm>
            <a:off x="274320" y="5486400"/>
            <a:ext cx="8595360" cy="868680"/>
          </a:xfrm>
          <a:prstGeom prst="rect">
            <a:avLst/>
          </a:prstGeom>
          <a:solidFill>
            <a:srgbClr val="F0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0624" y="5577840"/>
            <a:ext cx="8302752" cy="685800"/>
          </a:xfrm>
          <a:prstGeom prst="rect">
            <a:avLst/>
          </a:prstGeom>
          <a:noFill/>
        </p:spPr>
        <p:txBody>
          <a:bodyPr wrap="square" lIns="0" rIns="0" tIns="0" bIns="0">
            <a:spAutoFit/>
          </a:bodyPr>
          <a:lstStyle/>
          <a:p>
            <a:pPr algn="l">
              <a:lnSpc>
                <a:spcPct val="125000"/>
              </a:lnSpc>
            </a:pPr>
            <a:r>
              <a:rPr sz="1400" b="0" i="0">
                <a:solidFill>
                  <a:srgbClr val="000000"/>
                </a:solidFill>
                <a:latin typeface="Ubuntu"/>
              </a:rPr>
              <a:t>PCA gira los ejes: el nuevo eje 1 (CP1) apunta hacia donde los datos tienen MÁS variación; el CP2 hacia la segunda dirección con más variación, perpendicular al primero, y así sucesivamente.</a:t>
            </a:r>
          </a:p>
        </p:txBody>
      </p:sp>
      <p:sp>
        <p:nvSpPr>
          <p:cNvPr id="9" name="TextBox 8"/>
          <p:cNvSpPr txBox="1"/>
          <p:nvPr/>
        </p:nvSpPr>
        <p:spPr>
          <a:xfrm>
            <a:off x="5486400" y="6565392"/>
            <a:ext cx="3474720" cy="201168"/>
          </a:xfrm>
          <a:prstGeom prst="rect">
            <a:avLst/>
          </a:prstGeom>
          <a:noFill/>
        </p:spPr>
        <p:txBody>
          <a:bodyPr wrap="square" lIns="0" rIns="0" tIns="0" bIns="0">
            <a:spAutoFit/>
          </a:bodyPr>
          <a:lstStyle/>
          <a:p>
            <a:pPr algn="r"/>
            <a:r>
              <a:rPr sz="900" b="0" i="1">
                <a:solidFill>
                  <a:srgbClr val="555555"/>
                </a:solidFill>
                <a:latin typeface="Ubuntu"/>
              </a:rPr>
              <a:t>Sesión 19 · Aprendizaje no supervisado  -  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
            <a:ext cx="8595360" cy="658368"/>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274320"/>
            <a:ext cx="8321040" cy="658368"/>
          </a:xfrm>
          <a:prstGeom prst="rect">
            <a:avLst/>
          </a:prstGeom>
          <a:noFill/>
        </p:spPr>
        <p:txBody>
          <a:bodyPr wrap="square" lIns="0" rIns="0" tIns="0" bIns="0" anchor="ctr">
            <a:spAutoFit/>
          </a:bodyPr>
          <a:lstStyle/>
          <a:p>
            <a:pPr algn="l"/>
            <a:r>
              <a:rPr sz="2200" b="1" i="0">
                <a:solidFill>
                  <a:srgbClr val="FFFFFF"/>
                </a:solidFill>
                <a:latin typeface="Ubuntu"/>
              </a:rPr>
              <a:t>PCA: el fundamento matemático (1)</a:t>
            </a:r>
          </a:p>
        </p:txBody>
      </p:sp>
      <p:sp>
        <p:nvSpPr>
          <p:cNvPr id="5" name="TextBox 4"/>
          <p:cNvSpPr txBox="1"/>
          <p:nvPr/>
        </p:nvSpPr>
        <p:spPr>
          <a:xfrm>
            <a:off x="365760" y="1097280"/>
            <a:ext cx="8412480" cy="548640"/>
          </a:xfrm>
          <a:prstGeom prst="rect">
            <a:avLst/>
          </a:prstGeom>
          <a:noFill/>
        </p:spPr>
        <p:txBody>
          <a:bodyPr wrap="square" lIns="0" rIns="0" tIns="0" bIns="0">
            <a:spAutoFit/>
          </a:bodyPr>
          <a:lstStyle/>
          <a:p>
            <a:pPr algn="l">
              <a:lnSpc>
                <a:spcPct val="120000"/>
              </a:lnSpc>
            </a:pPr>
            <a:r>
              <a:rPr sz="1400" b="0" i="1">
                <a:solidFill>
                  <a:srgbClr val="1E4C7D"/>
                </a:solidFill>
                <a:latin typeface="Ubuntu"/>
              </a:rPr>
              <a:t>Maximizar varianza = capturar la mayor cantidad de información posible.</a:t>
            </a:r>
          </a:p>
        </p:txBody>
      </p:sp>
      <p:pic>
        <p:nvPicPr>
          <p:cNvPr id="6" name="Picture 5" descr="f_pca_var.png"/>
          <p:cNvPicPr>
            <a:picLocks noChangeAspect="1"/>
          </p:cNvPicPr>
          <p:nvPr/>
        </p:nvPicPr>
        <p:blipFill>
          <a:blip r:embed="rId2"/>
          <a:stretch>
            <a:fillRect/>
          </a:stretch>
        </p:blipFill>
        <p:spPr>
          <a:xfrm>
            <a:off x="1098141" y="1783080"/>
            <a:ext cx="6947717" cy="2011680"/>
          </a:xfrm>
          <a:prstGeom prst="rect">
            <a:avLst/>
          </a:prstGeom>
        </p:spPr>
      </p:pic>
      <p:sp>
        <p:nvSpPr>
          <p:cNvPr id="7" name="Rectangle 6"/>
          <p:cNvSpPr/>
          <p:nvPr/>
        </p:nvSpPr>
        <p:spPr>
          <a:xfrm>
            <a:off x="274320" y="4023360"/>
            <a:ext cx="8595360" cy="1965959"/>
          </a:xfrm>
          <a:prstGeom prst="rect">
            <a:avLst/>
          </a:prstGeom>
          <a:solidFill>
            <a:srgbClr val="F0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0624" y="4114800"/>
            <a:ext cx="8302752" cy="365760"/>
          </a:xfrm>
          <a:prstGeom prst="rect">
            <a:avLst/>
          </a:prstGeom>
          <a:noFill/>
        </p:spPr>
        <p:txBody>
          <a:bodyPr wrap="square" lIns="0" rIns="0" tIns="0" bIns="0">
            <a:spAutoFit/>
          </a:bodyPr>
          <a:lstStyle/>
          <a:p>
            <a:pPr algn="l"/>
            <a:r>
              <a:rPr sz="1600" b="1" i="0">
                <a:solidFill>
                  <a:srgbClr val="1A7A3A"/>
                </a:solidFill>
                <a:latin typeface="Ubuntu"/>
              </a:rPr>
              <a:t>Qué significa</a:t>
            </a:r>
          </a:p>
        </p:txBody>
      </p:sp>
      <p:sp>
        <p:nvSpPr>
          <p:cNvPr id="9" name="TextBox 8"/>
          <p:cNvSpPr txBox="1"/>
          <p:nvPr/>
        </p:nvSpPr>
        <p:spPr>
          <a:xfrm>
            <a:off x="420624" y="4498848"/>
            <a:ext cx="8302752" cy="1399031"/>
          </a:xfrm>
          <a:prstGeom prst="rect">
            <a:avLst/>
          </a:prstGeom>
          <a:noFill/>
        </p:spPr>
        <p:txBody>
          <a:bodyPr wrap="square" lIns="0" rIns="0" tIns="0" bIns="0">
            <a:spAutoFit/>
          </a:bodyPr>
          <a:lstStyle/>
          <a:p>
            <a:pPr algn="l">
              <a:lnSpc>
                <a:spcPct val="135000"/>
              </a:lnSpc>
            </a:pPr>
            <a:r>
              <a:rPr sz="1400" b="0" i="0">
                <a:solidFill>
                  <a:srgbClr val="000000"/>
                </a:solidFill>
                <a:latin typeface="Ubuntu"/>
              </a:rPr>
              <a:t>Cada componente es una combinación lineal de las variables. La PRIMERA componente busca los pesos (φ) que MAXIMIZAN la varianza de los datos proyectados, con la restricción de que los pesos al cuadrado sumen 1 (para que el problema tenga solución única). En palabras: ¿qué mezcla de variables separa más a las observaciones?</a:t>
            </a:r>
          </a:p>
        </p:txBody>
      </p:sp>
      <p:sp>
        <p:nvSpPr>
          <p:cNvPr id="10" name="TextBox 9"/>
          <p:cNvSpPr txBox="1"/>
          <p:nvPr/>
        </p:nvSpPr>
        <p:spPr>
          <a:xfrm>
            <a:off x="5486400" y="6565392"/>
            <a:ext cx="3474720" cy="201168"/>
          </a:xfrm>
          <a:prstGeom prst="rect">
            <a:avLst/>
          </a:prstGeom>
          <a:noFill/>
        </p:spPr>
        <p:txBody>
          <a:bodyPr wrap="square" lIns="0" rIns="0" tIns="0" bIns="0">
            <a:spAutoFit/>
          </a:bodyPr>
          <a:lstStyle/>
          <a:p>
            <a:pPr algn="r"/>
            <a:r>
              <a:rPr sz="900" b="0" i="1">
                <a:solidFill>
                  <a:srgbClr val="555555"/>
                </a:solidFill>
                <a:latin typeface="Ubuntu"/>
              </a:rPr>
              <a:t>Sesión 19 · Aprendizaje no supervisado  -  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
            <a:ext cx="8595360" cy="658368"/>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274320"/>
            <a:ext cx="8321040" cy="658368"/>
          </a:xfrm>
          <a:prstGeom prst="rect">
            <a:avLst/>
          </a:prstGeom>
          <a:noFill/>
        </p:spPr>
        <p:txBody>
          <a:bodyPr wrap="square" lIns="0" rIns="0" tIns="0" bIns="0" anchor="ctr">
            <a:spAutoFit/>
          </a:bodyPr>
          <a:lstStyle/>
          <a:p>
            <a:pPr algn="l"/>
            <a:r>
              <a:rPr sz="2200" b="1" i="0">
                <a:solidFill>
                  <a:srgbClr val="FFFFFF"/>
                </a:solidFill>
                <a:latin typeface="Ubuntu"/>
              </a:rPr>
              <a:t>PCA: el fundamento matemático (2)</a:t>
            </a:r>
          </a:p>
        </p:txBody>
      </p:sp>
      <p:pic>
        <p:nvPicPr>
          <p:cNvPr id="5" name="Picture 4" descr="f_pc1.png"/>
          <p:cNvPicPr>
            <a:picLocks noChangeAspect="1"/>
          </p:cNvPicPr>
          <p:nvPr/>
        </p:nvPicPr>
        <p:blipFill>
          <a:blip r:embed="rId2"/>
          <a:stretch>
            <a:fillRect/>
          </a:stretch>
        </p:blipFill>
        <p:spPr>
          <a:xfrm>
            <a:off x="877077" y="1188720"/>
            <a:ext cx="7389845" cy="2011680"/>
          </a:xfrm>
          <a:prstGeom prst="rect">
            <a:avLst/>
          </a:prstGeom>
        </p:spPr>
      </p:pic>
      <p:sp>
        <p:nvSpPr>
          <p:cNvPr id="6" name="Rectangle 5"/>
          <p:cNvSpPr/>
          <p:nvPr/>
        </p:nvSpPr>
        <p:spPr>
          <a:xfrm>
            <a:off x="274320" y="3429000"/>
            <a:ext cx="8595360" cy="2560320"/>
          </a:xfrm>
          <a:prstGeom prst="rect">
            <a:avLst/>
          </a:prstGeom>
          <a:solidFill>
            <a:srgbClr val="F0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20624" y="3520440"/>
            <a:ext cx="8302752" cy="365760"/>
          </a:xfrm>
          <a:prstGeom prst="rect">
            <a:avLst/>
          </a:prstGeom>
          <a:noFill/>
        </p:spPr>
        <p:txBody>
          <a:bodyPr wrap="square" lIns="0" rIns="0" tIns="0" bIns="0">
            <a:spAutoFit/>
          </a:bodyPr>
          <a:lstStyle/>
          <a:p>
            <a:pPr algn="l"/>
            <a:r>
              <a:rPr sz="1600" b="1" i="0">
                <a:solidFill>
                  <a:srgbClr val="1A7A3A"/>
                </a:solidFill>
                <a:latin typeface="Ubuntu"/>
              </a:rPr>
              <a:t>Qué significa</a:t>
            </a:r>
          </a:p>
        </p:txBody>
      </p:sp>
      <p:sp>
        <p:nvSpPr>
          <p:cNvPr id="8" name="TextBox 7"/>
          <p:cNvSpPr txBox="1"/>
          <p:nvPr/>
        </p:nvSpPr>
        <p:spPr>
          <a:xfrm>
            <a:off x="420624" y="3904488"/>
            <a:ext cx="8302752" cy="1993392"/>
          </a:xfrm>
          <a:prstGeom prst="rect">
            <a:avLst/>
          </a:prstGeom>
          <a:noFill/>
        </p:spPr>
        <p:txBody>
          <a:bodyPr wrap="square" lIns="0" rIns="0" tIns="0" bIns="0">
            <a:spAutoFit/>
          </a:bodyPr>
          <a:lstStyle/>
          <a:p>
            <a:pPr algn="l">
              <a:lnSpc>
                <a:spcPct val="135000"/>
              </a:lnSpc>
            </a:pPr>
            <a:r>
              <a:rPr sz="1400" b="0" i="0">
                <a:solidFill>
                  <a:srgbClr val="000000"/>
                </a:solidFill>
                <a:latin typeface="Ubuntu"/>
              </a:rPr>
              <a:t>Así se calcula el VALOR de la 1ª componente para la observación i: se multiplican sus variables por los pesos φ y se suman. φ_j1 (la 'carga') dice cuánto pesa la variable j en esta componente. Cargas grandes (en valor absoluto) = variables que definen el eje. El signo indica la dirección. Leer las cargas es cómo INTERPRETAMOS qué significa cada componente.</a:t>
            </a:r>
          </a:p>
        </p:txBody>
      </p:sp>
      <p:sp>
        <p:nvSpPr>
          <p:cNvPr id="9" name="TextBox 8"/>
          <p:cNvSpPr txBox="1"/>
          <p:nvPr/>
        </p:nvSpPr>
        <p:spPr>
          <a:xfrm>
            <a:off x="5486400" y="6565392"/>
            <a:ext cx="3474720" cy="201168"/>
          </a:xfrm>
          <a:prstGeom prst="rect">
            <a:avLst/>
          </a:prstGeom>
          <a:noFill/>
        </p:spPr>
        <p:txBody>
          <a:bodyPr wrap="square" lIns="0" rIns="0" tIns="0" bIns="0">
            <a:spAutoFit/>
          </a:bodyPr>
          <a:lstStyle/>
          <a:p>
            <a:pPr algn="r"/>
            <a:r>
              <a:rPr sz="900" b="0" i="1">
                <a:solidFill>
                  <a:srgbClr val="555555"/>
                </a:solidFill>
                <a:latin typeface="Ubuntu"/>
              </a:rPr>
              <a:t>Sesión 19 · Aprendizaje no supervisado  -  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
            <a:ext cx="8595360" cy="658368"/>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274320"/>
            <a:ext cx="8321040" cy="658368"/>
          </a:xfrm>
          <a:prstGeom prst="rect">
            <a:avLst/>
          </a:prstGeom>
          <a:noFill/>
        </p:spPr>
        <p:txBody>
          <a:bodyPr wrap="square" lIns="0" rIns="0" tIns="0" bIns="0" anchor="ctr">
            <a:spAutoFit/>
          </a:bodyPr>
          <a:lstStyle/>
          <a:p>
            <a:pPr algn="l"/>
            <a:r>
              <a:rPr sz="2200" b="1" i="0">
                <a:solidFill>
                  <a:srgbClr val="FFFFFF"/>
                </a:solidFill>
                <a:latin typeface="Ubuntu"/>
              </a:rPr>
              <a:t>Antes de PCA: estandarizar (z-score)</a:t>
            </a:r>
          </a:p>
        </p:txBody>
      </p:sp>
      <p:sp>
        <p:nvSpPr>
          <p:cNvPr id="5" name="TextBox 4"/>
          <p:cNvSpPr txBox="1"/>
          <p:nvPr/>
        </p:nvSpPr>
        <p:spPr>
          <a:xfrm>
            <a:off x="365760" y="1097280"/>
            <a:ext cx="8412480" cy="548640"/>
          </a:xfrm>
          <a:prstGeom prst="rect">
            <a:avLst/>
          </a:prstGeom>
          <a:noFill/>
        </p:spPr>
        <p:txBody>
          <a:bodyPr wrap="square" lIns="0" rIns="0" tIns="0" bIns="0">
            <a:spAutoFit/>
          </a:bodyPr>
          <a:lstStyle/>
          <a:p>
            <a:pPr algn="l">
              <a:lnSpc>
                <a:spcPct val="120000"/>
              </a:lnSpc>
            </a:pPr>
            <a:r>
              <a:rPr sz="1400" b="0" i="1">
                <a:solidFill>
                  <a:srgbClr val="1E4C7D"/>
                </a:solidFill>
                <a:latin typeface="Ubuntu"/>
              </a:rPr>
              <a:t>Regla de oro: estandariza SIEMPRE antes de PCA (y antes de clustering).</a:t>
            </a:r>
          </a:p>
        </p:txBody>
      </p:sp>
      <p:pic>
        <p:nvPicPr>
          <p:cNvPr id="6" name="Picture 5" descr="f_estandarizar.png"/>
          <p:cNvPicPr>
            <a:picLocks noChangeAspect="1"/>
          </p:cNvPicPr>
          <p:nvPr/>
        </p:nvPicPr>
        <p:blipFill>
          <a:blip r:embed="rId2"/>
          <a:stretch>
            <a:fillRect/>
          </a:stretch>
        </p:blipFill>
        <p:spPr>
          <a:xfrm>
            <a:off x="1098141" y="1783080"/>
            <a:ext cx="6947717" cy="2011680"/>
          </a:xfrm>
          <a:prstGeom prst="rect">
            <a:avLst/>
          </a:prstGeom>
        </p:spPr>
      </p:pic>
      <p:sp>
        <p:nvSpPr>
          <p:cNvPr id="7" name="Rectangle 6"/>
          <p:cNvSpPr/>
          <p:nvPr/>
        </p:nvSpPr>
        <p:spPr>
          <a:xfrm>
            <a:off x="274320" y="4023360"/>
            <a:ext cx="8595360" cy="1965959"/>
          </a:xfrm>
          <a:prstGeom prst="rect">
            <a:avLst/>
          </a:prstGeom>
          <a:solidFill>
            <a:srgbClr val="F0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0624" y="4114800"/>
            <a:ext cx="8302752" cy="365760"/>
          </a:xfrm>
          <a:prstGeom prst="rect">
            <a:avLst/>
          </a:prstGeom>
          <a:noFill/>
        </p:spPr>
        <p:txBody>
          <a:bodyPr wrap="square" lIns="0" rIns="0" tIns="0" bIns="0">
            <a:spAutoFit/>
          </a:bodyPr>
          <a:lstStyle/>
          <a:p>
            <a:pPr algn="l"/>
            <a:r>
              <a:rPr sz="1600" b="1" i="0">
                <a:solidFill>
                  <a:srgbClr val="1A7A3A"/>
                </a:solidFill>
                <a:latin typeface="Ubuntu"/>
              </a:rPr>
              <a:t>Qué significa</a:t>
            </a:r>
          </a:p>
        </p:txBody>
      </p:sp>
      <p:sp>
        <p:nvSpPr>
          <p:cNvPr id="9" name="TextBox 8"/>
          <p:cNvSpPr txBox="1"/>
          <p:nvPr/>
        </p:nvSpPr>
        <p:spPr>
          <a:xfrm>
            <a:off x="420624" y="4498848"/>
            <a:ext cx="8302752" cy="1399031"/>
          </a:xfrm>
          <a:prstGeom prst="rect">
            <a:avLst/>
          </a:prstGeom>
          <a:noFill/>
        </p:spPr>
        <p:txBody>
          <a:bodyPr wrap="square" lIns="0" rIns="0" tIns="0" bIns="0">
            <a:spAutoFit/>
          </a:bodyPr>
          <a:lstStyle/>
          <a:p>
            <a:pPr algn="l">
              <a:lnSpc>
                <a:spcPct val="135000"/>
              </a:lnSpc>
            </a:pPr>
            <a:r>
              <a:rPr sz="1400" b="0" i="0">
                <a:solidFill>
                  <a:srgbClr val="000000"/>
                </a:solidFill>
                <a:latin typeface="Ubuntu"/>
              </a:rPr>
              <a:t>PCA maximiza varianza, y la varianza depende de las UNIDADES. Si una variable está en pesos (miles) y otra en porcentaje (0–100), la primera dominaría solo por su escala. El z-score resta la media y divide entre la desviación: deja cada variable con media 0 y desviación 1. Así todas compiten en igualdad.</a:t>
            </a:r>
          </a:p>
        </p:txBody>
      </p:sp>
      <p:sp>
        <p:nvSpPr>
          <p:cNvPr id="10" name="TextBox 9"/>
          <p:cNvSpPr txBox="1"/>
          <p:nvPr/>
        </p:nvSpPr>
        <p:spPr>
          <a:xfrm>
            <a:off x="5486400" y="6565392"/>
            <a:ext cx="3474720" cy="201168"/>
          </a:xfrm>
          <a:prstGeom prst="rect">
            <a:avLst/>
          </a:prstGeom>
          <a:noFill/>
        </p:spPr>
        <p:txBody>
          <a:bodyPr wrap="square" lIns="0" rIns="0" tIns="0" bIns="0">
            <a:spAutoFit/>
          </a:bodyPr>
          <a:lstStyle/>
          <a:p>
            <a:pPr algn="r"/>
            <a:r>
              <a:rPr sz="900" b="0" i="1">
                <a:solidFill>
                  <a:srgbClr val="555555"/>
                </a:solidFill>
                <a:latin typeface="Ubuntu"/>
              </a:rPr>
              <a:t>Sesión 19 · Aprendizaje no supervisado  -  10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
            <a:ext cx="8595360" cy="658368"/>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274320"/>
            <a:ext cx="8321040" cy="658368"/>
          </a:xfrm>
          <a:prstGeom prst="rect">
            <a:avLst/>
          </a:prstGeom>
          <a:noFill/>
        </p:spPr>
        <p:txBody>
          <a:bodyPr wrap="square" lIns="0" rIns="0" tIns="0" bIns="0" anchor="ctr">
            <a:spAutoFit/>
          </a:bodyPr>
          <a:lstStyle/>
          <a:p>
            <a:pPr algn="l"/>
            <a:r>
              <a:rPr sz="2200" b="1" i="0">
                <a:solidFill>
                  <a:srgbClr val="FFFFFF"/>
                </a:solidFill>
                <a:latin typeface="Ubuntu"/>
              </a:rPr>
              <a:t>Estandarizar: por qué importa</a:t>
            </a:r>
          </a:p>
        </p:txBody>
      </p:sp>
      <p:pic>
        <p:nvPicPr>
          <p:cNvPr id="5" name="Picture 4" descr="06_estandarizar.png"/>
          <p:cNvPicPr>
            <a:picLocks noChangeAspect="1"/>
          </p:cNvPicPr>
          <p:nvPr/>
        </p:nvPicPr>
        <p:blipFill>
          <a:blip r:embed="rId2"/>
          <a:stretch>
            <a:fillRect/>
          </a:stretch>
        </p:blipFill>
        <p:spPr>
          <a:xfrm>
            <a:off x="457200" y="1325880"/>
            <a:ext cx="8229600" cy="3840480"/>
          </a:xfrm>
          <a:prstGeom prst="rect">
            <a:avLst/>
          </a:prstGeom>
        </p:spPr>
      </p:pic>
      <p:sp>
        <p:nvSpPr>
          <p:cNvPr id="6" name="TextBox 5"/>
          <p:cNvSpPr txBox="1"/>
          <p:nvPr/>
        </p:nvSpPr>
        <p:spPr>
          <a:xfrm>
            <a:off x="457200" y="5303520"/>
            <a:ext cx="8229600" cy="365760"/>
          </a:xfrm>
          <a:prstGeom prst="rect">
            <a:avLst/>
          </a:prstGeom>
          <a:noFill/>
        </p:spPr>
        <p:txBody>
          <a:bodyPr wrap="square" lIns="0" rIns="0" tIns="0" bIns="0">
            <a:spAutoFit/>
          </a:bodyPr>
          <a:lstStyle/>
          <a:p>
            <a:pPr algn="ctr"/>
            <a:r>
              <a:rPr sz="1300" b="0" i="1">
                <a:solidFill>
                  <a:srgbClr val="555555"/>
                </a:solidFill>
                <a:latin typeface="Ubuntu"/>
              </a:rPr>
              <a:t>Sin estandarizar, la variable de números grandes manda; con z-score, todas pesan igual.</a:t>
            </a:r>
          </a:p>
        </p:txBody>
      </p:sp>
      <p:sp>
        <p:nvSpPr>
          <p:cNvPr id="7" name="Rectangle 6"/>
          <p:cNvSpPr/>
          <p:nvPr/>
        </p:nvSpPr>
        <p:spPr>
          <a:xfrm>
            <a:off x="274320" y="5486400"/>
            <a:ext cx="8595360" cy="868680"/>
          </a:xfrm>
          <a:prstGeom prst="rect">
            <a:avLst/>
          </a:prstGeom>
          <a:solidFill>
            <a:srgbClr val="F0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0624" y="5577840"/>
            <a:ext cx="8302752" cy="685800"/>
          </a:xfrm>
          <a:prstGeom prst="rect">
            <a:avLst/>
          </a:prstGeom>
          <a:noFill/>
        </p:spPr>
        <p:txBody>
          <a:bodyPr wrap="square" lIns="0" rIns="0" tIns="0" bIns="0">
            <a:spAutoFit/>
          </a:bodyPr>
          <a:lstStyle/>
          <a:p>
            <a:pPr algn="l">
              <a:lnSpc>
                <a:spcPct val="125000"/>
              </a:lnSpc>
            </a:pPr>
            <a:r>
              <a:rPr sz="1400" b="0" i="0">
                <a:solidFill>
                  <a:srgbClr val="000000"/>
                </a:solidFill>
                <a:latin typeface="Ubuntu"/>
              </a:rPr>
              <a:t>La misma nube se ve distinta según la escala. Estandarizar evita que la elección de unidades (pesos, miles, %) decida el resultado.</a:t>
            </a:r>
          </a:p>
        </p:txBody>
      </p:sp>
      <p:sp>
        <p:nvSpPr>
          <p:cNvPr id="9" name="TextBox 8"/>
          <p:cNvSpPr txBox="1"/>
          <p:nvPr/>
        </p:nvSpPr>
        <p:spPr>
          <a:xfrm>
            <a:off x="5486400" y="6565392"/>
            <a:ext cx="3474720" cy="201168"/>
          </a:xfrm>
          <a:prstGeom prst="rect">
            <a:avLst/>
          </a:prstGeom>
          <a:noFill/>
        </p:spPr>
        <p:txBody>
          <a:bodyPr wrap="square" lIns="0" rIns="0" tIns="0" bIns="0">
            <a:spAutoFit/>
          </a:bodyPr>
          <a:lstStyle/>
          <a:p>
            <a:pPr algn="r"/>
            <a:r>
              <a:rPr sz="900" b="0" i="1">
                <a:solidFill>
                  <a:srgbClr val="555555"/>
                </a:solidFill>
                <a:latin typeface="Ubuntu"/>
              </a:rPr>
              <a:t>Sesión 19 · Aprendizaje no supervisado  -  11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
            <a:ext cx="8595360" cy="658368"/>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274320"/>
            <a:ext cx="8321040" cy="658368"/>
          </a:xfrm>
          <a:prstGeom prst="rect">
            <a:avLst/>
          </a:prstGeom>
          <a:noFill/>
        </p:spPr>
        <p:txBody>
          <a:bodyPr wrap="square" lIns="0" rIns="0" tIns="0" bIns="0" anchor="ctr">
            <a:spAutoFit/>
          </a:bodyPr>
          <a:lstStyle/>
          <a:p>
            <a:pPr algn="l"/>
            <a:r>
              <a:rPr sz="2200" b="1" i="0">
                <a:solidFill>
                  <a:srgbClr val="FFFFFF"/>
                </a:solidFill>
                <a:latin typeface="Ubuntu"/>
              </a:rPr>
              <a:t>¿Cuántas componentes conservar?</a:t>
            </a:r>
          </a:p>
        </p:txBody>
      </p:sp>
      <p:pic>
        <p:nvPicPr>
          <p:cNvPr id="5" name="Picture 4" descr="f_pve.png"/>
          <p:cNvPicPr>
            <a:picLocks noChangeAspect="1"/>
          </p:cNvPicPr>
          <p:nvPr/>
        </p:nvPicPr>
        <p:blipFill>
          <a:blip r:embed="rId2"/>
          <a:stretch>
            <a:fillRect/>
          </a:stretch>
        </p:blipFill>
        <p:spPr>
          <a:xfrm>
            <a:off x="1098141" y="1188720"/>
            <a:ext cx="6947717" cy="2011680"/>
          </a:xfrm>
          <a:prstGeom prst="rect">
            <a:avLst/>
          </a:prstGeom>
        </p:spPr>
      </p:pic>
      <p:sp>
        <p:nvSpPr>
          <p:cNvPr id="6" name="Rectangle 5"/>
          <p:cNvSpPr/>
          <p:nvPr/>
        </p:nvSpPr>
        <p:spPr>
          <a:xfrm>
            <a:off x="274320" y="3429000"/>
            <a:ext cx="8595360" cy="2560320"/>
          </a:xfrm>
          <a:prstGeom prst="rect">
            <a:avLst/>
          </a:prstGeom>
          <a:solidFill>
            <a:srgbClr val="F0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20624" y="3520440"/>
            <a:ext cx="8302752" cy="365760"/>
          </a:xfrm>
          <a:prstGeom prst="rect">
            <a:avLst/>
          </a:prstGeom>
          <a:noFill/>
        </p:spPr>
        <p:txBody>
          <a:bodyPr wrap="square" lIns="0" rIns="0" tIns="0" bIns="0">
            <a:spAutoFit/>
          </a:bodyPr>
          <a:lstStyle/>
          <a:p>
            <a:pPr algn="l"/>
            <a:r>
              <a:rPr sz="1600" b="1" i="0">
                <a:solidFill>
                  <a:srgbClr val="1A7A3A"/>
                </a:solidFill>
                <a:latin typeface="Ubuntu"/>
              </a:rPr>
              <a:t>Qué significa</a:t>
            </a:r>
          </a:p>
        </p:txBody>
      </p:sp>
      <p:sp>
        <p:nvSpPr>
          <p:cNvPr id="8" name="TextBox 7"/>
          <p:cNvSpPr txBox="1"/>
          <p:nvPr/>
        </p:nvSpPr>
        <p:spPr>
          <a:xfrm>
            <a:off x="420624" y="3904488"/>
            <a:ext cx="8302752" cy="1993392"/>
          </a:xfrm>
          <a:prstGeom prst="rect">
            <a:avLst/>
          </a:prstGeom>
          <a:noFill/>
        </p:spPr>
        <p:txBody>
          <a:bodyPr wrap="square" lIns="0" rIns="0" tIns="0" bIns="0">
            <a:spAutoFit/>
          </a:bodyPr>
          <a:lstStyle/>
          <a:p>
            <a:pPr algn="l">
              <a:lnSpc>
                <a:spcPct val="135000"/>
              </a:lnSpc>
            </a:pPr>
            <a:r>
              <a:rPr sz="1400" b="0" i="0">
                <a:solidFill>
                  <a:srgbClr val="000000"/>
                </a:solidFill>
                <a:latin typeface="Ubuntu"/>
              </a:rPr>
              <a:t>Cada componente explica una fracción de la varianza total (PVE = Proportion of Variance Explained). Las primeras componentes explican mucho; las últimas, casi nada. Conservamos las primeras hasta acumular un buen porcentaje (p. ej. 70–80%). El 'scree plot' grafica esto y buscamos el 'codo'.</a:t>
            </a:r>
          </a:p>
        </p:txBody>
      </p:sp>
      <p:sp>
        <p:nvSpPr>
          <p:cNvPr id="9" name="TextBox 8"/>
          <p:cNvSpPr txBox="1"/>
          <p:nvPr/>
        </p:nvSpPr>
        <p:spPr>
          <a:xfrm>
            <a:off x="5486400" y="6565392"/>
            <a:ext cx="3474720" cy="201168"/>
          </a:xfrm>
          <a:prstGeom prst="rect">
            <a:avLst/>
          </a:prstGeom>
          <a:noFill/>
        </p:spPr>
        <p:txBody>
          <a:bodyPr wrap="square" lIns="0" rIns="0" tIns="0" bIns="0">
            <a:spAutoFit/>
          </a:bodyPr>
          <a:lstStyle/>
          <a:p>
            <a:pPr algn="r"/>
            <a:r>
              <a:rPr sz="900" b="0" i="1">
                <a:solidFill>
                  <a:srgbClr val="555555"/>
                </a:solidFill>
                <a:latin typeface="Ubuntu"/>
              </a:rPr>
              <a:t>Sesión 19 · Aprendizaje no supervisado  -  12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
            <a:ext cx="8595360" cy="658368"/>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274320"/>
            <a:ext cx="8321040" cy="658368"/>
          </a:xfrm>
          <a:prstGeom prst="rect">
            <a:avLst/>
          </a:prstGeom>
          <a:noFill/>
        </p:spPr>
        <p:txBody>
          <a:bodyPr wrap="square" lIns="0" rIns="0" tIns="0" bIns="0" anchor="ctr">
            <a:spAutoFit/>
          </a:bodyPr>
          <a:lstStyle/>
          <a:p>
            <a:pPr algn="l"/>
            <a:r>
              <a:rPr sz="2200" b="1" i="0">
                <a:solidFill>
                  <a:srgbClr val="FFFFFF"/>
                </a:solidFill>
                <a:latin typeface="Ubuntu"/>
              </a:rPr>
              <a:t>Scree plot: la varianza explicada</a:t>
            </a:r>
          </a:p>
        </p:txBody>
      </p:sp>
      <p:pic>
        <p:nvPicPr>
          <p:cNvPr id="5" name="Picture 4" descr="11_scree.png"/>
          <p:cNvPicPr>
            <a:picLocks noChangeAspect="1"/>
          </p:cNvPicPr>
          <p:nvPr/>
        </p:nvPicPr>
        <p:blipFill>
          <a:blip r:embed="rId2"/>
          <a:stretch>
            <a:fillRect/>
          </a:stretch>
        </p:blipFill>
        <p:spPr>
          <a:xfrm>
            <a:off x="1199352" y="1234440"/>
            <a:ext cx="6745295" cy="4023360"/>
          </a:xfrm>
          <a:prstGeom prst="rect">
            <a:avLst/>
          </a:prstGeom>
        </p:spPr>
      </p:pic>
      <p:sp>
        <p:nvSpPr>
          <p:cNvPr id="6" name="TextBox 5"/>
          <p:cNvSpPr txBox="1"/>
          <p:nvPr/>
        </p:nvSpPr>
        <p:spPr>
          <a:xfrm>
            <a:off x="457200" y="5303520"/>
            <a:ext cx="8229600" cy="365760"/>
          </a:xfrm>
          <a:prstGeom prst="rect">
            <a:avLst/>
          </a:prstGeom>
          <a:noFill/>
        </p:spPr>
        <p:txBody>
          <a:bodyPr wrap="square" lIns="0" rIns="0" tIns="0" bIns="0">
            <a:spAutoFit/>
          </a:bodyPr>
          <a:lstStyle/>
          <a:p>
            <a:pPr algn="ctr"/>
            <a:r>
              <a:rPr sz="1300" b="0" i="1">
                <a:solidFill>
                  <a:srgbClr val="555555"/>
                </a:solidFill>
                <a:latin typeface="Ubuntu"/>
              </a:rPr>
              <a:t>Datos reales de apostadores: las barras son el % por componente; la línea, el acumulado.</a:t>
            </a:r>
          </a:p>
        </p:txBody>
      </p:sp>
      <p:sp>
        <p:nvSpPr>
          <p:cNvPr id="7" name="Rectangle 6"/>
          <p:cNvSpPr/>
          <p:nvPr/>
        </p:nvSpPr>
        <p:spPr>
          <a:xfrm>
            <a:off x="274320" y="5486400"/>
            <a:ext cx="8595360" cy="868680"/>
          </a:xfrm>
          <a:prstGeom prst="rect">
            <a:avLst/>
          </a:prstGeom>
          <a:solidFill>
            <a:srgbClr val="F0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0624" y="5577840"/>
            <a:ext cx="8302752" cy="685800"/>
          </a:xfrm>
          <a:prstGeom prst="rect">
            <a:avLst/>
          </a:prstGeom>
          <a:noFill/>
        </p:spPr>
        <p:txBody>
          <a:bodyPr wrap="square" lIns="0" rIns="0" tIns="0" bIns="0">
            <a:spAutoFit/>
          </a:bodyPr>
          <a:lstStyle/>
          <a:p>
            <a:pPr algn="l">
              <a:lnSpc>
                <a:spcPct val="125000"/>
              </a:lnSpc>
            </a:pPr>
            <a:r>
              <a:rPr sz="1400" b="0" i="0">
                <a:solidFill>
                  <a:srgbClr val="000000"/>
                </a:solidFill>
                <a:latin typeface="Ubuntu"/>
              </a:rPr>
              <a:t>Aquí las primeras 2–3 componentes ya acumulan gran parte de la información: podemos graficar las cuentas en 2D casi sin perder nada.</a:t>
            </a:r>
          </a:p>
        </p:txBody>
      </p:sp>
      <p:sp>
        <p:nvSpPr>
          <p:cNvPr id="9" name="TextBox 8"/>
          <p:cNvSpPr txBox="1"/>
          <p:nvPr/>
        </p:nvSpPr>
        <p:spPr>
          <a:xfrm>
            <a:off x="5486400" y="6565392"/>
            <a:ext cx="3474720" cy="201168"/>
          </a:xfrm>
          <a:prstGeom prst="rect">
            <a:avLst/>
          </a:prstGeom>
          <a:noFill/>
        </p:spPr>
        <p:txBody>
          <a:bodyPr wrap="square" lIns="0" rIns="0" tIns="0" bIns="0">
            <a:spAutoFit/>
          </a:bodyPr>
          <a:lstStyle/>
          <a:p>
            <a:pPr algn="r"/>
            <a:r>
              <a:rPr sz="900" b="0" i="1">
                <a:solidFill>
                  <a:srgbClr val="555555"/>
                </a:solidFill>
                <a:latin typeface="Ubuntu"/>
              </a:rPr>
              <a:t>Sesión 19 · Aprendizaje no supervisado  -  13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
            <a:ext cx="8595360" cy="658368"/>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274320"/>
            <a:ext cx="8321040" cy="658368"/>
          </a:xfrm>
          <a:prstGeom prst="rect">
            <a:avLst/>
          </a:prstGeom>
          <a:noFill/>
        </p:spPr>
        <p:txBody>
          <a:bodyPr wrap="square" lIns="0" rIns="0" tIns="0" bIns="0" anchor="ctr">
            <a:spAutoFit/>
          </a:bodyPr>
          <a:lstStyle/>
          <a:p>
            <a:pPr algn="l"/>
            <a:r>
              <a:rPr sz="2200" b="1" i="0">
                <a:solidFill>
                  <a:srgbClr val="FFFFFF"/>
                </a:solidFill>
                <a:latin typeface="Ubuntu"/>
              </a:rPr>
              <a:t>PCA en acción: visualizar en 2D</a:t>
            </a:r>
          </a:p>
        </p:txBody>
      </p:sp>
      <p:pic>
        <p:nvPicPr>
          <p:cNvPr id="5" name="Picture 4" descr="12_biplot_apostadores.png"/>
          <p:cNvPicPr>
            <a:picLocks noChangeAspect="1"/>
          </p:cNvPicPr>
          <p:nvPr/>
        </p:nvPicPr>
        <p:blipFill>
          <a:blip r:embed="rId2"/>
          <a:stretch>
            <a:fillRect/>
          </a:stretch>
        </p:blipFill>
        <p:spPr>
          <a:xfrm>
            <a:off x="1565734" y="1234440"/>
            <a:ext cx="6012532" cy="4023360"/>
          </a:xfrm>
          <a:prstGeom prst="rect">
            <a:avLst/>
          </a:prstGeom>
        </p:spPr>
      </p:pic>
      <p:sp>
        <p:nvSpPr>
          <p:cNvPr id="6" name="TextBox 5"/>
          <p:cNvSpPr txBox="1"/>
          <p:nvPr/>
        </p:nvSpPr>
        <p:spPr>
          <a:xfrm>
            <a:off x="457200" y="5303520"/>
            <a:ext cx="8229600" cy="365760"/>
          </a:xfrm>
          <a:prstGeom prst="rect">
            <a:avLst/>
          </a:prstGeom>
          <a:noFill/>
        </p:spPr>
        <p:txBody>
          <a:bodyPr wrap="square" lIns="0" rIns="0" tIns="0" bIns="0">
            <a:spAutoFit/>
          </a:bodyPr>
          <a:lstStyle/>
          <a:p>
            <a:pPr algn="ctr"/>
            <a:r>
              <a:rPr sz="1300" b="0" i="1">
                <a:solidFill>
                  <a:srgbClr val="555555"/>
                </a:solidFill>
                <a:latin typeface="Ubuntu"/>
              </a:rPr>
              <a:t>Las 500 cuentas, originalmente con 12 variables, proyectadas en 2 componentes.</a:t>
            </a:r>
          </a:p>
        </p:txBody>
      </p:sp>
      <p:sp>
        <p:nvSpPr>
          <p:cNvPr id="7" name="Rectangle 6"/>
          <p:cNvSpPr/>
          <p:nvPr/>
        </p:nvSpPr>
        <p:spPr>
          <a:xfrm>
            <a:off x="274320" y="5486400"/>
            <a:ext cx="8595360" cy="868680"/>
          </a:xfrm>
          <a:prstGeom prst="rect">
            <a:avLst/>
          </a:prstGeom>
          <a:solidFill>
            <a:srgbClr val="F0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0624" y="5577840"/>
            <a:ext cx="8302752" cy="685800"/>
          </a:xfrm>
          <a:prstGeom prst="rect">
            <a:avLst/>
          </a:prstGeom>
          <a:noFill/>
        </p:spPr>
        <p:txBody>
          <a:bodyPr wrap="square" lIns="0" rIns="0" tIns="0" bIns="0">
            <a:spAutoFit/>
          </a:bodyPr>
          <a:lstStyle/>
          <a:p>
            <a:pPr algn="l">
              <a:lnSpc>
                <a:spcPct val="125000"/>
              </a:lnSpc>
            </a:pPr>
            <a:r>
              <a:rPr sz="1400" b="0" i="0">
                <a:solidFill>
                  <a:srgbClr val="000000"/>
                </a:solidFill>
                <a:latin typeface="Ubuntu"/>
              </a:rPr>
              <a:t>Reducir a 2 componentes nos deja VER la estructura: ya se distinguen agrupamientos de cuentas. PCA + color por grupo = mapa interpretable.</a:t>
            </a:r>
          </a:p>
        </p:txBody>
      </p:sp>
      <p:sp>
        <p:nvSpPr>
          <p:cNvPr id="9" name="TextBox 8"/>
          <p:cNvSpPr txBox="1"/>
          <p:nvPr/>
        </p:nvSpPr>
        <p:spPr>
          <a:xfrm>
            <a:off x="5486400" y="6565392"/>
            <a:ext cx="3474720" cy="201168"/>
          </a:xfrm>
          <a:prstGeom prst="rect">
            <a:avLst/>
          </a:prstGeom>
          <a:noFill/>
        </p:spPr>
        <p:txBody>
          <a:bodyPr wrap="square" lIns="0" rIns="0" tIns="0" bIns="0">
            <a:spAutoFit/>
          </a:bodyPr>
          <a:lstStyle/>
          <a:p>
            <a:pPr algn="r"/>
            <a:r>
              <a:rPr sz="900" b="0" i="1">
                <a:solidFill>
                  <a:srgbClr val="555555"/>
                </a:solidFill>
                <a:latin typeface="Ubuntu"/>
              </a:rPr>
              <a:t>Sesión 19 · Aprendizaje no supervisado  -  14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
            <a:ext cx="8595360" cy="658368"/>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274320"/>
            <a:ext cx="8321040" cy="658368"/>
          </a:xfrm>
          <a:prstGeom prst="rect">
            <a:avLst/>
          </a:prstGeom>
          <a:noFill/>
        </p:spPr>
        <p:txBody>
          <a:bodyPr wrap="square" lIns="0" rIns="0" tIns="0" bIns="0" anchor="ctr">
            <a:spAutoFit/>
          </a:bodyPr>
          <a:lstStyle/>
          <a:p>
            <a:pPr algn="l"/>
            <a:r>
              <a:rPr sz="2200" b="1" i="0">
                <a:solidFill>
                  <a:srgbClr val="FFFFFF"/>
                </a:solidFill>
                <a:latin typeface="Ubuntu"/>
              </a:rPr>
              <a:t>¿Para qué sirve PCA en la práctica?</a:t>
            </a:r>
          </a:p>
        </p:txBody>
      </p:sp>
      <p:sp>
        <p:nvSpPr>
          <p:cNvPr id="5" name="Rectangle 4"/>
          <p:cNvSpPr/>
          <p:nvPr/>
        </p:nvSpPr>
        <p:spPr>
          <a:xfrm>
            <a:off x="274320" y="1188720"/>
            <a:ext cx="4251960" cy="502920"/>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1188720"/>
            <a:ext cx="4251960" cy="502920"/>
          </a:xfrm>
          <a:prstGeom prst="rect">
            <a:avLst/>
          </a:prstGeom>
          <a:noFill/>
        </p:spPr>
        <p:txBody>
          <a:bodyPr wrap="square" lIns="0" rIns="0" tIns="0" bIns="0" anchor="ctr">
            <a:spAutoFit/>
          </a:bodyPr>
          <a:lstStyle/>
          <a:p>
            <a:pPr algn="ctr"/>
            <a:r>
              <a:rPr sz="1500" b="1" i="0">
                <a:solidFill>
                  <a:srgbClr val="FFFFFF"/>
                </a:solidFill>
                <a:latin typeface="Ubuntu"/>
              </a:rPr>
              <a:t>Usos típicos</a:t>
            </a:r>
          </a:p>
        </p:txBody>
      </p:sp>
      <p:sp>
        <p:nvSpPr>
          <p:cNvPr id="7" name="Rectangle 6"/>
          <p:cNvSpPr/>
          <p:nvPr/>
        </p:nvSpPr>
        <p:spPr>
          <a:xfrm>
            <a:off x="274320" y="1691640"/>
            <a:ext cx="4251960" cy="4297679"/>
          </a:xfrm>
          <a:prstGeom prst="rect">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0624" y="1801368"/>
            <a:ext cx="3959352" cy="4160520"/>
          </a:xfrm>
          <a:prstGeom prst="rect">
            <a:avLst/>
          </a:prstGeom>
          <a:noFill/>
        </p:spPr>
        <p:txBody>
          <a:bodyPr wrap="square" lIns="0" rIns="0" tIns="0" bIns="0">
            <a:spAutoFit/>
          </a:bodyPr>
          <a:lstStyle/>
          <a:p>
            <a:pPr algn="l">
              <a:lnSpc>
                <a:spcPct val="130000"/>
              </a:lnSpc>
            </a:pPr>
            <a:r>
              <a:rPr sz="1300" b="0" i="0">
                <a:solidFill>
                  <a:srgbClr val="000000"/>
                </a:solidFill>
                <a:latin typeface="Ubuntu"/>
              </a:rPr>
              <a:t>• Visualizar datos de muchas variables en 2D.</a:t>
            </a:r>
          </a:p>
          <a:p>
            <a:pPr algn="l">
              <a:lnSpc>
                <a:spcPct val="130000"/>
              </a:lnSpc>
            </a:pPr>
            <a:r>
              <a:rPr sz="1300" b="0" i="0">
                <a:solidFill>
                  <a:srgbClr val="000000"/>
                </a:solidFill>
                <a:latin typeface="Ubuntu"/>
              </a:rPr>
              <a:t/>
            </a:r>
          </a:p>
          <a:p>
            <a:pPr algn="l">
              <a:lnSpc>
                <a:spcPct val="130000"/>
              </a:lnSpc>
            </a:pPr>
            <a:r>
              <a:rPr sz="1300" b="0" i="0">
                <a:solidFill>
                  <a:srgbClr val="000000"/>
                </a:solidFill>
                <a:latin typeface="Ubuntu"/>
              </a:rPr>
              <a:t>• Quitar redundancia (variables muy correlacionadas).</a:t>
            </a:r>
          </a:p>
          <a:p>
            <a:pPr algn="l">
              <a:lnSpc>
                <a:spcPct val="130000"/>
              </a:lnSpc>
            </a:pPr>
            <a:r>
              <a:rPr sz="1300" b="0" i="0">
                <a:solidFill>
                  <a:srgbClr val="000000"/>
                </a:solidFill>
                <a:latin typeface="Ubuntu"/>
              </a:rPr>
              <a:t/>
            </a:r>
          </a:p>
          <a:p>
            <a:pPr algn="l">
              <a:lnSpc>
                <a:spcPct val="130000"/>
              </a:lnSpc>
            </a:pPr>
            <a:r>
              <a:rPr sz="1300" b="0" i="0">
                <a:solidFill>
                  <a:srgbClr val="000000"/>
                </a:solidFill>
                <a:latin typeface="Ubuntu"/>
              </a:rPr>
              <a:t>• Comprimir información (imágenes, señales).</a:t>
            </a:r>
          </a:p>
          <a:p>
            <a:pPr algn="l">
              <a:lnSpc>
                <a:spcPct val="130000"/>
              </a:lnSpc>
            </a:pPr>
            <a:r>
              <a:rPr sz="1300" b="0" i="0">
                <a:solidFill>
                  <a:srgbClr val="000000"/>
                </a:solidFill>
                <a:latin typeface="Ubuntu"/>
              </a:rPr>
              <a:t/>
            </a:r>
          </a:p>
          <a:p>
            <a:pPr algn="l">
              <a:lnSpc>
                <a:spcPct val="130000"/>
              </a:lnSpc>
            </a:pPr>
            <a:r>
              <a:rPr sz="1300" b="0" i="0">
                <a:solidFill>
                  <a:srgbClr val="000000"/>
                </a:solidFill>
                <a:latin typeface="Ubuntu"/>
              </a:rPr>
              <a:t>• Preprocesar antes de otro modelo.</a:t>
            </a:r>
          </a:p>
        </p:txBody>
      </p:sp>
      <p:sp>
        <p:nvSpPr>
          <p:cNvPr id="9" name="Rectangle 8"/>
          <p:cNvSpPr/>
          <p:nvPr/>
        </p:nvSpPr>
        <p:spPr>
          <a:xfrm>
            <a:off x="4617720" y="1188720"/>
            <a:ext cx="4251960" cy="502920"/>
          </a:xfrm>
          <a:prstGeom prst="rect">
            <a:avLst/>
          </a:prstGeom>
          <a:solidFill>
            <a:srgbClr val="C97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17720" y="1188720"/>
            <a:ext cx="4251960" cy="502920"/>
          </a:xfrm>
          <a:prstGeom prst="rect">
            <a:avLst/>
          </a:prstGeom>
          <a:noFill/>
        </p:spPr>
        <p:txBody>
          <a:bodyPr wrap="square" lIns="0" rIns="0" tIns="0" bIns="0" anchor="ctr">
            <a:spAutoFit/>
          </a:bodyPr>
          <a:lstStyle/>
          <a:p>
            <a:pPr algn="ctr"/>
            <a:r>
              <a:rPr sz="1500" b="1" i="0">
                <a:solidFill>
                  <a:srgbClr val="FFFFFF"/>
                </a:solidFill>
                <a:latin typeface="Ubuntu"/>
              </a:rPr>
              <a:t>Cosas a recordar</a:t>
            </a:r>
          </a:p>
        </p:txBody>
      </p:sp>
      <p:sp>
        <p:nvSpPr>
          <p:cNvPr id="11" name="Rectangle 10"/>
          <p:cNvSpPr/>
          <p:nvPr/>
        </p:nvSpPr>
        <p:spPr>
          <a:xfrm>
            <a:off x="4617720" y="1691640"/>
            <a:ext cx="4251960" cy="4297679"/>
          </a:xfrm>
          <a:prstGeom prst="rect">
            <a:avLst/>
          </a:prstGeom>
          <a:solidFill>
            <a:srgbClr val="F7EC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64024" y="1801368"/>
            <a:ext cx="3959352" cy="4160520"/>
          </a:xfrm>
          <a:prstGeom prst="rect">
            <a:avLst/>
          </a:prstGeom>
          <a:noFill/>
        </p:spPr>
        <p:txBody>
          <a:bodyPr wrap="square" lIns="0" rIns="0" tIns="0" bIns="0">
            <a:spAutoFit/>
          </a:bodyPr>
          <a:lstStyle/>
          <a:p>
            <a:pPr algn="l">
              <a:lnSpc>
                <a:spcPct val="130000"/>
              </a:lnSpc>
            </a:pPr>
            <a:r>
              <a:rPr sz="1300" b="0" i="0">
                <a:solidFill>
                  <a:srgbClr val="000000"/>
                </a:solidFill>
                <a:latin typeface="Ubuntu"/>
              </a:rPr>
              <a:t>• Las componentes son COMBINACIONES, no variables originales.</a:t>
            </a:r>
          </a:p>
          <a:p>
            <a:pPr algn="l">
              <a:lnSpc>
                <a:spcPct val="130000"/>
              </a:lnSpc>
            </a:pPr>
            <a:r>
              <a:rPr sz="1300" b="0" i="0">
                <a:solidFill>
                  <a:srgbClr val="000000"/>
                </a:solidFill>
                <a:latin typeface="Ubuntu"/>
              </a:rPr>
              <a:t/>
            </a:r>
          </a:p>
          <a:p>
            <a:pPr algn="l">
              <a:lnSpc>
                <a:spcPct val="130000"/>
              </a:lnSpc>
            </a:pPr>
            <a:r>
              <a:rPr sz="1300" b="0" i="0">
                <a:solidFill>
                  <a:srgbClr val="000000"/>
                </a:solidFill>
                <a:latin typeface="Ubuntu"/>
              </a:rPr>
              <a:t>• Hay que interpretarlas leyendo las cargas.</a:t>
            </a:r>
          </a:p>
          <a:p>
            <a:pPr algn="l">
              <a:lnSpc>
                <a:spcPct val="130000"/>
              </a:lnSpc>
            </a:pPr>
            <a:r>
              <a:rPr sz="1300" b="0" i="0">
                <a:solidFill>
                  <a:srgbClr val="000000"/>
                </a:solidFill>
                <a:latin typeface="Ubuntu"/>
              </a:rPr>
              <a:t/>
            </a:r>
          </a:p>
          <a:p>
            <a:pPr algn="l">
              <a:lnSpc>
                <a:spcPct val="130000"/>
              </a:lnSpc>
            </a:pPr>
            <a:r>
              <a:rPr sz="1300" b="0" i="0">
                <a:solidFill>
                  <a:srgbClr val="000000"/>
                </a:solidFill>
                <a:latin typeface="Ubuntu"/>
              </a:rPr>
              <a:t>• Estandarizar primero es obligatorio.</a:t>
            </a:r>
          </a:p>
          <a:p>
            <a:pPr algn="l">
              <a:lnSpc>
                <a:spcPct val="130000"/>
              </a:lnSpc>
            </a:pPr>
            <a:r>
              <a:rPr sz="1300" b="0" i="0">
                <a:solidFill>
                  <a:srgbClr val="000000"/>
                </a:solidFill>
                <a:latin typeface="Ubuntu"/>
              </a:rPr>
              <a:t/>
            </a:r>
          </a:p>
          <a:p>
            <a:pPr algn="l">
              <a:lnSpc>
                <a:spcPct val="130000"/>
              </a:lnSpc>
            </a:pPr>
            <a:r>
              <a:rPr sz="1300" b="0" i="0">
                <a:solidFill>
                  <a:srgbClr val="000000"/>
                </a:solidFill>
                <a:latin typeface="Ubuntu"/>
              </a:rPr>
              <a:t>• PCA no agrupa: solo reordena los ejes.</a:t>
            </a:r>
          </a:p>
        </p:txBody>
      </p:sp>
      <p:sp>
        <p:nvSpPr>
          <p:cNvPr id="13" name="TextBox 12"/>
          <p:cNvSpPr txBox="1"/>
          <p:nvPr/>
        </p:nvSpPr>
        <p:spPr>
          <a:xfrm>
            <a:off x="5486400" y="6565392"/>
            <a:ext cx="3474720" cy="201168"/>
          </a:xfrm>
          <a:prstGeom prst="rect">
            <a:avLst/>
          </a:prstGeom>
          <a:noFill/>
        </p:spPr>
        <p:txBody>
          <a:bodyPr wrap="square" lIns="0" rIns="0" tIns="0" bIns="0">
            <a:spAutoFit/>
          </a:bodyPr>
          <a:lstStyle/>
          <a:p>
            <a:pPr algn="r"/>
            <a:r>
              <a:rPr sz="900" b="0" i="1">
                <a:solidFill>
                  <a:srgbClr val="555555"/>
                </a:solidFill>
                <a:latin typeface="Ubuntu"/>
              </a:rPr>
              <a:t>Sesión 19 · Aprendizaje no supervisado  -  15</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2926080" cy="2743200"/>
          </a:xfrm>
          <a:prstGeom prst="rect">
            <a:avLst/>
          </a:prstGeom>
          <a:noFill/>
        </p:spPr>
        <p:txBody>
          <a:bodyPr wrap="square" lIns="0" rIns="0" tIns="0" bIns="0">
            <a:spAutoFit/>
          </a:bodyPr>
          <a:lstStyle/>
          <a:p>
            <a:pPr algn="l"/>
            <a:r>
              <a:rPr sz="16000" b="1" i="0">
                <a:solidFill>
                  <a:srgbClr val="336395"/>
                </a:solidFill>
                <a:latin typeface="Ubuntu"/>
              </a:rPr>
              <a:t>3</a:t>
            </a:r>
          </a:p>
        </p:txBody>
      </p:sp>
      <p:sp>
        <p:nvSpPr>
          <p:cNvPr id="4" name="Rectangle 3"/>
          <p:cNvSpPr/>
          <p:nvPr/>
        </p:nvSpPr>
        <p:spPr>
          <a:xfrm>
            <a:off x="3383280" y="2194560"/>
            <a:ext cx="73152" cy="20116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0" y="2286000"/>
            <a:ext cx="5120640" cy="1645920"/>
          </a:xfrm>
          <a:prstGeom prst="rect">
            <a:avLst/>
          </a:prstGeom>
          <a:noFill/>
        </p:spPr>
        <p:txBody>
          <a:bodyPr wrap="square" lIns="0" rIns="0" tIns="0" bIns="0" anchor="ctr">
            <a:spAutoFit/>
          </a:bodyPr>
          <a:lstStyle/>
          <a:p>
            <a:pPr algn="l">
              <a:lnSpc>
                <a:spcPct val="105000"/>
              </a:lnSpc>
            </a:pPr>
            <a:r>
              <a:rPr sz="3400" b="1" i="0">
                <a:solidFill>
                  <a:srgbClr val="FFFFFF"/>
                </a:solidFill>
                <a:latin typeface="Ubuntu"/>
              </a:rPr>
              <a:t>Clustering</a:t>
            </a:r>
          </a:p>
        </p:txBody>
      </p:sp>
      <p:sp>
        <p:nvSpPr>
          <p:cNvPr id="6" name="TextBox 5"/>
          <p:cNvSpPr txBox="1"/>
          <p:nvPr/>
        </p:nvSpPr>
        <p:spPr>
          <a:xfrm>
            <a:off x="3657600" y="4069080"/>
            <a:ext cx="5120640" cy="822960"/>
          </a:xfrm>
          <a:prstGeom prst="rect">
            <a:avLst/>
          </a:prstGeom>
          <a:noFill/>
        </p:spPr>
        <p:txBody>
          <a:bodyPr wrap="square" lIns="0" rIns="0" tIns="0" bIns="0">
            <a:spAutoFit/>
          </a:bodyPr>
          <a:lstStyle/>
          <a:p>
            <a:pPr algn="l">
              <a:lnSpc>
                <a:spcPct val="120000"/>
              </a:lnSpc>
            </a:pPr>
            <a:r>
              <a:rPr sz="1500" b="0" i="1">
                <a:solidFill>
                  <a:srgbClr val="C7D7E6"/>
                </a:solidFill>
                <a:latin typeface="Ubuntu"/>
              </a:rPr>
              <a:t>Agrupar observaciones parecidas sin etiquetas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
            <a:ext cx="8595360" cy="658368"/>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274320"/>
            <a:ext cx="8321040" cy="658368"/>
          </a:xfrm>
          <a:prstGeom prst="rect">
            <a:avLst/>
          </a:prstGeom>
          <a:noFill/>
        </p:spPr>
        <p:txBody>
          <a:bodyPr wrap="square" lIns="0" rIns="0" tIns="0" bIns="0" anchor="ctr">
            <a:spAutoFit/>
          </a:bodyPr>
          <a:lstStyle/>
          <a:p>
            <a:pPr algn="l"/>
            <a:r>
              <a:rPr sz="2200" b="1" i="0">
                <a:solidFill>
                  <a:srgbClr val="FFFFFF"/>
                </a:solidFill>
                <a:latin typeface="Ubuntu"/>
              </a:rPr>
              <a:t>¿Qué es agrupar (clustering)?</a:t>
            </a:r>
          </a:p>
        </p:txBody>
      </p:sp>
      <p:sp>
        <p:nvSpPr>
          <p:cNvPr id="5" name="Rectangle 4"/>
          <p:cNvSpPr/>
          <p:nvPr/>
        </p:nvSpPr>
        <p:spPr>
          <a:xfrm>
            <a:off x="274320" y="1234440"/>
            <a:ext cx="8595360" cy="2743200"/>
          </a:xfrm>
          <a:prstGeom prst="rect">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20624" y="1325880"/>
            <a:ext cx="8302752" cy="365760"/>
          </a:xfrm>
          <a:prstGeom prst="rect">
            <a:avLst/>
          </a:prstGeom>
          <a:noFill/>
        </p:spPr>
        <p:txBody>
          <a:bodyPr wrap="square" lIns="0" rIns="0" tIns="0" bIns="0">
            <a:spAutoFit/>
          </a:bodyPr>
          <a:lstStyle/>
          <a:p>
            <a:pPr algn="l"/>
            <a:r>
              <a:rPr sz="1800" b="1" i="0">
                <a:solidFill>
                  <a:srgbClr val="1E4C7D"/>
                </a:solidFill>
                <a:latin typeface="Ubuntu"/>
              </a:rPr>
              <a:t>Definición</a:t>
            </a:r>
          </a:p>
        </p:txBody>
      </p:sp>
      <p:sp>
        <p:nvSpPr>
          <p:cNvPr id="7" name="TextBox 6"/>
          <p:cNvSpPr txBox="1"/>
          <p:nvPr/>
        </p:nvSpPr>
        <p:spPr>
          <a:xfrm>
            <a:off x="420624" y="1709928"/>
            <a:ext cx="8302752" cy="2176272"/>
          </a:xfrm>
          <a:prstGeom prst="rect">
            <a:avLst/>
          </a:prstGeom>
          <a:noFill/>
        </p:spPr>
        <p:txBody>
          <a:bodyPr wrap="square" lIns="0" rIns="0" tIns="0" bIns="0">
            <a:spAutoFit/>
          </a:bodyPr>
          <a:lstStyle/>
          <a:p>
            <a:pPr algn="l">
              <a:lnSpc>
                <a:spcPct val="140000"/>
              </a:lnSpc>
            </a:pPr>
            <a:r>
              <a:rPr sz="1800" b="0" i="0">
                <a:solidFill>
                  <a:srgbClr val="000000"/>
                </a:solidFill>
                <a:latin typeface="Ubuntu"/>
              </a:rPr>
              <a:t>Clustering busca partir las observaciones en GRUPOS (clusters) tales que:</a:t>
            </a:r>
          </a:p>
          <a:p>
            <a:pPr algn="l">
              <a:lnSpc>
                <a:spcPct val="140000"/>
              </a:lnSpc>
            </a:pPr>
            <a:r>
              <a:rPr sz="1800" b="0" i="0">
                <a:solidFill>
                  <a:srgbClr val="000000"/>
                </a:solidFill>
                <a:latin typeface="Ubuntu"/>
              </a:rPr>
              <a:t>• los miembros de un mismo grupo se parezcan mucho entre sí, y</a:t>
            </a:r>
          </a:p>
          <a:p>
            <a:pPr algn="l">
              <a:lnSpc>
                <a:spcPct val="140000"/>
              </a:lnSpc>
            </a:pPr>
            <a:r>
              <a:rPr sz="1800" b="0" i="0">
                <a:solidFill>
                  <a:srgbClr val="000000"/>
                </a:solidFill>
                <a:latin typeface="Ubuntu"/>
              </a:rPr>
              <a:t>• grupos distintos sean lo más diferentes posible.</a:t>
            </a:r>
          </a:p>
          <a:p>
            <a:pPr algn="l">
              <a:lnSpc>
                <a:spcPct val="140000"/>
              </a:lnSpc>
            </a:pPr>
            <a:r>
              <a:rPr sz="1800" b="0" i="0">
                <a:solidFill>
                  <a:srgbClr val="000000"/>
                </a:solidFill>
                <a:latin typeface="Ubuntu"/>
              </a:rPr>
              <a:t/>
            </a:r>
          </a:p>
          <a:p>
            <a:pPr algn="l">
              <a:lnSpc>
                <a:spcPct val="140000"/>
              </a:lnSpc>
            </a:pPr>
            <a:r>
              <a:rPr sz="1800" b="0" i="0">
                <a:solidFill>
                  <a:srgbClr val="000000"/>
                </a:solidFill>
                <a:latin typeface="Ubuntu"/>
              </a:rPr>
              <a:t>Nadie nos dice cuántos grupos hay ni quién pertenece a cuál: el algoritmo lo propone a partir de las distancias entre observaciones.</a:t>
            </a:r>
          </a:p>
        </p:txBody>
      </p:sp>
      <p:sp>
        <p:nvSpPr>
          <p:cNvPr id="8" name="Rectangle 7"/>
          <p:cNvSpPr/>
          <p:nvPr/>
        </p:nvSpPr>
        <p:spPr>
          <a:xfrm>
            <a:off x="274320" y="4206240"/>
            <a:ext cx="8595360" cy="2011680"/>
          </a:xfrm>
          <a:prstGeom prst="rect">
            <a:avLst/>
          </a:prstGeom>
          <a:solidFill>
            <a:srgbClr val="F0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0624" y="4297680"/>
            <a:ext cx="8302752" cy="365760"/>
          </a:xfrm>
          <a:prstGeom prst="rect">
            <a:avLst/>
          </a:prstGeom>
          <a:noFill/>
        </p:spPr>
        <p:txBody>
          <a:bodyPr wrap="square" lIns="0" rIns="0" tIns="0" bIns="0">
            <a:spAutoFit/>
          </a:bodyPr>
          <a:lstStyle/>
          <a:p>
            <a:pPr algn="l"/>
            <a:r>
              <a:rPr sz="1600" b="1" i="0">
                <a:solidFill>
                  <a:srgbClr val="1A7A3A"/>
                </a:solidFill>
                <a:latin typeface="Ubuntu"/>
              </a:rPr>
              <a:t>En palabras simples</a:t>
            </a:r>
          </a:p>
        </p:txBody>
      </p:sp>
      <p:sp>
        <p:nvSpPr>
          <p:cNvPr id="10" name="TextBox 9"/>
          <p:cNvSpPr txBox="1"/>
          <p:nvPr/>
        </p:nvSpPr>
        <p:spPr>
          <a:xfrm>
            <a:off x="420624" y="4681728"/>
            <a:ext cx="8302752" cy="1444752"/>
          </a:xfrm>
          <a:prstGeom prst="rect">
            <a:avLst/>
          </a:prstGeom>
          <a:noFill/>
        </p:spPr>
        <p:txBody>
          <a:bodyPr wrap="square" lIns="0" rIns="0" tIns="0" bIns="0">
            <a:spAutoFit/>
          </a:bodyPr>
          <a:lstStyle/>
          <a:p>
            <a:pPr algn="l">
              <a:lnSpc>
                <a:spcPct val="140000"/>
              </a:lnSpc>
            </a:pPr>
            <a:r>
              <a:rPr sz="1600" b="0" i="0">
                <a:solidFill>
                  <a:srgbClr val="000000"/>
                </a:solidFill>
                <a:latin typeface="Ubuntu"/>
              </a:rPr>
              <a:t>Como ordenar tu música en playlists sin que nadie te diga las categorías: juntas las canciones que 'suenan parecido'.</a:t>
            </a:r>
          </a:p>
        </p:txBody>
      </p:sp>
      <p:sp>
        <p:nvSpPr>
          <p:cNvPr id="11" name="TextBox 10"/>
          <p:cNvSpPr txBox="1"/>
          <p:nvPr/>
        </p:nvSpPr>
        <p:spPr>
          <a:xfrm>
            <a:off x="5486400" y="6565392"/>
            <a:ext cx="3474720" cy="201168"/>
          </a:xfrm>
          <a:prstGeom prst="rect">
            <a:avLst/>
          </a:prstGeom>
          <a:noFill/>
        </p:spPr>
        <p:txBody>
          <a:bodyPr wrap="square" lIns="0" rIns="0" tIns="0" bIns="0">
            <a:spAutoFit/>
          </a:bodyPr>
          <a:lstStyle/>
          <a:p>
            <a:pPr algn="r"/>
            <a:r>
              <a:rPr sz="900" b="0" i="1">
                <a:solidFill>
                  <a:srgbClr val="555555"/>
                </a:solidFill>
                <a:latin typeface="Ubuntu"/>
              </a:rPr>
              <a:t>Sesión 19 · Aprendizaje no supervisado  -  16</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
            <a:ext cx="8595360" cy="658368"/>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274320"/>
            <a:ext cx="8321040" cy="658368"/>
          </a:xfrm>
          <a:prstGeom prst="rect">
            <a:avLst/>
          </a:prstGeom>
          <a:noFill/>
        </p:spPr>
        <p:txBody>
          <a:bodyPr wrap="square" lIns="0" rIns="0" tIns="0" bIns="0" anchor="ctr">
            <a:spAutoFit/>
          </a:bodyPr>
          <a:lstStyle/>
          <a:p>
            <a:pPr algn="l"/>
            <a:r>
              <a:rPr sz="2200" b="1" i="0">
                <a:solidFill>
                  <a:srgbClr val="FFFFFF"/>
                </a:solidFill>
                <a:latin typeface="Ubuntu"/>
              </a:rPr>
              <a:t>Antes y después de agrupar</a:t>
            </a:r>
          </a:p>
        </p:txBody>
      </p:sp>
      <p:pic>
        <p:nvPicPr>
          <p:cNvPr id="5" name="Picture 4" descr="02_antes_despues.png"/>
          <p:cNvPicPr>
            <a:picLocks noChangeAspect="1"/>
          </p:cNvPicPr>
          <p:nvPr/>
        </p:nvPicPr>
        <p:blipFill>
          <a:blip r:embed="rId2"/>
          <a:stretch>
            <a:fillRect/>
          </a:stretch>
        </p:blipFill>
        <p:spPr>
          <a:xfrm>
            <a:off x="809811" y="1234440"/>
            <a:ext cx="7524377" cy="4023360"/>
          </a:xfrm>
          <a:prstGeom prst="rect">
            <a:avLst/>
          </a:prstGeom>
        </p:spPr>
      </p:pic>
      <p:sp>
        <p:nvSpPr>
          <p:cNvPr id="6" name="TextBox 5"/>
          <p:cNvSpPr txBox="1"/>
          <p:nvPr/>
        </p:nvSpPr>
        <p:spPr>
          <a:xfrm>
            <a:off x="457200" y="5303520"/>
            <a:ext cx="8229600" cy="365760"/>
          </a:xfrm>
          <a:prstGeom prst="rect">
            <a:avLst/>
          </a:prstGeom>
          <a:noFill/>
        </p:spPr>
        <p:txBody>
          <a:bodyPr wrap="square" lIns="0" rIns="0" tIns="0" bIns="0">
            <a:spAutoFit/>
          </a:bodyPr>
          <a:lstStyle/>
          <a:p>
            <a:pPr algn="ctr"/>
            <a:r>
              <a:rPr sz="1300" b="0" i="1">
                <a:solidFill>
                  <a:srgbClr val="555555"/>
                </a:solidFill>
                <a:latin typeface="Ubuntu"/>
              </a:rPr>
              <a:t>Mismos puntos: a la izquierda sin grupos; a la derecha, agrupados por similitud.</a:t>
            </a:r>
          </a:p>
        </p:txBody>
      </p:sp>
      <p:sp>
        <p:nvSpPr>
          <p:cNvPr id="7" name="Rectangle 6"/>
          <p:cNvSpPr/>
          <p:nvPr/>
        </p:nvSpPr>
        <p:spPr>
          <a:xfrm>
            <a:off x="274320" y="5486400"/>
            <a:ext cx="8595360" cy="868680"/>
          </a:xfrm>
          <a:prstGeom prst="rect">
            <a:avLst/>
          </a:prstGeom>
          <a:solidFill>
            <a:srgbClr val="F0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0624" y="5577840"/>
            <a:ext cx="8302752" cy="685800"/>
          </a:xfrm>
          <a:prstGeom prst="rect">
            <a:avLst/>
          </a:prstGeom>
          <a:noFill/>
        </p:spPr>
        <p:txBody>
          <a:bodyPr wrap="square" lIns="0" rIns="0" tIns="0" bIns="0">
            <a:spAutoFit/>
          </a:bodyPr>
          <a:lstStyle/>
          <a:p>
            <a:pPr algn="l">
              <a:lnSpc>
                <a:spcPct val="125000"/>
              </a:lnSpc>
            </a:pPr>
            <a:r>
              <a:rPr sz="1400" b="0" i="0">
                <a:solidFill>
                  <a:srgbClr val="000000"/>
                </a:solidFill>
                <a:latin typeface="Ubuntu"/>
              </a:rPr>
              <a:t>El algoritmo no inventa la estructura: la encuentra si existe. Si los datos no tienen grupos naturales, igual los partirá (hay que tener cuidado).</a:t>
            </a:r>
          </a:p>
        </p:txBody>
      </p:sp>
      <p:sp>
        <p:nvSpPr>
          <p:cNvPr id="9" name="TextBox 8"/>
          <p:cNvSpPr txBox="1"/>
          <p:nvPr/>
        </p:nvSpPr>
        <p:spPr>
          <a:xfrm>
            <a:off x="5486400" y="6565392"/>
            <a:ext cx="3474720" cy="201168"/>
          </a:xfrm>
          <a:prstGeom prst="rect">
            <a:avLst/>
          </a:prstGeom>
          <a:noFill/>
        </p:spPr>
        <p:txBody>
          <a:bodyPr wrap="square" lIns="0" rIns="0" tIns="0" bIns="0">
            <a:spAutoFit/>
          </a:bodyPr>
          <a:lstStyle/>
          <a:p>
            <a:pPr algn="r"/>
            <a:r>
              <a:rPr sz="900" b="0" i="1">
                <a:solidFill>
                  <a:srgbClr val="555555"/>
                </a:solidFill>
                <a:latin typeface="Ubuntu"/>
              </a:rPr>
              <a:t>Sesión 19 · Aprendizaje no supervisado  -  17</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
            <a:ext cx="8595360" cy="658368"/>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274320"/>
            <a:ext cx="8321040" cy="658368"/>
          </a:xfrm>
          <a:prstGeom prst="rect">
            <a:avLst/>
          </a:prstGeom>
          <a:noFill/>
        </p:spPr>
        <p:txBody>
          <a:bodyPr wrap="square" lIns="0" rIns="0" tIns="0" bIns="0" anchor="ctr">
            <a:spAutoFit/>
          </a:bodyPr>
          <a:lstStyle/>
          <a:p>
            <a:pPr algn="l"/>
            <a:r>
              <a:rPr sz="2200" b="1" i="0">
                <a:solidFill>
                  <a:srgbClr val="FFFFFF"/>
                </a:solidFill>
                <a:latin typeface="Ubuntu"/>
              </a:rPr>
              <a:t>¿Qué tan 'parecidos'? La distancia</a:t>
            </a:r>
          </a:p>
        </p:txBody>
      </p:sp>
      <p:pic>
        <p:nvPicPr>
          <p:cNvPr id="5" name="Picture 4" descr="f_distancia.png"/>
          <p:cNvPicPr>
            <a:picLocks noChangeAspect="1"/>
          </p:cNvPicPr>
          <p:nvPr/>
        </p:nvPicPr>
        <p:blipFill>
          <a:blip r:embed="rId2"/>
          <a:stretch>
            <a:fillRect/>
          </a:stretch>
        </p:blipFill>
        <p:spPr>
          <a:xfrm>
            <a:off x="1098141" y="1188720"/>
            <a:ext cx="6947717" cy="2011680"/>
          </a:xfrm>
          <a:prstGeom prst="rect">
            <a:avLst/>
          </a:prstGeom>
        </p:spPr>
      </p:pic>
      <p:sp>
        <p:nvSpPr>
          <p:cNvPr id="6" name="Rectangle 5"/>
          <p:cNvSpPr/>
          <p:nvPr/>
        </p:nvSpPr>
        <p:spPr>
          <a:xfrm>
            <a:off x="274320" y="3429000"/>
            <a:ext cx="8595360" cy="2560320"/>
          </a:xfrm>
          <a:prstGeom prst="rect">
            <a:avLst/>
          </a:prstGeom>
          <a:solidFill>
            <a:srgbClr val="F0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20624" y="3520440"/>
            <a:ext cx="8302752" cy="365760"/>
          </a:xfrm>
          <a:prstGeom prst="rect">
            <a:avLst/>
          </a:prstGeom>
          <a:noFill/>
        </p:spPr>
        <p:txBody>
          <a:bodyPr wrap="square" lIns="0" rIns="0" tIns="0" bIns="0">
            <a:spAutoFit/>
          </a:bodyPr>
          <a:lstStyle/>
          <a:p>
            <a:pPr algn="l"/>
            <a:r>
              <a:rPr sz="1600" b="1" i="0">
                <a:solidFill>
                  <a:srgbClr val="1A7A3A"/>
                </a:solidFill>
                <a:latin typeface="Ubuntu"/>
              </a:rPr>
              <a:t>Qué significa</a:t>
            </a:r>
          </a:p>
        </p:txBody>
      </p:sp>
      <p:sp>
        <p:nvSpPr>
          <p:cNvPr id="8" name="TextBox 7"/>
          <p:cNvSpPr txBox="1"/>
          <p:nvPr/>
        </p:nvSpPr>
        <p:spPr>
          <a:xfrm>
            <a:off x="420624" y="3904488"/>
            <a:ext cx="8302752" cy="1993392"/>
          </a:xfrm>
          <a:prstGeom prst="rect">
            <a:avLst/>
          </a:prstGeom>
          <a:noFill/>
        </p:spPr>
        <p:txBody>
          <a:bodyPr wrap="square" lIns="0" rIns="0" tIns="0" bIns="0">
            <a:spAutoFit/>
          </a:bodyPr>
          <a:lstStyle/>
          <a:p>
            <a:pPr algn="l">
              <a:lnSpc>
                <a:spcPct val="135000"/>
              </a:lnSpc>
            </a:pPr>
            <a:r>
              <a:rPr sz="1400" b="0" i="0">
                <a:solidFill>
                  <a:srgbClr val="000000"/>
                </a:solidFill>
                <a:latin typeface="Ubuntu"/>
              </a:rPr>
              <a:t>Para agrupar necesitamos medir parecido. La medida más común es la distancia euclidiana: la distancia 'en línea recta' entre dos observaciones, sumando las diferencias al cuadrado de cada variable. Cerca = parecidos; lejos = distintos. Como suma todas las variables, ¡otra vez hay que estandarizar primero!</a:t>
            </a:r>
          </a:p>
        </p:txBody>
      </p:sp>
      <p:sp>
        <p:nvSpPr>
          <p:cNvPr id="9" name="TextBox 8"/>
          <p:cNvSpPr txBox="1"/>
          <p:nvPr/>
        </p:nvSpPr>
        <p:spPr>
          <a:xfrm>
            <a:off x="5486400" y="6565392"/>
            <a:ext cx="3474720" cy="201168"/>
          </a:xfrm>
          <a:prstGeom prst="rect">
            <a:avLst/>
          </a:prstGeom>
          <a:noFill/>
        </p:spPr>
        <p:txBody>
          <a:bodyPr wrap="square" lIns="0" rIns="0" tIns="0" bIns="0">
            <a:spAutoFit/>
          </a:bodyPr>
          <a:lstStyle/>
          <a:p>
            <a:pPr algn="r"/>
            <a:r>
              <a:rPr sz="900" b="0" i="1">
                <a:solidFill>
                  <a:srgbClr val="555555"/>
                </a:solidFill>
                <a:latin typeface="Ubuntu"/>
              </a:rPr>
              <a:t>Sesión 19 · Aprendizaje no supervisado  -  18</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
            <a:ext cx="8595360" cy="658368"/>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274320"/>
            <a:ext cx="8321040" cy="658368"/>
          </a:xfrm>
          <a:prstGeom prst="rect">
            <a:avLst/>
          </a:prstGeom>
          <a:noFill/>
        </p:spPr>
        <p:txBody>
          <a:bodyPr wrap="square" lIns="0" rIns="0" tIns="0" bIns="0" anchor="ctr">
            <a:spAutoFit/>
          </a:bodyPr>
          <a:lstStyle/>
          <a:p>
            <a:pPr algn="l"/>
            <a:r>
              <a:rPr sz="2200" b="1" i="0">
                <a:solidFill>
                  <a:srgbClr val="FFFFFF"/>
                </a:solidFill>
                <a:latin typeface="Ubuntu"/>
              </a:rPr>
              <a:t>K-means paso a paso</a:t>
            </a:r>
          </a:p>
        </p:txBody>
      </p:sp>
      <p:pic>
        <p:nvPicPr>
          <p:cNvPr id="5" name="Picture 4" descr="03_kmeans_pasos.png"/>
          <p:cNvPicPr>
            <a:picLocks noChangeAspect="1"/>
          </p:cNvPicPr>
          <p:nvPr/>
        </p:nvPicPr>
        <p:blipFill>
          <a:blip r:embed="rId2"/>
          <a:stretch>
            <a:fillRect/>
          </a:stretch>
        </p:blipFill>
        <p:spPr>
          <a:xfrm>
            <a:off x="2273082" y="1234440"/>
            <a:ext cx="4597835" cy="4023360"/>
          </a:xfrm>
          <a:prstGeom prst="rect">
            <a:avLst/>
          </a:prstGeom>
        </p:spPr>
      </p:pic>
      <p:sp>
        <p:nvSpPr>
          <p:cNvPr id="6" name="TextBox 5"/>
          <p:cNvSpPr txBox="1"/>
          <p:nvPr/>
        </p:nvSpPr>
        <p:spPr>
          <a:xfrm>
            <a:off x="457200" y="5303520"/>
            <a:ext cx="8229600" cy="365760"/>
          </a:xfrm>
          <a:prstGeom prst="rect">
            <a:avLst/>
          </a:prstGeom>
          <a:noFill/>
        </p:spPr>
        <p:txBody>
          <a:bodyPr wrap="square" lIns="0" rIns="0" tIns="0" bIns="0">
            <a:spAutoFit/>
          </a:bodyPr>
          <a:lstStyle/>
          <a:p>
            <a:pPr algn="ctr"/>
            <a:r>
              <a:rPr sz="1300" b="0" i="1">
                <a:solidFill>
                  <a:srgbClr val="555555"/>
                </a:solidFill>
                <a:latin typeface="Ubuntu"/>
              </a:rPr>
              <a:t>Elegimos K, colocamos centroides, asignamos, movemos, repetimos.</a:t>
            </a:r>
          </a:p>
        </p:txBody>
      </p:sp>
      <p:sp>
        <p:nvSpPr>
          <p:cNvPr id="7" name="Rectangle 6"/>
          <p:cNvSpPr/>
          <p:nvPr/>
        </p:nvSpPr>
        <p:spPr>
          <a:xfrm>
            <a:off x="274320" y="5486400"/>
            <a:ext cx="8595360" cy="868680"/>
          </a:xfrm>
          <a:prstGeom prst="rect">
            <a:avLst/>
          </a:prstGeom>
          <a:solidFill>
            <a:srgbClr val="F0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0624" y="5577840"/>
            <a:ext cx="8302752" cy="685800"/>
          </a:xfrm>
          <a:prstGeom prst="rect">
            <a:avLst/>
          </a:prstGeom>
          <a:noFill/>
        </p:spPr>
        <p:txBody>
          <a:bodyPr wrap="square" lIns="0" rIns="0" tIns="0" bIns="0">
            <a:spAutoFit/>
          </a:bodyPr>
          <a:lstStyle/>
          <a:p>
            <a:pPr algn="l">
              <a:lnSpc>
                <a:spcPct val="125000"/>
              </a:lnSpc>
            </a:pPr>
            <a:r>
              <a:rPr sz="1400" b="0" i="0">
                <a:solidFill>
                  <a:srgbClr val="000000"/>
                </a:solidFill>
                <a:latin typeface="Ubuntu"/>
              </a:rPr>
              <a:t>K-means alterna dos pasos —asignar cada punto a su centroide más cercano y mover cada centroide al promedio de su grupo— hasta que ya no cambian. Hay que decidir K de antemano.</a:t>
            </a:r>
          </a:p>
        </p:txBody>
      </p:sp>
      <p:sp>
        <p:nvSpPr>
          <p:cNvPr id="9" name="TextBox 8"/>
          <p:cNvSpPr txBox="1"/>
          <p:nvPr/>
        </p:nvSpPr>
        <p:spPr>
          <a:xfrm>
            <a:off x="5486400" y="6565392"/>
            <a:ext cx="3474720" cy="201168"/>
          </a:xfrm>
          <a:prstGeom prst="rect">
            <a:avLst/>
          </a:prstGeom>
          <a:noFill/>
        </p:spPr>
        <p:txBody>
          <a:bodyPr wrap="square" lIns="0" rIns="0" tIns="0" bIns="0">
            <a:spAutoFit/>
          </a:bodyPr>
          <a:lstStyle/>
          <a:p>
            <a:pPr algn="r"/>
            <a:r>
              <a:rPr sz="900" b="0" i="1">
                <a:solidFill>
                  <a:srgbClr val="555555"/>
                </a:solidFill>
                <a:latin typeface="Ubuntu"/>
              </a:rPr>
              <a:t>Sesión 19 · Aprendizaje no supervisado  -  19</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
            <a:ext cx="8595360" cy="658368"/>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274320"/>
            <a:ext cx="8321040" cy="658368"/>
          </a:xfrm>
          <a:prstGeom prst="rect">
            <a:avLst/>
          </a:prstGeom>
          <a:noFill/>
        </p:spPr>
        <p:txBody>
          <a:bodyPr wrap="square" lIns="0" rIns="0" tIns="0" bIns="0" anchor="ctr">
            <a:spAutoFit/>
          </a:bodyPr>
          <a:lstStyle/>
          <a:p>
            <a:pPr algn="l"/>
            <a:r>
              <a:rPr sz="2200" b="1" i="0">
                <a:solidFill>
                  <a:srgbClr val="FFFFFF"/>
                </a:solidFill>
                <a:latin typeface="Ubuntu"/>
              </a:rPr>
              <a:t>K-means: qué optimiza</a:t>
            </a:r>
          </a:p>
        </p:txBody>
      </p:sp>
      <p:pic>
        <p:nvPicPr>
          <p:cNvPr id="5" name="Picture 4" descr="f_kmeans.png"/>
          <p:cNvPicPr>
            <a:picLocks noChangeAspect="1"/>
          </p:cNvPicPr>
          <p:nvPr/>
        </p:nvPicPr>
        <p:blipFill>
          <a:blip r:embed="rId2"/>
          <a:stretch>
            <a:fillRect/>
          </a:stretch>
        </p:blipFill>
        <p:spPr>
          <a:xfrm>
            <a:off x="1098141" y="1188720"/>
            <a:ext cx="6947717" cy="2011680"/>
          </a:xfrm>
          <a:prstGeom prst="rect">
            <a:avLst/>
          </a:prstGeom>
        </p:spPr>
      </p:pic>
      <p:sp>
        <p:nvSpPr>
          <p:cNvPr id="6" name="Rectangle 5"/>
          <p:cNvSpPr/>
          <p:nvPr/>
        </p:nvSpPr>
        <p:spPr>
          <a:xfrm>
            <a:off x="274320" y="3429000"/>
            <a:ext cx="8595360" cy="2560320"/>
          </a:xfrm>
          <a:prstGeom prst="rect">
            <a:avLst/>
          </a:prstGeom>
          <a:solidFill>
            <a:srgbClr val="F0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20624" y="3520440"/>
            <a:ext cx="8302752" cy="365760"/>
          </a:xfrm>
          <a:prstGeom prst="rect">
            <a:avLst/>
          </a:prstGeom>
          <a:noFill/>
        </p:spPr>
        <p:txBody>
          <a:bodyPr wrap="square" lIns="0" rIns="0" tIns="0" bIns="0">
            <a:spAutoFit/>
          </a:bodyPr>
          <a:lstStyle/>
          <a:p>
            <a:pPr algn="l"/>
            <a:r>
              <a:rPr sz="1600" b="1" i="0">
                <a:solidFill>
                  <a:srgbClr val="1A7A3A"/>
                </a:solidFill>
                <a:latin typeface="Ubuntu"/>
              </a:rPr>
              <a:t>Qué significa</a:t>
            </a:r>
          </a:p>
        </p:txBody>
      </p:sp>
      <p:sp>
        <p:nvSpPr>
          <p:cNvPr id="8" name="TextBox 7"/>
          <p:cNvSpPr txBox="1"/>
          <p:nvPr/>
        </p:nvSpPr>
        <p:spPr>
          <a:xfrm>
            <a:off x="420624" y="3904488"/>
            <a:ext cx="8302752" cy="1993392"/>
          </a:xfrm>
          <a:prstGeom prst="rect">
            <a:avLst/>
          </a:prstGeom>
          <a:noFill/>
        </p:spPr>
        <p:txBody>
          <a:bodyPr wrap="square" lIns="0" rIns="0" tIns="0" bIns="0">
            <a:spAutoFit/>
          </a:bodyPr>
          <a:lstStyle/>
          <a:p>
            <a:pPr algn="l">
              <a:lnSpc>
                <a:spcPct val="135000"/>
              </a:lnSpc>
            </a:pPr>
            <a:r>
              <a:rPr sz="1400" b="0" i="0">
                <a:solidFill>
                  <a:srgbClr val="000000"/>
                </a:solidFill>
                <a:latin typeface="Ubuntu"/>
              </a:rPr>
              <a:t>K-means busca la partición en K grupos que MINIMIZA la suma de distancias al cuadrado de cada punto a su centroide (la 'inercia' o WSS). Es decir: grupos lo más compactos posible. El algoritmo no garantiza la solución perfecta (puede caer en un óptimo local), por eso se prueba con varios arranques aleatorios (nstart) y se queda con el mejor.</a:t>
            </a:r>
          </a:p>
        </p:txBody>
      </p:sp>
      <p:sp>
        <p:nvSpPr>
          <p:cNvPr id="9" name="TextBox 8"/>
          <p:cNvSpPr txBox="1"/>
          <p:nvPr/>
        </p:nvSpPr>
        <p:spPr>
          <a:xfrm>
            <a:off x="5486400" y="6565392"/>
            <a:ext cx="3474720" cy="201168"/>
          </a:xfrm>
          <a:prstGeom prst="rect">
            <a:avLst/>
          </a:prstGeom>
          <a:noFill/>
        </p:spPr>
        <p:txBody>
          <a:bodyPr wrap="square" lIns="0" rIns="0" tIns="0" bIns="0">
            <a:spAutoFit/>
          </a:bodyPr>
          <a:lstStyle/>
          <a:p>
            <a:pPr algn="r"/>
            <a:r>
              <a:rPr sz="900" b="0" i="1">
                <a:solidFill>
                  <a:srgbClr val="555555"/>
                </a:solidFill>
                <a:latin typeface="Ubuntu"/>
              </a:rPr>
              <a:t>Sesión 19 · Aprendizaje no supervisado  -  20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
            <a:ext cx="8595360" cy="658368"/>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274320"/>
            <a:ext cx="8321040" cy="658368"/>
          </a:xfrm>
          <a:prstGeom prst="rect">
            <a:avLst/>
          </a:prstGeom>
          <a:noFill/>
        </p:spPr>
        <p:txBody>
          <a:bodyPr wrap="square" lIns="0" rIns="0" tIns="0" bIns="0" anchor="ctr">
            <a:spAutoFit/>
          </a:bodyPr>
          <a:lstStyle/>
          <a:p>
            <a:pPr algn="l"/>
            <a:r>
              <a:rPr sz="2200" b="1" i="0">
                <a:solidFill>
                  <a:srgbClr val="FFFFFF"/>
                </a:solidFill>
                <a:latin typeface="Ubuntu"/>
              </a:rPr>
              <a:t>Elegir K: dos diagnósticos</a:t>
            </a:r>
          </a:p>
        </p:txBody>
      </p:sp>
      <p:sp>
        <p:nvSpPr>
          <p:cNvPr id="5" name="TextBox 4"/>
          <p:cNvSpPr txBox="1"/>
          <p:nvPr/>
        </p:nvSpPr>
        <p:spPr>
          <a:xfrm>
            <a:off x="365760" y="1097280"/>
            <a:ext cx="8412480" cy="548640"/>
          </a:xfrm>
          <a:prstGeom prst="rect">
            <a:avLst/>
          </a:prstGeom>
          <a:noFill/>
        </p:spPr>
        <p:txBody>
          <a:bodyPr wrap="square" lIns="0" rIns="0" tIns="0" bIns="0">
            <a:spAutoFit/>
          </a:bodyPr>
          <a:lstStyle/>
          <a:p>
            <a:pPr algn="l">
              <a:lnSpc>
                <a:spcPct val="120000"/>
              </a:lnSpc>
            </a:pPr>
            <a:r>
              <a:rPr sz="1400" b="0" i="1">
                <a:solidFill>
                  <a:srgbClr val="1E4C7D"/>
                </a:solidFill>
                <a:latin typeface="Ubuntu"/>
              </a:rPr>
              <a:t>K-means necesita que fijemos K. No lo elegimos 'a ojo': usamos datos.</a:t>
            </a:r>
          </a:p>
        </p:txBody>
      </p:sp>
      <p:sp>
        <p:nvSpPr>
          <p:cNvPr id="6" name="Oval 5"/>
          <p:cNvSpPr/>
          <p:nvPr/>
        </p:nvSpPr>
        <p:spPr>
          <a:xfrm>
            <a:off x="411480" y="1783080"/>
            <a:ext cx="457200" cy="457200"/>
          </a:xfrm>
          <a:prstGeom prst="ellipse">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800" b="1">
                <a:solidFill>
                  <a:srgbClr val="FFFFFF"/>
                </a:solidFill>
                <a:latin typeface="Ubuntu"/>
              </a:rPr>
              <a:t>1</a:t>
            </a:r>
          </a:p>
        </p:txBody>
      </p:sp>
      <p:sp>
        <p:nvSpPr>
          <p:cNvPr id="7" name="TextBox 6"/>
          <p:cNvSpPr txBox="1"/>
          <p:nvPr/>
        </p:nvSpPr>
        <p:spPr>
          <a:xfrm>
            <a:off x="1051560" y="1746504"/>
            <a:ext cx="7406640" cy="365760"/>
          </a:xfrm>
          <a:prstGeom prst="rect">
            <a:avLst/>
          </a:prstGeom>
          <a:noFill/>
        </p:spPr>
        <p:txBody>
          <a:bodyPr wrap="square" lIns="0" rIns="0" tIns="0" bIns="0">
            <a:spAutoFit/>
          </a:bodyPr>
          <a:lstStyle/>
          <a:p>
            <a:pPr algn="l"/>
            <a:r>
              <a:rPr sz="1400" b="1" i="0">
                <a:solidFill>
                  <a:srgbClr val="1E4C7D"/>
                </a:solidFill>
                <a:latin typeface="Ubuntu"/>
              </a:rPr>
              <a:t>Método del codo</a:t>
            </a:r>
          </a:p>
        </p:txBody>
      </p:sp>
      <p:sp>
        <p:nvSpPr>
          <p:cNvPr id="8" name="TextBox 7"/>
          <p:cNvSpPr txBox="1"/>
          <p:nvPr/>
        </p:nvSpPr>
        <p:spPr>
          <a:xfrm>
            <a:off x="1051560" y="2075688"/>
            <a:ext cx="7406640" cy="740663"/>
          </a:xfrm>
          <a:prstGeom prst="rect">
            <a:avLst/>
          </a:prstGeom>
          <a:noFill/>
        </p:spPr>
        <p:txBody>
          <a:bodyPr wrap="square" lIns="0" rIns="0" tIns="0" bIns="0">
            <a:spAutoFit/>
          </a:bodyPr>
          <a:lstStyle/>
          <a:p>
            <a:pPr algn="l">
              <a:lnSpc>
                <a:spcPct val="115000"/>
              </a:lnSpc>
            </a:pPr>
            <a:r>
              <a:rPr sz="1200" b="0" i="0">
                <a:solidFill>
                  <a:srgbClr val="000000"/>
                </a:solidFill>
                <a:latin typeface="Ubuntu"/>
              </a:rPr>
              <a:t>Grafica la inercia (WSS) contra K. Siempre baja al subir K; buscamos el 'codo': el K donde deja de bajar rápido.</a:t>
            </a:r>
          </a:p>
        </p:txBody>
      </p:sp>
      <p:sp>
        <p:nvSpPr>
          <p:cNvPr id="9" name="Oval 8"/>
          <p:cNvSpPr/>
          <p:nvPr/>
        </p:nvSpPr>
        <p:spPr>
          <a:xfrm>
            <a:off x="411480" y="2834639"/>
            <a:ext cx="457200" cy="457200"/>
          </a:xfrm>
          <a:prstGeom prst="ellipse">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800" b="1">
                <a:solidFill>
                  <a:srgbClr val="FFFFFF"/>
                </a:solidFill>
                <a:latin typeface="Ubuntu"/>
              </a:rPr>
              <a:t>2</a:t>
            </a:r>
          </a:p>
        </p:txBody>
      </p:sp>
      <p:sp>
        <p:nvSpPr>
          <p:cNvPr id="10" name="TextBox 9"/>
          <p:cNvSpPr txBox="1"/>
          <p:nvPr/>
        </p:nvSpPr>
        <p:spPr>
          <a:xfrm>
            <a:off x="1051560" y="2798063"/>
            <a:ext cx="7406640" cy="365760"/>
          </a:xfrm>
          <a:prstGeom prst="rect">
            <a:avLst/>
          </a:prstGeom>
          <a:noFill/>
        </p:spPr>
        <p:txBody>
          <a:bodyPr wrap="square" lIns="0" rIns="0" tIns="0" bIns="0">
            <a:spAutoFit/>
          </a:bodyPr>
          <a:lstStyle/>
          <a:p>
            <a:pPr algn="l"/>
            <a:r>
              <a:rPr sz="1400" b="1" i="0">
                <a:solidFill>
                  <a:srgbClr val="1E4C7D"/>
                </a:solidFill>
                <a:latin typeface="Ubuntu"/>
              </a:rPr>
              <a:t>Método de la silueta</a:t>
            </a:r>
          </a:p>
        </p:txBody>
      </p:sp>
      <p:sp>
        <p:nvSpPr>
          <p:cNvPr id="11" name="TextBox 10"/>
          <p:cNvSpPr txBox="1"/>
          <p:nvPr/>
        </p:nvSpPr>
        <p:spPr>
          <a:xfrm>
            <a:off x="1051560" y="3127247"/>
            <a:ext cx="7406640" cy="740663"/>
          </a:xfrm>
          <a:prstGeom prst="rect">
            <a:avLst/>
          </a:prstGeom>
          <a:noFill/>
        </p:spPr>
        <p:txBody>
          <a:bodyPr wrap="square" lIns="0" rIns="0" tIns="0" bIns="0">
            <a:spAutoFit/>
          </a:bodyPr>
          <a:lstStyle/>
          <a:p>
            <a:pPr algn="l">
              <a:lnSpc>
                <a:spcPct val="115000"/>
              </a:lnSpc>
            </a:pPr>
            <a:r>
              <a:rPr sz="1200" b="0" i="0">
                <a:solidFill>
                  <a:srgbClr val="000000"/>
                </a:solidFill>
                <a:latin typeface="Ubuntu"/>
              </a:rPr>
              <a:t>Mide qué tan cómodo está cada punto en su grupo vs. el grupo vecino. Va de -1 a 1; elegimos el K con silueta promedio MÁS ALTA.</a:t>
            </a:r>
          </a:p>
        </p:txBody>
      </p:sp>
      <p:sp>
        <p:nvSpPr>
          <p:cNvPr id="12" name="Oval 11"/>
          <p:cNvSpPr/>
          <p:nvPr/>
        </p:nvSpPr>
        <p:spPr>
          <a:xfrm>
            <a:off x="411480" y="3886200"/>
            <a:ext cx="457200" cy="457200"/>
          </a:xfrm>
          <a:prstGeom prst="ellipse">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800" b="1">
                <a:solidFill>
                  <a:srgbClr val="FFFFFF"/>
                </a:solidFill>
                <a:latin typeface="Ubuntu"/>
              </a:rPr>
              <a:t>3</a:t>
            </a:r>
          </a:p>
        </p:txBody>
      </p:sp>
      <p:sp>
        <p:nvSpPr>
          <p:cNvPr id="13" name="TextBox 12"/>
          <p:cNvSpPr txBox="1"/>
          <p:nvPr/>
        </p:nvSpPr>
        <p:spPr>
          <a:xfrm>
            <a:off x="1051560" y="3849624"/>
            <a:ext cx="7406640" cy="365760"/>
          </a:xfrm>
          <a:prstGeom prst="rect">
            <a:avLst/>
          </a:prstGeom>
          <a:noFill/>
        </p:spPr>
        <p:txBody>
          <a:bodyPr wrap="square" lIns="0" rIns="0" tIns="0" bIns="0">
            <a:spAutoFit/>
          </a:bodyPr>
          <a:lstStyle/>
          <a:p>
            <a:pPr algn="l"/>
            <a:r>
              <a:rPr sz="1400" b="1" i="0">
                <a:solidFill>
                  <a:srgbClr val="1E4C7D"/>
                </a:solidFill>
                <a:latin typeface="Ubuntu"/>
              </a:rPr>
              <a:t>Y el sentido común</a:t>
            </a:r>
          </a:p>
        </p:txBody>
      </p:sp>
      <p:sp>
        <p:nvSpPr>
          <p:cNvPr id="14" name="TextBox 13"/>
          <p:cNvSpPr txBox="1"/>
          <p:nvPr/>
        </p:nvSpPr>
        <p:spPr>
          <a:xfrm>
            <a:off x="1051560" y="4178808"/>
            <a:ext cx="7406640" cy="740663"/>
          </a:xfrm>
          <a:prstGeom prst="rect">
            <a:avLst/>
          </a:prstGeom>
          <a:noFill/>
        </p:spPr>
        <p:txBody>
          <a:bodyPr wrap="square" lIns="0" rIns="0" tIns="0" bIns="0">
            <a:spAutoFit/>
          </a:bodyPr>
          <a:lstStyle/>
          <a:p>
            <a:pPr algn="l">
              <a:lnSpc>
                <a:spcPct val="115000"/>
              </a:lnSpc>
            </a:pPr>
            <a:r>
              <a:rPr sz="1200" b="0" i="0">
                <a:solidFill>
                  <a:srgbClr val="000000"/>
                </a:solidFill>
                <a:latin typeface="Ubuntu"/>
              </a:rPr>
              <a:t>Los diagnósticos son guías, no veredictos. El K elegido debe dar grupos INTERPRETABLES y útiles para la decisión.</a:t>
            </a:r>
          </a:p>
        </p:txBody>
      </p:sp>
      <p:sp>
        <p:nvSpPr>
          <p:cNvPr id="15" name="TextBox 14"/>
          <p:cNvSpPr txBox="1"/>
          <p:nvPr/>
        </p:nvSpPr>
        <p:spPr>
          <a:xfrm>
            <a:off x="5486400" y="6565392"/>
            <a:ext cx="3474720" cy="201168"/>
          </a:xfrm>
          <a:prstGeom prst="rect">
            <a:avLst/>
          </a:prstGeom>
          <a:noFill/>
        </p:spPr>
        <p:txBody>
          <a:bodyPr wrap="square" lIns="0" rIns="0" tIns="0" bIns="0">
            <a:spAutoFit/>
          </a:bodyPr>
          <a:lstStyle/>
          <a:p>
            <a:pPr algn="r"/>
            <a:r>
              <a:rPr sz="900" b="0" i="1">
                <a:solidFill>
                  <a:srgbClr val="555555"/>
                </a:solidFill>
                <a:latin typeface="Ubuntu"/>
              </a:rPr>
              <a:t>Sesión 19 · Aprendizaje no supervisado  -  21</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
            <a:ext cx="8595360" cy="658368"/>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274320"/>
            <a:ext cx="8321040" cy="658368"/>
          </a:xfrm>
          <a:prstGeom prst="rect">
            <a:avLst/>
          </a:prstGeom>
          <a:noFill/>
        </p:spPr>
        <p:txBody>
          <a:bodyPr wrap="square" lIns="0" rIns="0" tIns="0" bIns="0" anchor="ctr">
            <a:spAutoFit/>
          </a:bodyPr>
          <a:lstStyle/>
          <a:p>
            <a:pPr algn="l"/>
            <a:r>
              <a:rPr sz="2200" b="1" i="0">
                <a:solidFill>
                  <a:srgbClr val="FFFFFF"/>
                </a:solidFill>
                <a:latin typeface="Ubuntu"/>
              </a:rPr>
              <a:t>Codo y silueta</a:t>
            </a:r>
          </a:p>
        </p:txBody>
      </p:sp>
      <p:sp>
        <p:nvSpPr>
          <p:cNvPr id="5" name="Rectangle 4"/>
          <p:cNvSpPr/>
          <p:nvPr/>
        </p:nvSpPr>
        <p:spPr>
          <a:xfrm>
            <a:off x="274320" y="1188720"/>
            <a:ext cx="4251960" cy="502920"/>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1188720"/>
            <a:ext cx="4251960" cy="502920"/>
          </a:xfrm>
          <a:prstGeom prst="rect">
            <a:avLst/>
          </a:prstGeom>
          <a:noFill/>
        </p:spPr>
        <p:txBody>
          <a:bodyPr wrap="square" lIns="0" rIns="0" tIns="0" bIns="0" anchor="ctr">
            <a:spAutoFit/>
          </a:bodyPr>
          <a:lstStyle/>
          <a:p>
            <a:pPr algn="ctr"/>
            <a:r>
              <a:rPr sz="1500" b="1" i="0">
                <a:solidFill>
                  <a:srgbClr val="FFFFFF"/>
                </a:solidFill>
                <a:latin typeface="Ubuntu"/>
              </a:rPr>
              <a:t>Método del codo</a:t>
            </a:r>
          </a:p>
        </p:txBody>
      </p:sp>
      <p:pic>
        <p:nvPicPr>
          <p:cNvPr id="7" name="Picture 6" descr="04_codo.png"/>
          <p:cNvPicPr>
            <a:picLocks noChangeAspect="1"/>
          </p:cNvPicPr>
          <p:nvPr/>
        </p:nvPicPr>
        <p:blipFill>
          <a:blip r:embed="rId2"/>
          <a:stretch>
            <a:fillRect/>
          </a:stretch>
        </p:blipFill>
        <p:spPr>
          <a:xfrm>
            <a:off x="443812" y="1764792"/>
            <a:ext cx="3912975" cy="2468880"/>
          </a:xfrm>
          <a:prstGeom prst="rect">
            <a:avLst/>
          </a:prstGeom>
        </p:spPr>
      </p:pic>
      <p:sp>
        <p:nvSpPr>
          <p:cNvPr id="8" name="Rectangle 7"/>
          <p:cNvSpPr/>
          <p:nvPr/>
        </p:nvSpPr>
        <p:spPr>
          <a:xfrm>
            <a:off x="274320" y="4297680"/>
            <a:ext cx="4251960" cy="1691639"/>
          </a:xfrm>
          <a:prstGeom prst="rect">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0624" y="4407408"/>
            <a:ext cx="3959352" cy="1554480"/>
          </a:xfrm>
          <a:prstGeom prst="rect">
            <a:avLst/>
          </a:prstGeom>
          <a:noFill/>
        </p:spPr>
        <p:txBody>
          <a:bodyPr wrap="square" lIns="0" rIns="0" tIns="0" bIns="0">
            <a:spAutoFit/>
          </a:bodyPr>
          <a:lstStyle/>
          <a:p>
            <a:pPr algn="l">
              <a:lnSpc>
                <a:spcPct val="130000"/>
              </a:lnSpc>
            </a:pPr>
            <a:r>
              <a:rPr sz="1300" b="0" i="0">
                <a:solidFill>
                  <a:srgbClr val="000000"/>
                </a:solidFill>
                <a:latin typeface="Ubuntu"/>
              </a:rPr>
              <a:t>Busca dónde la curva 'se dobla'. A partir de ahí, más grupos casi no reducen la inercia.</a:t>
            </a:r>
          </a:p>
        </p:txBody>
      </p:sp>
      <p:sp>
        <p:nvSpPr>
          <p:cNvPr id="10" name="Rectangle 9"/>
          <p:cNvSpPr/>
          <p:nvPr/>
        </p:nvSpPr>
        <p:spPr>
          <a:xfrm>
            <a:off x="4617720" y="1188720"/>
            <a:ext cx="4251960" cy="502920"/>
          </a:xfrm>
          <a:prstGeom prst="rect">
            <a:avLst/>
          </a:prstGeom>
          <a:solidFill>
            <a:srgbClr val="2D7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1188720"/>
            <a:ext cx="4251960" cy="502920"/>
          </a:xfrm>
          <a:prstGeom prst="rect">
            <a:avLst/>
          </a:prstGeom>
          <a:noFill/>
        </p:spPr>
        <p:txBody>
          <a:bodyPr wrap="square" lIns="0" rIns="0" tIns="0" bIns="0" anchor="ctr">
            <a:spAutoFit/>
          </a:bodyPr>
          <a:lstStyle/>
          <a:p>
            <a:pPr algn="ctr"/>
            <a:r>
              <a:rPr sz="1500" b="1" i="0">
                <a:solidFill>
                  <a:srgbClr val="FFFFFF"/>
                </a:solidFill>
                <a:latin typeface="Ubuntu"/>
              </a:rPr>
              <a:t>Método de la silueta</a:t>
            </a:r>
          </a:p>
        </p:txBody>
      </p:sp>
      <p:pic>
        <p:nvPicPr>
          <p:cNvPr id="12" name="Picture 11" descr="05_silueta.png"/>
          <p:cNvPicPr>
            <a:picLocks noChangeAspect="1"/>
          </p:cNvPicPr>
          <p:nvPr/>
        </p:nvPicPr>
        <p:blipFill>
          <a:blip r:embed="rId3"/>
          <a:stretch>
            <a:fillRect/>
          </a:stretch>
        </p:blipFill>
        <p:spPr>
          <a:xfrm>
            <a:off x="4845498" y="1764792"/>
            <a:ext cx="3796403" cy="2468880"/>
          </a:xfrm>
          <a:prstGeom prst="rect">
            <a:avLst/>
          </a:prstGeom>
        </p:spPr>
      </p:pic>
      <p:sp>
        <p:nvSpPr>
          <p:cNvPr id="13" name="Rectangle 12"/>
          <p:cNvSpPr/>
          <p:nvPr/>
        </p:nvSpPr>
        <p:spPr>
          <a:xfrm>
            <a:off x="4617720" y="4297680"/>
            <a:ext cx="4251960" cy="1691639"/>
          </a:xfrm>
          <a:prstGeom prst="rect">
            <a:avLst/>
          </a:prstGeom>
          <a:solidFill>
            <a:srgbClr val="DD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64024" y="4407408"/>
            <a:ext cx="3959352" cy="1554480"/>
          </a:xfrm>
          <a:prstGeom prst="rect">
            <a:avLst/>
          </a:prstGeom>
          <a:noFill/>
        </p:spPr>
        <p:txBody>
          <a:bodyPr wrap="square" lIns="0" rIns="0" tIns="0" bIns="0">
            <a:spAutoFit/>
          </a:bodyPr>
          <a:lstStyle/>
          <a:p>
            <a:pPr algn="l">
              <a:lnSpc>
                <a:spcPct val="130000"/>
              </a:lnSpc>
            </a:pPr>
            <a:r>
              <a:rPr sz="1300" b="0" i="0">
                <a:solidFill>
                  <a:srgbClr val="000000"/>
                </a:solidFill>
                <a:latin typeface="Ubuntu"/>
              </a:rPr>
              <a:t>Elige la K con el valor más alto. Mide separación entre grupos, no solo compacidad.</a:t>
            </a:r>
          </a:p>
        </p:txBody>
      </p:sp>
      <p:sp>
        <p:nvSpPr>
          <p:cNvPr id="15" name="TextBox 14"/>
          <p:cNvSpPr txBox="1"/>
          <p:nvPr/>
        </p:nvSpPr>
        <p:spPr>
          <a:xfrm>
            <a:off x="5486400" y="6565392"/>
            <a:ext cx="3474720" cy="201168"/>
          </a:xfrm>
          <a:prstGeom prst="rect">
            <a:avLst/>
          </a:prstGeom>
          <a:noFill/>
        </p:spPr>
        <p:txBody>
          <a:bodyPr wrap="square" lIns="0" rIns="0" tIns="0" bIns="0">
            <a:spAutoFit/>
          </a:bodyPr>
          <a:lstStyle/>
          <a:p>
            <a:pPr algn="r"/>
            <a:r>
              <a:rPr sz="900" b="0" i="1">
                <a:solidFill>
                  <a:srgbClr val="555555"/>
                </a:solidFill>
                <a:latin typeface="Ubuntu"/>
              </a:rPr>
              <a:t>Sesión 19 · Aprendizaje no supervisado  -  22</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
            <a:ext cx="8595360" cy="658368"/>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274320"/>
            <a:ext cx="8321040" cy="658368"/>
          </a:xfrm>
          <a:prstGeom prst="rect">
            <a:avLst/>
          </a:prstGeom>
          <a:noFill/>
        </p:spPr>
        <p:txBody>
          <a:bodyPr wrap="square" lIns="0" rIns="0" tIns="0" bIns="0" anchor="ctr">
            <a:spAutoFit/>
          </a:bodyPr>
          <a:lstStyle/>
          <a:p>
            <a:pPr algn="l"/>
            <a:r>
              <a:rPr sz="2200" b="1" i="0">
                <a:solidFill>
                  <a:srgbClr val="FFFFFF"/>
                </a:solidFill>
                <a:latin typeface="Ubuntu"/>
              </a:rPr>
              <a:t>La silueta, con más detalle</a:t>
            </a:r>
          </a:p>
        </p:txBody>
      </p:sp>
      <p:pic>
        <p:nvPicPr>
          <p:cNvPr id="5" name="Picture 4" descr="f_silueta.png"/>
          <p:cNvPicPr>
            <a:picLocks noChangeAspect="1"/>
          </p:cNvPicPr>
          <p:nvPr/>
        </p:nvPicPr>
        <p:blipFill>
          <a:blip r:embed="rId2"/>
          <a:stretch>
            <a:fillRect/>
          </a:stretch>
        </p:blipFill>
        <p:spPr>
          <a:xfrm>
            <a:off x="1098141" y="1188720"/>
            <a:ext cx="6947717" cy="2011680"/>
          </a:xfrm>
          <a:prstGeom prst="rect">
            <a:avLst/>
          </a:prstGeom>
        </p:spPr>
      </p:pic>
      <p:sp>
        <p:nvSpPr>
          <p:cNvPr id="6" name="Rectangle 5"/>
          <p:cNvSpPr/>
          <p:nvPr/>
        </p:nvSpPr>
        <p:spPr>
          <a:xfrm>
            <a:off x="274320" y="3429000"/>
            <a:ext cx="8595360" cy="2560320"/>
          </a:xfrm>
          <a:prstGeom prst="rect">
            <a:avLst/>
          </a:prstGeom>
          <a:solidFill>
            <a:srgbClr val="F0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20624" y="3520440"/>
            <a:ext cx="8302752" cy="365760"/>
          </a:xfrm>
          <a:prstGeom prst="rect">
            <a:avLst/>
          </a:prstGeom>
          <a:noFill/>
        </p:spPr>
        <p:txBody>
          <a:bodyPr wrap="square" lIns="0" rIns="0" tIns="0" bIns="0">
            <a:spAutoFit/>
          </a:bodyPr>
          <a:lstStyle/>
          <a:p>
            <a:pPr algn="l"/>
            <a:r>
              <a:rPr sz="1600" b="1" i="0">
                <a:solidFill>
                  <a:srgbClr val="1A7A3A"/>
                </a:solidFill>
                <a:latin typeface="Ubuntu"/>
              </a:rPr>
              <a:t>Qué significa</a:t>
            </a:r>
          </a:p>
        </p:txBody>
      </p:sp>
      <p:sp>
        <p:nvSpPr>
          <p:cNvPr id="8" name="TextBox 7"/>
          <p:cNvSpPr txBox="1"/>
          <p:nvPr/>
        </p:nvSpPr>
        <p:spPr>
          <a:xfrm>
            <a:off x="420624" y="3904488"/>
            <a:ext cx="8302752" cy="1993392"/>
          </a:xfrm>
          <a:prstGeom prst="rect">
            <a:avLst/>
          </a:prstGeom>
          <a:noFill/>
        </p:spPr>
        <p:txBody>
          <a:bodyPr wrap="square" lIns="0" rIns="0" tIns="0" bIns="0">
            <a:spAutoFit/>
          </a:bodyPr>
          <a:lstStyle/>
          <a:p>
            <a:pPr algn="l">
              <a:lnSpc>
                <a:spcPct val="135000"/>
              </a:lnSpc>
            </a:pPr>
            <a:r>
              <a:rPr sz="1400" b="0" i="0">
                <a:solidFill>
                  <a:srgbClr val="000000"/>
                </a:solidFill>
                <a:latin typeface="Ubuntu"/>
              </a:rPr>
              <a:t>Para cada punto: a(i) = distancia promedio a los de SU grupo; b(i) = distancia promedio al grupo vecino más cercano. Si b &gt;&gt; a, el punto está bien clasificado y s(i) se acerca a 1. Si s(i) es negativo, el punto estaría mejor en otro grupo. Promediamos s(i) sobre todos los puntos.</a:t>
            </a:r>
          </a:p>
        </p:txBody>
      </p:sp>
      <p:sp>
        <p:nvSpPr>
          <p:cNvPr id="9" name="TextBox 8"/>
          <p:cNvSpPr txBox="1"/>
          <p:nvPr/>
        </p:nvSpPr>
        <p:spPr>
          <a:xfrm>
            <a:off x="5486400" y="6565392"/>
            <a:ext cx="3474720" cy="201168"/>
          </a:xfrm>
          <a:prstGeom prst="rect">
            <a:avLst/>
          </a:prstGeom>
          <a:noFill/>
        </p:spPr>
        <p:txBody>
          <a:bodyPr wrap="square" lIns="0" rIns="0" tIns="0" bIns="0">
            <a:spAutoFit/>
          </a:bodyPr>
          <a:lstStyle/>
          <a:p>
            <a:pPr algn="r"/>
            <a:r>
              <a:rPr sz="900" b="0" i="1">
                <a:solidFill>
                  <a:srgbClr val="555555"/>
                </a:solidFill>
                <a:latin typeface="Ubuntu"/>
              </a:rPr>
              <a:t>Sesión 19 · Aprendizaje no supervisado  -  23</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
            <a:ext cx="8595360" cy="658368"/>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274320"/>
            <a:ext cx="8321040" cy="658368"/>
          </a:xfrm>
          <a:prstGeom prst="rect">
            <a:avLst/>
          </a:prstGeom>
          <a:noFill/>
        </p:spPr>
        <p:txBody>
          <a:bodyPr wrap="square" lIns="0" rIns="0" tIns="0" bIns="0" anchor="ctr">
            <a:spAutoFit/>
          </a:bodyPr>
          <a:lstStyle/>
          <a:p>
            <a:pPr algn="l"/>
            <a:r>
              <a:rPr sz="2200" b="1" i="0">
                <a:solidFill>
                  <a:srgbClr val="FFFFFF"/>
                </a:solidFill>
                <a:latin typeface="Ubuntu"/>
              </a:rPr>
              <a:t>Clustering jerárquico</a:t>
            </a:r>
          </a:p>
        </p:txBody>
      </p:sp>
      <p:sp>
        <p:nvSpPr>
          <p:cNvPr id="5" name="TextBox 4"/>
          <p:cNvSpPr txBox="1"/>
          <p:nvPr/>
        </p:nvSpPr>
        <p:spPr>
          <a:xfrm>
            <a:off x="365760" y="1097280"/>
            <a:ext cx="8412480" cy="640080"/>
          </a:xfrm>
          <a:prstGeom prst="rect">
            <a:avLst/>
          </a:prstGeom>
          <a:noFill/>
        </p:spPr>
        <p:txBody>
          <a:bodyPr wrap="square" lIns="0" rIns="0" tIns="0" bIns="0">
            <a:spAutoFit/>
          </a:bodyPr>
          <a:lstStyle/>
          <a:p>
            <a:pPr algn="l">
              <a:lnSpc>
                <a:spcPct val="120000"/>
              </a:lnSpc>
            </a:pPr>
            <a:r>
              <a:rPr sz="1500" b="0" i="1">
                <a:solidFill>
                  <a:srgbClr val="1E4C7D"/>
                </a:solidFill>
                <a:latin typeface="Ubuntu"/>
              </a:rPr>
              <a:t>Una alternativa que NO exige fijar K de antemano.</a:t>
            </a:r>
          </a:p>
        </p:txBody>
      </p:sp>
      <p:sp>
        <p:nvSpPr>
          <p:cNvPr id="6" name="Rectangle 5"/>
          <p:cNvSpPr/>
          <p:nvPr/>
        </p:nvSpPr>
        <p:spPr>
          <a:xfrm>
            <a:off x="274320" y="1874519"/>
            <a:ext cx="4114800" cy="4114800"/>
          </a:xfrm>
          <a:prstGeom prst="rect">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20624" y="1965959"/>
            <a:ext cx="3822192" cy="3931920"/>
          </a:xfrm>
          <a:prstGeom prst="rect">
            <a:avLst/>
          </a:prstGeom>
          <a:noFill/>
        </p:spPr>
        <p:txBody>
          <a:bodyPr wrap="square" lIns="0" rIns="0" tIns="0" bIns="0">
            <a:spAutoFit/>
          </a:bodyPr>
          <a:lstStyle/>
          <a:p>
            <a:pPr algn="l">
              <a:lnSpc>
                <a:spcPct val="140000"/>
              </a:lnSpc>
            </a:pPr>
            <a:r>
              <a:rPr sz="1300" b="0" i="0">
                <a:solidFill>
                  <a:srgbClr val="000000"/>
                </a:solidFill>
                <a:latin typeface="Ubuntu"/>
              </a:rPr>
              <a:t>Cómo funciona</a:t>
            </a:r>
          </a:p>
          <a:p>
            <a:pPr algn="l">
              <a:lnSpc>
                <a:spcPct val="140000"/>
              </a:lnSpc>
            </a:pPr>
            <a:r>
              <a:rPr sz="1300" b="0" i="0">
                <a:solidFill>
                  <a:srgbClr val="000000"/>
                </a:solidFill>
                <a:latin typeface="Ubuntu"/>
              </a:rPr>
              <a:t>• Empieza con cada punto solo.</a:t>
            </a:r>
          </a:p>
          <a:p>
            <a:pPr algn="l">
              <a:lnSpc>
                <a:spcPct val="140000"/>
              </a:lnSpc>
            </a:pPr>
            <a:r>
              <a:rPr sz="1300" b="0" i="0">
                <a:solidFill>
                  <a:srgbClr val="000000"/>
                </a:solidFill>
                <a:latin typeface="Ubuntu"/>
              </a:rPr>
              <a:t>• Fusiona los dos más cercanos.</a:t>
            </a:r>
          </a:p>
          <a:p>
            <a:pPr algn="l">
              <a:lnSpc>
                <a:spcPct val="140000"/>
              </a:lnSpc>
            </a:pPr>
            <a:r>
              <a:rPr sz="1300" b="0" i="0">
                <a:solidFill>
                  <a:srgbClr val="000000"/>
                </a:solidFill>
                <a:latin typeface="Ubuntu"/>
              </a:rPr>
              <a:t>• Repite hasta tener un solo grupo.</a:t>
            </a:r>
          </a:p>
          <a:p>
            <a:pPr algn="l">
              <a:lnSpc>
                <a:spcPct val="140000"/>
              </a:lnSpc>
            </a:pPr>
            <a:r>
              <a:rPr sz="1300" b="0" i="0">
                <a:solidFill>
                  <a:srgbClr val="000000"/>
                </a:solidFill>
                <a:latin typeface="Ubuntu"/>
              </a:rPr>
              <a:t/>
            </a:r>
          </a:p>
          <a:p>
            <a:pPr algn="l">
              <a:lnSpc>
                <a:spcPct val="140000"/>
              </a:lnSpc>
            </a:pPr>
            <a:r>
              <a:rPr sz="1300" b="0" i="0">
                <a:solidFill>
                  <a:srgbClr val="000000"/>
                </a:solidFill>
                <a:latin typeface="Ubuntu"/>
              </a:rPr>
              <a:t>El resultado es un ÁRBOL (dendrograma). Lo 'cortamos' a cierta altura para obtener el número de grupos que queramos.</a:t>
            </a:r>
          </a:p>
          <a:p>
            <a:pPr algn="l">
              <a:lnSpc>
                <a:spcPct val="140000"/>
              </a:lnSpc>
            </a:pPr>
            <a:r>
              <a:rPr sz="1300" b="0" i="0">
                <a:solidFill>
                  <a:srgbClr val="000000"/>
                </a:solidFill>
                <a:latin typeface="Ubuntu"/>
              </a:rPr>
              <a:t/>
            </a:r>
          </a:p>
          <a:p>
            <a:pPr algn="l">
              <a:lnSpc>
                <a:spcPct val="140000"/>
              </a:lnSpc>
            </a:pPr>
            <a:r>
              <a:rPr sz="1300" b="0" i="0">
                <a:solidFill>
                  <a:srgbClr val="000000"/>
                </a:solidFill>
                <a:latin typeface="Ubuntu"/>
              </a:rPr>
              <a:t>El método de enlace 'Ward' tiende a formar grupos compactos y de tamaño parecido, comparable con k-means.</a:t>
            </a:r>
          </a:p>
        </p:txBody>
      </p:sp>
      <p:pic>
        <p:nvPicPr>
          <p:cNvPr id="8" name="Picture 7" descr="07_dendrograma.png"/>
          <p:cNvPicPr>
            <a:picLocks noChangeAspect="1"/>
          </p:cNvPicPr>
          <p:nvPr/>
        </p:nvPicPr>
        <p:blipFill>
          <a:blip r:embed="rId2"/>
          <a:stretch>
            <a:fillRect/>
          </a:stretch>
        </p:blipFill>
        <p:spPr>
          <a:xfrm>
            <a:off x="4663440" y="2804639"/>
            <a:ext cx="4206240" cy="2254559"/>
          </a:xfrm>
          <a:prstGeom prst="rect">
            <a:avLst/>
          </a:prstGeom>
        </p:spPr>
      </p:pic>
      <p:sp>
        <p:nvSpPr>
          <p:cNvPr id="9" name="TextBox 8"/>
          <p:cNvSpPr txBox="1"/>
          <p:nvPr/>
        </p:nvSpPr>
        <p:spPr>
          <a:xfrm>
            <a:off x="4663440" y="6035040"/>
            <a:ext cx="4206240" cy="310896"/>
          </a:xfrm>
          <a:prstGeom prst="rect">
            <a:avLst/>
          </a:prstGeom>
          <a:noFill/>
        </p:spPr>
        <p:txBody>
          <a:bodyPr wrap="square" lIns="0" rIns="0" tIns="0" bIns="0">
            <a:spAutoFit/>
          </a:bodyPr>
          <a:lstStyle/>
          <a:p>
            <a:pPr algn="ctr"/>
            <a:r>
              <a:rPr sz="1100" b="0" i="1">
                <a:solidFill>
                  <a:srgbClr val="555555"/>
                </a:solidFill>
                <a:latin typeface="Ubuntu"/>
              </a:rPr>
              <a:t>Cada fusión es una rama; la altura es la distancia a la que se unieron.</a:t>
            </a:r>
          </a:p>
        </p:txBody>
      </p:sp>
      <p:sp>
        <p:nvSpPr>
          <p:cNvPr id="10" name="TextBox 9"/>
          <p:cNvSpPr txBox="1"/>
          <p:nvPr/>
        </p:nvSpPr>
        <p:spPr>
          <a:xfrm>
            <a:off x="5486400" y="6565392"/>
            <a:ext cx="3474720" cy="201168"/>
          </a:xfrm>
          <a:prstGeom prst="rect">
            <a:avLst/>
          </a:prstGeom>
          <a:noFill/>
        </p:spPr>
        <p:txBody>
          <a:bodyPr wrap="square" lIns="0" rIns="0" tIns="0" bIns="0">
            <a:spAutoFit/>
          </a:bodyPr>
          <a:lstStyle/>
          <a:p>
            <a:pPr algn="r"/>
            <a:r>
              <a:rPr sz="900" b="0" i="1">
                <a:solidFill>
                  <a:srgbClr val="555555"/>
                </a:solidFill>
                <a:latin typeface="Ubuntu"/>
              </a:rPr>
              <a:t>Sesión 19 · Aprendizaje no supervisado  -  24</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
            <a:ext cx="8595360" cy="658368"/>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274320"/>
            <a:ext cx="8321040" cy="658368"/>
          </a:xfrm>
          <a:prstGeom prst="rect">
            <a:avLst/>
          </a:prstGeom>
          <a:noFill/>
        </p:spPr>
        <p:txBody>
          <a:bodyPr wrap="square" lIns="0" rIns="0" tIns="0" bIns="0" anchor="ctr">
            <a:spAutoFit/>
          </a:bodyPr>
          <a:lstStyle/>
          <a:p>
            <a:pPr algn="l"/>
            <a:r>
              <a:rPr sz="2200" b="1" i="0">
                <a:solidFill>
                  <a:srgbClr val="FFFFFF"/>
                </a:solidFill>
                <a:latin typeface="Ubuntu"/>
              </a:rPr>
              <a:t>Perfilar: dar significado a los grupos</a:t>
            </a:r>
          </a:p>
        </p:txBody>
      </p:sp>
      <p:pic>
        <p:nvPicPr>
          <p:cNvPr id="5" name="Picture 4" descr="14_perfiles_apostadores.png"/>
          <p:cNvPicPr>
            <a:picLocks noChangeAspect="1"/>
          </p:cNvPicPr>
          <p:nvPr/>
        </p:nvPicPr>
        <p:blipFill>
          <a:blip r:embed="rId2"/>
          <a:stretch>
            <a:fillRect/>
          </a:stretch>
        </p:blipFill>
        <p:spPr>
          <a:xfrm>
            <a:off x="1113685" y="1234440"/>
            <a:ext cx="6916629" cy="4023360"/>
          </a:xfrm>
          <a:prstGeom prst="rect">
            <a:avLst/>
          </a:prstGeom>
        </p:spPr>
      </p:pic>
      <p:sp>
        <p:nvSpPr>
          <p:cNvPr id="6" name="TextBox 5"/>
          <p:cNvSpPr txBox="1"/>
          <p:nvPr/>
        </p:nvSpPr>
        <p:spPr>
          <a:xfrm>
            <a:off x="457200" y="5303520"/>
            <a:ext cx="8229600" cy="365760"/>
          </a:xfrm>
          <a:prstGeom prst="rect">
            <a:avLst/>
          </a:prstGeom>
          <a:noFill/>
        </p:spPr>
        <p:txBody>
          <a:bodyPr wrap="square" lIns="0" rIns="0" tIns="0" bIns="0">
            <a:spAutoFit/>
          </a:bodyPr>
          <a:lstStyle/>
          <a:p>
            <a:pPr algn="ctr"/>
            <a:r>
              <a:rPr sz="1300" b="0" i="1">
                <a:solidFill>
                  <a:srgbClr val="555555"/>
                </a:solidFill>
                <a:latin typeface="Ubuntu"/>
              </a:rPr>
              <a:t>Promedio de variables clave por grupo de apostadores (datos del ejercicio 1).</a:t>
            </a:r>
          </a:p>
        </p:txBody>
      </p:sp>
      <p:sp>
        <p:nvSpPr>
          <p:cNvPr id="7" name="Rectangle 6"/>
          <p:cNvSpPr/>
          <p:nvPr/>
        </p:nvSpPr>
        <p:spPr>
          <a:xfrm>
            <a:off x="274320" y="5486400"/>
            <a:ext cx="8595360" cy="868680"/>
          </a:xfrm>
          <a:prstGeom prst="rect">
            <a:avLst/>
          </a:prstGeom>
          <a:solidFill>
            <a:srgbClr val="F0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0624" y="5577840"/>
            <a:ext cx="8302752" cy="685800"/>
          </a:xfrm>
          <a:prstGeom prst="rect">
            <a:avLst/>
          </a:prstGeom>
          <a:noFill/>
        </p:spPr>
        <p:txBody>
          <a:bodyPr wrap="square" lIns="0" rIns="0" tIns="0" bIns="0">
            <a:spAutoFit/>
          </a:bodyPr>
          <a:lstStyle/>
          <a:p>
            <a:pPr algn="l">
              <a:lnSpc>
                <a:spcPct val="125000"/>
              </a:lnSpc>
            </a:pPr>
            <a:r>
              <a:rPr sz="1400" b="0" i="0">
                <a:solidFill>
                  <a:srgbClr val="000000"/>
                </a:solidFill>
                <a:latin typeface="Ubuntu"/>
              </a:rPr>
              <a:t>El algoritmo da grupos SIN nombre. Los nombramos comparando sus promedios: 'recreativo', 'en riesgo', 'gran apostador'… El perfilado es el paso que convierte números en decisiones.</a:t>
            </a:r>
          </a:p>
        </p:txBody>
      </p:sp>
      <p:sp>
        <p:nvSpPr>
          <p:cNvPr id="9" name="TextBox 8"/>
          <p:cNvSpPr txBox="1"/>
          <p:nvPr/>
        </p:nvSpPr>
        <p:spPr>
          <a:xfrm>
            <a:off x="5486400" y="6565392"/>
            <a:ext cx="3474720" cy="201168"/>
          </a:xfrm>
          <a:prstGeom prst="rect">
            <a:avLst/>
          </a:prstGeom>
          <a:noFill/>
        </p:spPr>
        <p:txBody>
          <a:bodyPr wrap="square" lIns="0" rIns="0" tIns="0" bIns="0">
            <a:spAutoFit/>
          </a:bodyPr>
          <a:lstStyle/>
          <a:p>
            <a:pPr algn="r"/>
            <a:r>
              <a:rPr sz="900" b="0" i="1">
                <a:solidFill>
                  <a:srgbClr val="555555"/>
                </a:solidFill>
                <a:latin typeface="Ubuntu"/>
              </a:rPr>
              <a:t>Sesión 19 · Aprendizaje no supervisado  -  25</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
            <a:ext cx="8595360" cy="658368"/>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274320"/>
            <a:ext cx="8321040" cy="658368"/>
          </a:xfrm>
          <a:prstGeom prst="rect">
            <a:avLst/>
          </a:prstGeom>
          <a:noFill/>
        </p:spPr>
        <p:txBody>
          <a:bodyPr wrap="square" lIns="0" rIns="0" tIns="0" bIns="0" anchor="ctr">
            <a:spAutoFit/>
          </a:bodyPr>
          <a:lstStyle/>
          <a:p>
            <a:pPr algn="l"/>
            <a:r>
              <a:rPr sz="2200" b="1" i="0">
                <a:solidFill>
                  <a:srgbClr val="FFFFFF"/>
                </a:solidFill>
                <a:latin typeface="Ubuntu"/>
              </a:rPr>
              <a:t>Ejemplo completo: tipologías de municipios</a:t>
            </a:r>
          </a:p>
        </p:txBody>
      </p:sp>
      <p:pic>
        <p:nvPicPr>
          <p:cNvPr id="5" name="Picture 4" descr="13_biplot_municipios.png"/>
          <p:cNvPicPr>
            <a:picLocks noChangeAspect="1"/>
          </p:cNvPicPr>
          <p:nvPr/>
        </p:nvPicPr>
        <p:blipFill>
          <a:blip r:embed="rId2"/>
          <a:stretch>
            <a:fillRect/>
          </a:stretch>
        </p:blipFill>
        <p:spPr>
          <a:xfrm>
            <a:off x="1565734" y="1234440"/>
            <a:ext cx="6012532" cy="4023360"/>
          </a:xfrm>
          <a:prstGeom prst="rect">
            <a:avLst/>
          </a:prstGeom>
        </p:spPr>
      </p:pic>
      <p:sp>
        <p:nvSpPr>
          <p:cNvPr id="6" name="TextBox 5"/>
          <p:cNvSpPr txBox="1"/>
          <p:nvPr/>
        </p:nvSpPr>
        <p:spPr>
          <a:xfrm>
            <a:off x="457200" y="5303520"/>
            <a:ext cx="8229600" cy="365760"/>
          </a:xfrm>
          <a:prstGeom prst="rect">
            <a:avLst/>
          </a:prstGeom>
          <a:noFill/>
        </p:spPr>
        <p:txBody>
          <a:bodyPr wrap="square" lIns="0" rIns="0" tIns="0" bIns="0">
            <a:spAutoFit/>
          </a:bodyPr>
          <a:lstStyle/>
          <a:p>
            <a:pPr algn="ctr"/>
            <a:r>
              <a:rPr sz="1300" b="0" i="1">
                <a:solidFill>
                  <a:srgbClr val="555555"/>
                </a:solidFill>
                <a:latin typeface="Ubuntu"/>
              </a:rPr>
              <a:t>400 municipios resumidos con PCA y agrupados en 4 tipologías con k-means.</a:t>
            </a:r>
          </a:p>
        </p:txBody>
      </p:sp>
      <p:sp>
        <p:nvSpPr>
          <p:cNvPr id="7" name="Rectangle 6"/>
          <p:cNvSpPr/>
          <p:nvPr/>
        </p:nvSpPr>
        <p:spPr>
          <a:xfrm>
            <a:off x="274320" y="5486400"/>
            <a:ext cx="8595360" cy="868680"/>
          </a:xfrm>
          <a:prstGeom prst="rect">
            <a:avLst/>
          </a:prstGeom>
          <a:solidFill>
            <a:srgbClr val="F0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0624" y="5577840"/>
            <a:ext cx="8302752" cy="685800"/>
          </a:xfrm>
          <a:prstGeom prst="rect">
            <a:avLst/>
          </a:prstGeom>
          <a:noFill/>
        </p:spPr>
        <p:txBody>
          <a:bodyPr wrap="square" lIns="0" rIns="0" tIns="0" bIns="0">
            <a:spAutoFit/>
          </a:bodyPr>
          <a:lstStyle/>
          <a:p>
            <a:pPr algn="l">
              <a:lnSpc>
                <a:spcPct val="125000"/>
              </a:lnSpc>
            </a:pPr>
            <a:r>
              <a:rPr sz="1400" b="0" i="0">
                <a:solidFill>
                  <a:srgbClr val="000000"/>
                </a:solidFill>
                <a:latin typeface="Ubuntu"/>
              </a:rPr>
              <a:t>Aquí PCA + clustering revelan 4 tipologías claras (desarrollo × estructura económica). Cada una pide una política distinta: la segmentación guía la intervención.</a:t>
            </a:r>
          </a:p>
        </p:txBody>
      </p:sp>
      <p:sp>
        <p:nvSpPr>
          <p:cNvPr id="9" name="TextBox 8"/>
          <p:cNvSpPr txBox="1"/>
          <p:nvPr/>
        </p:nvSpPr>
        <p:spPr>
          <a:xfrm>
            <a:off x="5486400" y="6565392"/>
            <a:ext cx="3474720" cy="201168"/>
          </a:xfrm>
          <a:prstGeom prst="rect">
            <a:avLst/>
          </a:prstGeom>
          <a:noFill/>
        </p:spPr>
        <p:txBody>
          <a:bodyPr wrap="square" lIns="0" rIns="0" tIns="0" bIns="0">
            <a:spAutoFit/>
          </a:bodyPr>
          <a:lstStyle/>
          <a:p>
            <a:pPr algn="r"/>
            <a:r>
              <a:rPr sz="900" b="0" i="1">
                <a:solidFill>
                  <a:srgbClr val="555555"/>
                </a:solidFill>
                <a:latin typeface="Ubuntu"/>
              </a:rPr>
              <a:t>Sesión 19 · Aprendizaje no supervisado  -  26</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2926080" cy="2743200"/>
          </a:xfrm>
          <a:prstGeom prst="rect">
            <a:avLst/>
          </a:prstGeom>
          <a:noFill/>
        </p:spPr>
        <p:txBody>
          <a:bodyPr wrap="square" lIns="0" rIns="0" tIns="0" bIns="0">
            <a:spAutoFit/>
          </a:bodyPr>
          <a:lstStyle/>
          <a:p>
            <a:pPr algn="l"/>
            <a:r>
              <a:rPr sz="16000" b="1" i="0">
                <a:solidFill>
                  <a:srgbClr val="336395"/>
                </a:solidFill>
                <a:latin typeface="Ubuntu"/>
              </a:rPr>
              <a:t>4</a:t>
            </a:r>
          </a:p>
        </p:txBody>
      </p:sp>
      <p:sp>
        <p:nvSpPr>
          <p:cNvPr id="4" name="Rectangle 3"/>
          <p:cNvSpPr/>
          <p:nvPr/>
        </p:nvSpPr>
        <p:spPr>
          <a:xfrm>
            <a:off x="3383280" y="2194560"/>
            <a:ext cx="73152" cy="20116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0" y="2286000"/>
            <a:ext cx="5120640" cy="1645920"/>
          </a:xfrm>
          <a:prstGeom prst="rect">
            <a:avLst/>
          </a:prstGeom>
          <a:noFill/>
        </p:spPr>
        <p:txBody>
          <a:bodyPr wrap="square" lIns="0" rIns="0" tIns="0" bIns="0" anchor="ctr">
            <a:spAutoFit/>
          </a:bodyPr>
          <a:lstStyle/>
          <a:p>
            <a:pPr algn="l">
              <a:lnSpc>
                <a:spcPct val="105000"/>
              </a:lnSpc>
            </a:pPr>
            <a:r>
              <a:rPr sz="3400" b="1" i="0">
                <a:solidFill>
                  <a:srgbClr val="FFFFFF"/>
                </a:solidFill>
                <a:latin typeface="Ubuntu"/>
              </a:rPr>
              <a:t>En conjunto</a:t>
            </a:r>
          </a:p>
        </p:txBody>
      </p:sp>
      <p:sp>
        <p:nvSpPr>
          <p:cNvPr id="6" name="TextBox 5"/>
          <p:cNvSpPr txBox="1"/>
          <p:nvPr/>
        </p:nvSpPr>
        <p:spPr>
          <a:xfrm>
            <a:off x="3657600" y="4069080"/>
            <a:ext cx="5120640" cy="822960"/>
          </a:xfrm>
          <a:prstGeom prst="rect">
            <a:avLst/>
          </a:prstGeom>
          <a:noFill/>
        </p:spPr>
        <p:txBody>
          <a:bodyPr wrap="square" lIns="0" rIns="0" tIns="0" bIns="0">
            <a:spAutoFit/>
          </a:bodyPr>
          <a:lstStyle/>
          <a:p>
            <a:pPr algn="l">
              <a:lnSpc>
                <a:spcPct val="120000"/>
              </a:lnSpc>
            </a:pPr>
            <a:r>
              <a:rPr sz="1500" b="0" i="1">
                <a:solidFill>
                  <a:srgbClr val="C7D7E6"/>
                </a:solidFill>
                <a:latin typeface="Ubuntu"/>
              </a:rPr>
              <a:t>El flujo completo y los errores que evitar</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
            <a:ext cx="8595360" cy="658368"/>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274320"/>
            <a:ext cx="8321040" cy="658368"/>
          </a:xfrm>
          <a:prstGeom prst="rect">
            <a:avLst/>
          </a:prstGeom>
          <a:noFill/>
        </p:spPr>
        <p:txBody>
          <a:bodyPr wrap="square" lIns="0" rIns="0" tIns="0" bIns="0" anchor="ctr">
            <a:spAutoFit/>
          </a:bodyPr>
          <a:lstStyle/>
          <a:p>
            <a:pPr algn="l"/>
            <a:r>
              <a:rPr sz="2200" b="1" i="0">
                <a:solidFill>
                  <a:srgbClr val="FFFFFF"/>
                </a:solidFill>
                <a:latin typeface="Ubuntu"/>
              </a:rPr>
              <a:t>El flujo de trabajo, de principio a fin</a:t>
            </a:r>
          </a:p>
        </p:txBody>
      </p:sp>
      <p:pic>
        <p:nvPicPr>
          <p:cNvPr id="5" name="Picture 4" descr="15_flujo_completo.png"/>
          <p:cNvPicPr>
            <a:picLocks noChangeAspect="1"/>
          </p:cNvPicPr>
          <p:nvPr/>
        </p:nvPicPr>
        <p:blipFill>
          <a:blip r:embed="rId2"/>
          <a:stretch>
            <a:fillRect/>
          </a:stretch>
        </p:blipFill>
        <p:spPr>
          <a:xfrm>
            <a:off x="457200" y="1683699"/>
            <a:ext cx="8229600" cy="3124841"/>
          </a:xfrm>
          <a:prstGeom prst="rect">
            <a:avLst/>
          </a:prstGeom>
        </p:spPr>
      </p:pic>
      <p:sp>
        <p:nvSpPr>
          <p:cNvPr id="6" name="TextBox 5"/>
          <p:cNvSpPr txBox="1"/>
          <p:nvPr/>
        </p:nvSpPr>
        <p:spPr>
          <a:xfrm>
            <a:off x="457200" y="5303520"/>
            <a:ext cx="8229600" cy="365760"/>
          </a:xfrm>
          <a:prstGeom prst="rect">
            <a:avLst/>
          </a:prstGeom>
          <a:noFill/>
        </p:spPr>
        <p:txBody>
          <a:bodyPr wrap="square" lIns="0" rIns="0" tIns="0" bIns="0">
            <a:spAutoFit/>
          </a:bodyPr>
          <a:lstStyle/>
          <a:p>
            <a:pPr algn="ctr"/>
            <a:r>
              <a:rPr sz="1300" b="0" i="1">
                <a:solidFill>
                  <a:srgbClr val="555555"/>
                </a:solidFill>
                <a:latin typeface="Ubuntu"/>
              </a:rPr>
              <a:t>Estandarizar → (PCA para ver) → clustering → perfilar y nombrar.</a:t>
            </a:r>
          </a:p>
        </p:txBody>
      </p:sp>
      <p:sp>
        <p:nvSpPr>
          <p:cNvPr id="7" name="Rectangle 6"/>
          <p:cNvSpPr/>
          <p:nvPr/>
        </p:nvSpPr>
        <p:spPr>
          <a:xfrm>
            <a:off x="274320" y="5486400"/>
            <a:ext cx="8595360" cy="868680"/>
          </a:xfrm>
          <a:prstGeom prst="rect">
            <a:avLst/>
          </a:prstGeom>
          <a:solidFill>
            <a:srgbClr val="F0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0624" y="5577840"/>
            <a:ext cx="8302752" cy="685800"/>
          </a:xfrm>
          <a:prstGeom prst="rect">
            <a:avLst/>
          </a:prstGeom>
          <a:noFill/>
        </p:spPr>
        <p:txBody>
          <a:bodyPr wrap="square" lIns="0" rIns="0" tIns="0" bIns="0">
            <a:spAutoFit/>
          </a:bodyPr>
          <a:lstStyle/>
          <a:p>
            <a:pPr algn="l">
              <a:lnSpc>
                <a:spcPct val="125000"/>
              </a:lnSpc>
            </a:pPr>
            <a:r>
              <a:rPr sz="1400" b="0" i="0">
                <a:solidFill>
                  <a:srgbClr val="000000"/>
                </a:solidFill>
                <a:latin typeface="Ubuntu"/>
              </a:rPr>
              <a:t>PCA y clustering se complementan: PCA nos deja VER y quitar redundancia; el clustering AGRUPA. Juntos producen perfiles con significado.</a:t>
            </a:r>
          </a:p>
        </p:txBody>
      </p:sp>
      <p:sp>
        <p:nvSpPr>
          <p:cNvPr id="9" name="TextBox 8"/>
          <p:cNvSpPr txBox="1"/>
          <p:nvPr/>
        </p:nvSpPr>
        <p:spPr>
          <a:xfrm>
            <a:off x="5486400" y="6565392"/>
            <a:ext cx="3474720" cy="201168"/>
          </a:xfrm>
          <a:prstGeom prst="rect">
            <a:avLst/>
          </a:prstGeom>
          <a:noFill/>
        </p:spPr>
        <p:txBody>
          <a:bodyPr wrap="square" lIns="0" rIns="0" tIns="0" bIns="0">
            <a:spAutoFit/>
          </a:bodyPr>
          <a:lstStyle/>
          <a:p>
            <a:pPr algn="r"/>
            <a:r>
              <a:rPr sz="900" b="0" i="1">
                <a:solidFill>
                  <a:srgbClr val="555555"/>
                </a:solidFill>
                <a:latin typeface="Ubuntu"/>
              </a:rPr>
              <a:t>Sesión 19 · Aprendizaje no supervisado  -  27</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
            <a:ext cx="8595360" cy="658368"/>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274320"/>
            <a:ext cx="8321040" cy="658368"/>
          </a:xfrm>
          <a:prstGeom prst="rect">
            <a:avLst/>
          </a:prstGeom>
          <a:noFill/>
        </p:spPr>
        <p:txBody>
          <a:bodyPr wrap="square" lIns="0" rIns="0" tIns="0" bIns="0" anchor="ctr">
            <a:spAutoFit/>
          </a:bodyPr>
          <a:lstStyle/>
          <a:p>
            <a:pPr algn="l"/>
            <a:r>
              <a:rPr sz="2200" b="1" i="0">
                <a:solidFill>
                  <a:srgbClr val="FFFFFF"/>
                </a:solidFill>
                <a:latin typeface="Ubuntu"/>
              </a:rPr>
              <a:t>Errores comunes (¡cuidado!)</a:t>
            </a:r>
          </a:p>
        </p:txBody>
      </p:sp>
      <p:sp>
        <p:nvSpPr>
          <p:cNvPr id="5" name="Rectangle 4"/>
          <p:cNvSpPr/>
          <p:nvPr/>
        </p:nvSpPr>
        <p:spPr>
          <a:xfrm>
            <a:off x="274320" y="1371600"/>
            <a:ext cx="8595360" cy="4297680"/>
          </a:xfrm>
          <a:prstGeom prst="rect">
            <a:avLst/>
          </a:prstGeom>
          <a:solidFill>
            <a:srgbClr val="FADB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20624" y="1463040"/>
            <a:ext cx="8302752" cy="365760"/>
          </a:xfrm>
          <a:prstGeom prst="rect">
            <a:avLst/>
          </a:prstGeom>
          <a:noFill/>
        </p:spPr>
        <p:txBody>
          <a:bodyPr wrap="square" lIns="0" rIns="0" tIns="0" bIns="0">
            <a:spAutoFit/>
          </a:bodyPr>
          <a:lstStyle/>
          <a:p>
            <a:pPr algn="l"/>
            <a:r>
              <a:rPr sz="1800" b="1" i="0">
                <a:solidFill>
                  <a:srgbClr val="C0392B"/>
                </a:solidFill>
                <a:latin typeface="Ubuntu"/>
              </a:rPr>
              <a:t>Errores comunes</a:t>
            </a:r>
          </a:p>
        </p:txBody>
      </p:sp>
      <p:sp>
        <p:nvSpPr>
          <p:cNvPr id="7" name="TextBox 6"/>
          <p:cNvSpPr txBox="1"/>
          <p:nvPr/>
        </p:nvSpPr>
        <p:spPr>
          <a:xfrm>
            <a:off x="420624" y="1847088"/>
            <a:ext cx="8302752" cy="3730752"/>
          </a:xfrm>
          <a:prstGeom prst="rect">
            <a:avLst/>
          </a:prstGeom>
          <a:noFill/>
        </p:spPr>
        <p:txBody>
          <a:bodyPr wrap="square" lIns="0" rIns="0" tIns="0" bIns="0">
            <a:spAutoFit/>
          </a:bodyPr>
          <a:lstStyle/>
          <a:p>
            <a:pPr algn="l">
              <a:lnSpc>
                <a:spcPct val="150000"/>
              </a:lnSpc>
            </a:pPr>
            <a:r>
              <a:rPr sz="1700" b="0" i="0">
                <a:solidFill>
                  <a:srgbClr val="000000"/>
                </a:solidFill>
                <a:latin typeface="Ubuntu"/>
              </a:rPr>
              <a:t>• NO estandarizar: la variable de números grandes domina y los grupos reflejan solo las unidades.</a:t>
            </a:r>
          </a:p>
          <a:p>
            <a:pPr algn="l">
              <a:lnSpc>
                <a:spcPct val="150000"/>
              </a:lnSpc>
            </a:pPr>
            <a:r>
              <a:rPr sz="1700" b="0" i="0">
                <a:solidFill>
                  <a:srgbClr val="000000"/>
                </a:solidFill>
                <a:latin typeface="Ubuntu"/>
              </a:rPr>
              <a:t/>
            </a:r>
          </a:p>
          <a:p>
            <a:pPr algn="l">
              <a:lnSpc>
                <a:spcPct val="150000"/>
              </a:lnSpc>
            </a:pPr>
            <a:r>
              <a:rPr sz="1700" b="0" i="0">
                <a:solidFill>
                  <a:srgbClr val="000000"/>
                </a:solidFill>
                <a:latin typeface="Ubuntu"/>
              </a:rPr>
              <a:t>• Creer que hay UNA respuesta correcta: sin etiquetas, no hay 'acierto'. Distintos métodos o K dan distintos grupos.</a:t>
            </a:r>
          </a:p>
          <a:p>
            <a:pPr algn="l">
              <a:lnSpc>
                <a:spcPct val="150000"/>
              </a:lnSpc>
            </a:pPr>
            <a:r>
              <a:rPr sz="1700" b="0" i="0">
                <a:solidFill>
                  <a:srgbClr val="000000"/>
                </a:solidFill>
                <a:latin typeface="Ubuntu"/>
              </a:rPr>
              <a:t/>
            </a:r>
          </a:p>
          <a:p>
            <a:pPr algn="l">
              <a:lnSpc>
                <a:spcPct val="150000"/>
              </a:lnSpc>
            </a:pPr>
            <a:r>
              <a:rPr sz="1700" b="0" i="0">
                <a:solidFill>
                  <a:srgbClr val="000000"/>
                </a:solidFill>
                <a:latin typeface="Ubuntu"/>
              </a:rPr>
              <a:t>• Forzar grupos donde no los hay: el algoritmo SIEMPRE devuelve grupos, aunque los datos no tengan estructura real.</a:t>
            </a:r>
          </a:p>
          <a:p>
            <a:pPr algn="l">
              <a:lnSpc>
                <a:spcPct val="150000"/>
              </a:lnSpc>
            </a:pPr>
            <a:r>
              <a:rPr sz="1700" b="0" i="0">
                <a:solidFill>
                  <a:srgbClr val="000000"/>
                </a:solidFill>
                <a:latin typeface="Ubuntu"/>
              </a:rPr>
              <a:t/>
            </a:r>
          </a:p>
          <a:p>
            <a:pPr algn="l">
              <a:lnSpc>
                <a:spcPct val="150000"/>
              </a:lnSpc>
            </a:pPr>
            <a:r>
              <a:rPr sz="1700" b="0" i="0">
                <a:solidFill>
                  <a:srgbClr val="000000"/>
                </a:solidFill>
                <a:latin typeface="Ubuntu"/>
              </a:rPr>
              <a:t>• No interpretar: un cluster sin nombre ni perfil no sirve para decidir.</a:t>
            </a:r>
          </a:p>
        </p:txBody>
      </p:sp>
      <p:sp>
        <p:nvSpPr>
          <p:cNvPr id="8" name="TextBox 7"/>
          <p:cNvSpPr txBox="1"/>
          <p:nvPr/>
        </p:nvSpPr>
        <p:spPr>
          <a:xfrm>
            <a:off x="5486400" y="6565392"/>
            <a:ext cx="3474720" cy="201168"/>
          </a:xfrm>
          <a:prstGeom prst="rect">
            <a:avLst/>
          </a:prstGeom>
          <a:noFill/>
        </p:spPr>
        <p:txBody>
          <a:bodyPr wrap="square" lIns="0" rIns="0" tIns="0" bIns="0">
            <a:spAutoFit/>
          </a:bodyPr>
          <a:lstStyle/>
          <a:p>
            <a:pPr algn="r"/>
            <a:r>
              <a:rPr sz="900" b="0" i="1">
                <a:solidFill>
                  <a:srgbClr val="555555"/>
                </a:solidFill>
                <a:latin typeface="Ubuntu"/>
              </a:rPr>
              <a:t>Sesión 19 · Aprendizaje no supervisado  -  28</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
            <a:ext cx="8595360" cy="658368"/>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274320"/>
            <a:ext cx="8321040" cy="658368"/>
          </a:xfrm>
          <a:prstGeom prst="rect">
            <a:avLst/>
          </a:prstGeom>
          <a:noFill/>
        </p:spPr>
        <p:txBody>
          <a:bodyPr wrap="square" lIns="0" rIns="0" tIns="0" bIns="0" anchor="ctr">
            <a:spAutoFit/>
          </a:bodyPr>
          <a:lstStyle/>
          <a:p>
            <a:pPr algn="l"/>
            <a:r>
              <a:rPr sz="2200" b="1" i="0">
                <a:solidFill>
                  <a:srgbClr val="FFFFFF"/>
                </a:solidFill>
                <a:latin typeface="Ubuntu"/>
              </a:rPr>
              <a:t>PCA vs Clustering: en resumen</a:t>
            </a:r>
          </a:p>
        </p:txBody>
      </p:sp>
      <p:sp>
        <p:nvSpPr>
          <p:cNvPr id="5" name="TextBox 4"/>
          <p:cNvSpPr txBox="1"/>
          <p:nvPr/>
        </p:nvSpPr>
        <p:spPr>
          <a:xfrm>
            <a:off x="365760" y="1097280"/>
            <a:ext cx="8412480" cy="548640"/>
          </a:xfrm>
          <a:prstGeom prst="rect">
            <a:avLst/>
          </a:prstGeom>
          <a:noFill/>
        </p:spPr>
        <p:txBody>
          <a:bodyPr wrap="square" lIns="0" rIns="0" tIns="0" bIns="0">
            <a:spAutoFit/>
          </a:bodyPr>
          <a:lstStyle/>
          <a:p>
            <a:pPr algn="l">
              <a:lnSpc>
                <a:spcPct val="120000"/>
              </a:lnSpc>
            </a:pPr>
            <a:r>
              <a:rPr sz="1400" b="0" i="1">
                <a:solidFill>
                  <a:srgbClr val="1E4C7D"/>
                </a:solidFill>
                <a:latin typeface="Ubuntu"/>
              </a:rPr>
              <a:t>Son técnicas distintas y complementarias, no rivales.</a:t>
            </a:r>
          </a:p>
        </p:txBody>
      </p:sp>
      <p:graphicFrame>
        <p:nvGraphicFramePr>
          <p:cNvPr id="6" name="Table 5"/>
          <p:cNvGraphicFramePr>
            <a:graphicFrameLocks noGrp="1"/>
          </p:cNvGraphicFramePr>
          <p:nvPr/>
        </p:nvGraphicFramePr>
        <p:xfrm>
          <a:off x="274320" y="1828800"/>
          <a:ext cx="8595360" cy="3200400"/>
        </p:xfrm>
        <a:graphic>
          <a:graphicData uri="http://schemas.openxmlformats.org/drawingml/2006/table">
            <a:tbl>
              <a:tblPr firstRow="1" bandRow="1">
                <a:tableStyleId>{5C22544A-7EE6-4342-B048-85BDC9FD1C3A}</a:tableStyleId>
              </a:tblPr>
              <a:tblGrid>
                <a:gridCol w="2103120"/>
                <a:gridCol w="3246120"/>
                <a:gridCol w="3246120"/>
              </a:tblGrid>
              <a:tr h="533400">
                <a:tc>
                  <a:txBody>
                    <a:bodyPr wrap="square"/>
                    <a:lstStyle/>
                    <a:p>
                      <a:pPr algn="l"/>
                      <a:r>
                        <a:rPr sz="1300" b="1">
                          <a:solidFill>
                            <a:srgbClr val="FFFFFF"/>
                          </a:solidFill>
                          <a:latin typeface="Ubuntu"/>
                        </a:rPr>
                        <a:t/>
                      </a:r>
                    </a:p>
                  </a:txBody>
                  <a:tcPr anchor="ctr" marL="73152" marR="73152" marT="18288" marB="18288">
                    <a:solidFill>
                      <a:srgbClr val="1E4C7D"/>
                    </a:solidFill>
                  </a:tcPr>
                </a:tc>
                <a:tc>
                  <a:txBody>
                    <a:bodyPr wrap="square"/>
                    <a:lstStyle/>
                    <a:p>
                      <a:pPr algn="l"/>
                      <a:r>
                        <a:rPr sz="1300" b="1">
                          <a:solidFill>
                            <a:srgbClr val="FFFFFF"/>
                          </a:solidFill>
                          <a:latin typeface="Ubuntu"/>
                        </a:rPr>
                        <a:t>PCA</a:t>
                      </a:r>
                    </a:p>
                  </a:txBody>
                  <a:tcPr anchor="ctr" marL="73152" marR="73152" marT="18288" marB="18288">
                    <a:solidFill>
                      <a:srgbClr val="1E4C7D"/>
                    </a:solidFill>
                  </a:tcPr>
                </a:tc>
                <a:tc>
                  <a:txBody>
                    <a:bodyPr wrap="square"/>
                    <a:lstStyle/>
                    <a:p>
                      <a:pPr algn="l"/>
                      <a:r>
                        <a:rPr sz="1300" b="1">
                          <a:solidFill>
                            <a:srgbClr val="FFFFFF"/>
                          </a:solidFill>
                          <a:latin typeface="Ubuntu"/>
                        </a:rPr>
                        <a:t>Clustering</a:t>
                      </a:r>
                    </a:p>
                  </a:txBody>
                  <a:tcPr anchor="ctr" marL="73152" marR="73152" marT="18288" marB="18288">
                    <a:solidFill>
                      <a:srgbClr val="1E4C7D"/>
                    </a:solidFill>
                  </a:tcPr>
                </a:tc>
              </a:tr>
              <a:tr h="533400">
                <a:tc>
                  <a:txBody>
                    <a:bodyPr wrap="square"/>
                    <a:lstStyle/>
                    <a:p>
                      <a:pPr algn="l"/>
                      <a:r>
                        <a:rPr sz="1200" b="0">
                          <a:solidFill>
                            <a:srgbClr val="000000"/>
                          </a:solidFill>
                          <a:latin typeface="Ubuntu"/>
                        </a:rPr>
                        <a:t>¿Qué hace?</a:t>
                      </a:r>
                    </a:p>
                  </a:txBody>
                  <a:tcPr anchor="ctr" marL="73152" marR="73152" marT="18288" marB="18288">
                    <a:solidFill>
                      <a:srgbClr val="EAF2FA"/>
                    </a:solidFill>
                  </a:tcPr>
                </a:tc>
                <a:tc>
                  <a:txBody>
                    <a:bodyPr wrap="square"/>
                    <a:lstStyle/>
                    <a:p>
                      <a:pPr algn="l"/>
                      <a:r>
                        <a:rPr sz="1200" b="0">
                          <a:solidFill>
                            <a:srgbClr val="000000"/>
                          </a:solidFill>
                          <a:latin typeface="Ubuntu"/>
                        </a:rPr>
                        <a:t>Resume variables en componentes</a:t>
                      </a:r>
                    </a:p>
                  </a:txBody>
                  <a:tcPr anchor="ctr" marL="73152" marR="73152" marT="18288" marB="18288">
                    <a:solidFill>
                      <a:srgbClr val="EAF2FA"/>
                    </a:solidFill>
                  </a:tcPr>
                </a:tc>
                <a:tc>
                  <a:txBody>
                    <a:bodyPr wrap="square"/>
                    <a:lstStyle/>
                    <a:p>
                      <a:pPr algn="l"/>
                      <a:r>
                        <a:rPr sz="1200" b="0">
                          <a:solidFill>
                            <a:srgbClr val="000000"/>
                          </a:solidFill>
                          <a:latin typeface="Ubuntu"/>
                        </a:rPr>
                        <a:t>Agrupa observaciones</a:t>
                      </a:r>
                    </a:p>
                  </a:txBody>
                  <a:tcPr anchor="ctr" marL="73152" marR="73152" marT="18288" marB="18288">
                    <a:solidFill>
                      <a:srgbClr val="EAF2FA"/>
                    </a:solidFill>
                  </a:tcPr>
                </a:tc>
              </a:tr>
              <a:tr h="533400">
                <a:tc>
                  <a:txBody>
                    <a:bodyPr wrap="square"/>
                    <a:lstStyle/>
                    <a:p>
                      <a:pPr algn="l"/>
                      <a:r>
                        <a:rPr sz="1200" b="0">
                          <a:solidFill>
                            <a:srgbClr val="000000"/>
                          </a:solidFill>
                          <a:latin typeface="Ubuntu"/>
                        </a:rPr>
                        <a:t>¿Sobre qué actúa?</a:t>
                      </a:r>
                    </a:p>
                  </a:txBody>
                  <a:tcPr anchor="ctr" marL="73152" marR="73152" marT="18288" marB="18288">
                    <a:solidFill>
                      <a:srgbClr val="FFFFFF"/>
                    </a:solidFill>
                  </a:tcPr>
                </a:tc>
                <a:tc>
                  <a:txBody>
                    <a:bodyPr wrap="square"/>
                    <a:lstStyle/>
                    <a:p>
                      <a:pPr algn="l"/>
                      <a:r>
                        <a:rPr sz="1200" b="0">
                          <a:solidFill>
                            <a:srgbClr val="000000"/>
                          </a:solidFill>
                          <a:latin typeface="Ubuntu"/>
                        </a:rPr>
                        <a:t>Las columnas (variables)</a:t>
                      </a:r>
                    </a:p>
                  </a:txBody>
                  <a:tcPr anchor="ctr" marL="73152" marR="73152" marT="18288" marB="18288">
                    <a:solidFill>
                      <a:srgbClr val="FFFFFF"/>
                    </a:solidFill>
                  </a:tcPr>
                </a:tc>
                <a:tc>
                  <a:txBody>
                    <a:bodyPr wrap="square"/>
                    <a:lstStyle/>
                    <a:p>
                      <a:pPr algn="l"/>
                      <a:r>
                        <a:rPr sz="1200" b="0">
                          <a:solidFill>
                            <a:srgbClr val="000000"/>
                          </a:solidFill>
                          <a:latin typeface="Ubuntu"/>
                        </a:rPr>
                        <a:t>Las filas (observaciones)</a:t>
                      </a:r>
                    </a:p>
                  </a:txBody>
                  <a:tcPr anchor="ctr" marL="73152" marR="73152" marT="18288" marB="18288">
                    <a:solidFill>
                      <a:srgbClr val="FFFFFF"/>
                    </a:solidFill>
                  </a:tcPr>
                </a:tc>
              </a:tr>
              <a:tr h="533400">
                <a:tc>
                  <a:txBody>
                    <a:bodyPr wrap="square"/>
                    <a:lstStyle/>
                    <a:p>
                      <a:pPr algn="l"/>
                      <a:r>
                        <a:rPr sz="1200" b="0">
                          <a:solidFill>
                            <a:srgbClr val="000000"/>
                          </a:solidFill>
                          <a:latin typeface="Ubuntu"/>
                        </a:rPr>
                        <a:t>Resultado</a:t>
                      </a:r>
                    </a:p>
                  </a:txBody>
                  <a:tcPr anchor="ctr" marL="73152" marR="73152" marT="18288" marB="18288">
                    <a:solidFill>
                      <a:srgbClr val="EAF2FA"/>
                    </a:solidFill>
                  </a:tcPr>
                </a:tc>
                <a:tc>
                  <a:txBody>
                    <a:bodyPr wrap="square"/>
                    <a:lstStyle/>
                    <a:p>
                      <a:pPr algn="l"/>
                      <a:r>
                        <a:rPr sz="1200" b="0">
                          <a:solidFill>
                            <a:srgbClr val="000000"/>
                          </a:solidFill>
                          <a:latin typeface="Ubuntu"/>
                        </a:rPr>
                        <a:t>Nuevos ejes (componentes)</a:t>
                      </a:r>
                    </a:p>
                  </a:txBody>
                  <a:tcPr anchor="ctr" marL="73152" marR="73152" marT="18288" marB="18288">
                    <a:solidFill>
                      <a:srgbClr val="EAF2FA"/>
                    </a:solidFill>
                  </a:tcPr>
                </a:tc>
                <a:tc>
                  <a:txBody>
                    <a:bodyPr wrap="square"/>
                    <a:lstStyle/>
                    <a:p>
                      <a:pPr algn="l"/>
                      <a:r>
                        <a:rPr sz="1200" b="0">
                          <a:solidFill>
                            <a:srgbClr val="000000"/>
                          </a:solidFill>
                          <a:latin typeface="Ubuntu"/>
                        </a:rPr>
                        <a:t>Etiqueta de grupo por fila</a:t>
                      </a:r>
                    </a:p>
                  </a:txBody>
                  <a:tcPr anchor="ctr" marL="73152" marR="73152" marT="18288" marB="18288">
                    <a:solidFill>
                      <a:srgbClr val="EAF2FA"/>
                    </a:solidFill>
                  </a:tcPr>
                </a:tc>
              </a:tr>
              <a:tr h="533400">
                <a:tc>
                  <a:txBody>
                    <a:bodyPr wrap="square"/>
                    <a:lstStyle/>
                    <a:p>
                      <a:pPr algn="l"/>
                      <a:r>
                        <a:rPr sz="1200" b="0">
                          <a:solidFill>
                            <a:srgbClr val="000000"/>
                          </a:solidFill>
                          <a:latin typeface="Ubuntu"/>
                        </a:rPr>
                        <a:t>¿Hay que estandarizar?</a:t>
                      </a:r>
                    </a:p>
                  </a:txBody>
                  <a:tcPr anchor="ctr" marL="73152" marR="73152" marT="18288" marB="18288">
                    <a:solidFill>
                      <a:srgbClr val="FFFFFF"/>
                    </a:solidFill>
                  </a:tcPr>
                </a:tc>
                <a:tc>
                  <a:txBody>
                    <a:bodyPr wrap="square"/>
                    <a:lstStyle/>
                    <a:p>
                      <a:pPr algn="l"/>
                      <a:r>
                        <a:rPr sz="1200" b="0">
                          <a:solidFill>
                            <a:srgbClr val="000000"/>
                          </a:solidFill>
                          <a:latin typeface="Ubuntu"/>
                        </a:rPr>
                        <a:t>Sí</a:t>
                      </a:r>
                    </a:p>
                  </a:txBody>
                  <a:tcPr anchor="ctr" marL="73152" marR="73152" marT="18288" marB="18288">
                    <a:solidFill>
                      <a:srgbClr val="FFFFFF"/>
                    </a:solidFill>
                  </a:tcPr>
                </a:tc>
                <a:tc>
                  <a:txBody>
                    <a:bodyPr wrap="square"/>
                    <a:lstStyle/>
                    <a:p>
                      <a:pPr algn="l"/>
                      <a:r>
                        <a:rPr sz="1200" b="0">
                          <a:solidFill>
                            <a:srgbClr val="000000"/>
                          </a:solidFill>
                          <a:latin typeface="Ubuntu"/>
                        </a:rPr>
                        <a:t>Sí</a:t>
                      </a:r>
                    </a:p>
                  </a:txBody>
                  <a:tcPr anchor="ctr" marL="73152" marR="73152" marT="18288" marB="18288">
                    <a:solidFill>
                      <a:srgbClr val="FFFFFF"/>
                    </a:solidFill>
                  </a:tcPr>
                </a:tc>
              </a:tr>
              <a:tr h="533400">
                <a:tc>
                  <a:txBody>
                    <a:bodyPr wrap="square"/>
                    <a:lstStyle/>
                    <a:p>
                      <a:pPr algn="l"/>
                      <a:r>
                        <a:rPr sz="1200" b="0">
                          <a:solidFill>
                            <a:srgbClr val="000000"/>
                          </a:solidFill>
                          <a:latin typeface="Ubuntu"/>
                        </a:rPr>
                        <a:t>Uso típico</a:t>
                      </a:r>
                    </a:p>
                  </a:txBody>
                  <a:tcPr anchor="ctr" marL="73152" marR="73152" marT="18288" marB="18288">
                    <a:solidFill>
                      <a:srgbClr val="EAF2FA"/>
                    </a:solidFill>
                  </a:tcPr>
                </a:tc>
                <a:tc>
                  <a:txBody>
                    <a:bodyPr wrap="square"/>
                    <a:lstStyle/>
                    <a:p>
                      <a:pPr algn="l"/>
                      <a:r>
                        <a:rPr sz="1200" b="0">
                          <a:solidFill>
                            <a:srgbClr val="000000"/>
                          </a:solidFill>
                          <a:latin typeface="Ubuntu"/>
                        </a:rPr>
                        <a:t>Visualizar, comprimir</a:t>
                      </a:r>
                    </a:p>
                  </a:txBody>
                  <a:tcPr anchor="ctr" marL="73152" marR="73152" marT="18288" marB="18288">
                    <a:solidFill>
                      <a:srgbClr val="EAF2FA"/>
                    </a:solidFill>
                  </a:tcPr>
                </a:tc>
                <a:tc>
                  <a:txBody>
                    <a:bodyPr wrap="square"/>
                    <a:lstStyle/>
                    <a:p>
                      <a:pPr algn="l"/>
                      <a:r>
                        <a:rPr sz="1200" b="0">
                          <a:solidFill>
                            <a:srgbClr val="000000"/>
                          </a:solidFill>
                          <a:latin typeface="Ubuntu"/>
                        </a:rPr>
                        <a:t>Segmentar, perfilar</a:t>
                      </a:r>
                    </a:p>
                  </a:txBody>
                  <a:tcPr anchor="ctr" marL="73152" marR="73152" marT="18288" marB="18288">
                    <a:solidFill>
                      <a:srgbClr val="EAF2FA"/>
                    </a:solidFill>
                  </a:tcPr>
                </a:tc>
              </a:tr>
            </a:tbl>
          </a:graphicData>
        </a:graphic>
      </p:graphicFrame>
      <p:sp>
        <p:nvSpPr>
          <p:cNvPr id="7" name="TextBox 6"/>
          <p:cNvSpPr txBox="1"/>
          <p:nvPr/>
        </p:nvSpPr>
        <p:spPr>
          <a:xfrm>
            <a:off x="5486400" y="6565392"/>
            <a:ext cx="3474720" cy="201168"/>
          </a:xfrm>
          <a:prstGeom prst="rect">
            <a:avLst/>
          </a:prstGeom>
          <a:noFill/>
        </p:spPr>
        <p:txBody>
          <a:bodyPr wrap="square" lIns="0" rIns="0" tIns="0" bIns="0">
            <a:spAutoFit/>
          </a:bodyPr>
          <a:lstStyle/>
          <a:p>
            <a:pPr algn="r"/>
            <a:r>
              <a:rPr sz="900" b="0" i="1">
                <a:solidFill>
                  <a:srgbClr val="555555"/>
                </a:solidFill>
                <a:latin typeface="Ubuntu"/>
              </a:rPr>
              <a:t>Sesión 19 · Aprendizaje no supervisado  -  29</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
            <a:ext cx="8595360" cy="658368"/>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274320"/>
            <a:ext cx="8321040" cy="658368"/>
          </a:xfrm>
          <a:prstGeom prst="rect">
            <a:avLst/>
          </a:prstGeom>
          <a:noFill/>
        </p:spPr>
        <p:txBody>
          <a:bodyPr wrap="square" lIns="0" rIns="0" tIns="0" bIns="0" anchor="ctr">
            <a:spAutoFit/>
          </a:bodyPr>
          <a:lstStyle/>
          <a:p>
            <a:pPr algn="l"/>
            <a:r>
              <a:rPr sz="2200" b="1" i="0">
                <a:solidFill>
                  <a:srgbClr val="FFFFFF"/>
                </a:solidFill>
                <a:latin typeface="Ubuntu"/>
              </a:rPr>
              <a:t>Conclusiones</a:t>
            </a:r>
          </a:p>
        </p:txBody>
      </p:sp>
      <p:sp>
        <p:nvSpPr>
          <p:cNvPr id="5" name="Rectangle 4"/>
          <p:cNvSpPr/>
          <p:nvPr/>
        </p:nvSpPr>
        <p:spPr>
          <a:xfrm>
            <a:off x="274320" y="1188720"/>
            <a:ext cx="8595360" cy="4937760"/>
          </a:xfrm>
          <a:prstGeom prst="rect">
            <a:avLst/>
          </a:prstGeom>
          <a:solidFill>
            <a:srgbClr val="F0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20624" y="1280160"/>
            <a:ext cx="8302752" cy="365760"/>
          </a:xfrm>
          <a:prstGeom prst="rect">
            <a:avLst/>
          </a:prstGeom>
          <a:noFill/>
        </p:spPr>
        <p:txBody>
          <a:bodyPr wrap="square" lIns="0" rIns="0" tIns="0" bIns="0">
            <a:spAutoFit/>
          </a:bodyPr>
          <a:lstStyle/>
          <a:p>
            <a:pPr algn="l"/>
            <a:r>
              <a:rPr sz="1800" b="1" i="0">
                <a:solidFill>
                  <a:srgbClr val="1A7A3A"/>
                </a:solidFill>
                <a:latin typeface="Ubuntu"/>
              </a:rPr>
              <a:t>Ideas clave para llevarte</a:t>
            </a:r>
          </a:p>
        </p:txBody>
      </p:sp>
      <p:sp>
        <p:nvSpPr>
          <p:cNvPr id="7" name="TextBox 6"/>
          <p:cNvSpPr txBox="1"/>
          <p:nvPr/>
        </p:nvSpPr>
        <p:spPr>
          <a:xfrm>
            <a:off x="420624" y="1664208"/>
            <a:ext cx="8302752" cy="4370832"/>
          </a:xfrm>
          <a:prstGeom prst="rect">
            <a:avLst/>
          </a:prstGeom>
          <a:noFill/>
        </p:spPr>
        <p:txBody>
          <a:bodyPr wrap="square" lIns="0" rIns="0" tIns="0" bIns="0">
            <a:spAutoFit/>
          </a:bodyPr>
          <a:lstStyle/>
          <a:p>
            <a:pPr algn="l">
              <a:lnSpc>
                <a:spcPct val="150000"/>
              </a:lnSpc>
            </a:pPr>
            <a:r>
              <a:rPr sz="1500" b="0" i="0">
                <a:solidFill>
                  <a:srgbClr val="000000"/>
                </a:solidFill>
                <a:latin typeface="Ubuntu"/>
              </a:rPr>
              <a:t>• No supervisado = descubrir estructura SIN etiquetas; no hay acierto que medir.</a:t>
            </a:r>
          </a:p>
          <a:p>
            <a:pPr algn="l">
              <a:lnSpc>
                <a:spcPct val="150000"/>
              </a:lnSpc>
            </a:pPr>
            <a:r>
              <a:rPr sz="1500" b="0" i="0">
                <a:solidFill>
                  <a:srgbClr val="000000"/>
                </a:solidFill>
                <a:latin typeface="Ubuntu"/>
              </a:rPr>
              <a:t/>
            </a:r>
          </a:p>
          <a:p>
            <a:pPr algn="l">
              <a:lnSpc>
                <a:spcPct val="150000"/>
              </a:lnSpc>
            </a:pPr>
            <a:r>
              <a:rPr sz="1500" b="0" i="0">
                <a:solidFill>
                  <a:srgbClr val="000000"/>
                </a:solidFill>
                <a:latin typeface="Ubuntu"/>
              </a:rPr>
              <a:t>• PCA resume muchas variables en pocas componentes que concentran la varianza; sirve para visualizar e interpretar (leyendo las cargas).</a:t>
            </a:r>
          </a:p>
          <a:p>
            <a:pPr algn="l">
              <a:lnSpc>
                <a:spcPct val="150000"/>
              </a:lnSpc>
            </a:pPr>
            <a:r>
              <a:rPr sz="1500" b="0" i="0">
                <a:solidFill>
                  <a:srgbClr val="000000"/>
                </a:solidFill>
                <a:latin typeface="Ubuntu"/>
              </a:rPr>
              <a:t/>
            </a:r>
          </a:p>
          <a:p>
            <a:pPr algn="l">
              <a:lnSpc>
                <a:spcPct val="150000"/>
              </a:lnSpc>
            </a:pPr>
            <a:r>
              <a:rPr sz="1500" b="0" i="0">
                <a:solidFill>
                  <a:srgbClr val="000000"/>
                </a:solidFill>
                <a:latin typeface="Ubuntu"/>
              </a:rPr>
              <a:t>• Clustering agrupa observaciones parecidas: k-means minimiza la inercia y el jerárquico construye un árbol (dendrograma).</a:t>
            </a:r>
          </a:p>
          <a:p>
            <a:pPr algn="l">
              <a:lnSpc>
                <a:spcPct val="150000"/>
              </a:lnSpc>
            </a:pPr>
            <a:r>
              <a:rPr sz="1500" b="0" i="0">
                <a:solidFill>
                  <a:srgbClr val="000000"/>
                </a:solidFill>
                <a:latin typeface="Ubuntu"/>
              </a:rPr>
              <a:t/>
            </a:r>
          </a:p>
          <a:p>
            <a:pPr algn="l">
              <a:lnSpc>
                <a:spcPct val="150000"/>
              </a:lnSpc>
            </a:pPr>
            <a:r>
              <a:rPr sz="1500" b="0" i="0">
                <a:solidFill>
                  <a:srgbClr val="000000"/>
                </a:solidFill>
                <a:latin typeface="Ubuntu"/>
              </a:rPr>
              <a:t>• Estandarizar SIEMPRE antes de PCA y clustering: las distancias y la varianza dependen de la escala.</a:t>
            </a:r>
          </a:p>
          <a:p>
            <a:pPr algn="l">
              <a:lnSpc>
                <a:spcPct val="150000"/>
              </a:lnSpc>
            </a:pPr>
            <a:r>
              <a:rPr sz="1500" b="0" i="0">
                <a:solidFill>
                  <a:srgbClr val="000000"/>
                </a:solidFill>
                <a:latin typeface="Ubuntu"/>
              </a:rPr>
              <a:t/>
            </a:r>
          </a:p>
          <a:p>
            <a:pPr algn="l">
              <a:lnSpc>
                <a:spcPct val="150000"/>
              </a:lnSpc>
            </a:pPr>
            <a:r>
              <a:rPr sz="1500" b="0" i="0">
                <a:solidFill>
                  <a:srgbClr val="000000"/>
                </a:solidFill>
                <a:latin typeface="Ubuntu"/>
              </a:rPr>
              <a:t>• Elegir K con codo y silueta, pero validar que los grupos sean interpretables y útiles para la decisión.</a:t>
            </a:r>
          </a:p>
        </p:txBody>
      </p:sp>
      <p:sp>
        <p:nvSpPr>
          <p:cNvPr id="8" name="TextBox 7"/>
          <p:cNvSpPr txBox="1"/>
          <p:nvPr/>
        </p:nvSpPr>
        <p:spPr>
          <a:xfrm>
            <a:off x="5486400" y="6565392"/>
            <a:ext cx="3474720" cy="201168"/>
          </a:xfrm>
          <a:prstGeom prst="rect">
            <a:avLst/>
          </a:prstGeom>
          <a:noFill/>
        </p:spPr>
        <p:txBody>
          <a:bodyPr wrap="square" lIns="0" rIns="0" tIns="0" bIns="0">
            <a:spAutoFit/>
          </a:bodyPr>
          <a:lstStyle/>
          <a:p>
            <a:pPr algn="r"/>
            <a:r>
              <a:rPr sz="900" b="0" i="1">
                <a:solidFill>
                  <a:srgbClr val="555555"/>
                </a:solidFill>
                <a:latin typeface="Ubuntu"/>
              </a:rPr>
              <a:t>Sesión 19 · Aprendizaje no supervisado  -  30</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1005840"/>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28600"/>
            <a:ext cx="5486400" cy="548640"/>
          </a:xfrm>
          <a:prstGeom prst="rect">
            <a:avLst/>
          </a:prstGeom>
          <a:noFill/>
        </p:spPr>
        <p:txBody>
          <a:bodyPr wrap="square" lIns="0" rIns="0" tIns="0" bIns="0" anchor="ctr">
            <a:spAutoFit/>
          </a:bodyPr>
          <a:lstStyle/>
          <a:p>
            <a:pPr algn="l"/>
            <a:r>
              <a:rPr sz="2000" b="1" i="0">
                <a:solidFill>
                  <a:srgbClr val="1E4C7D"/>
                </a:solidFill>
                <a:latin typeface="Ubuntu"/>
              </a:rPr>
              <a:t>Tecnológico de Monterrey</a:t>
            </a:r>
          </a:p>
        </p:txBody>
      </p:sp>
      <p:sp>
        <p:nvSpPr>
          <p:cNvPr id="5" name="Rectangle 4"/>
          <p:cNvSpPr/>
          <p:nvPr/>
        </p:nvSpPr>
        <p:spPr>
          <a:xfrm>
            <a:off x="0" y="1005840"/>
            <a:ext cx="9144000" cy="3291840"/>
          </a:xfrm>
          <a:prstGeom prst="rect">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645920"/>
            <a:ext cx="8046720" cy="1828800"/>
          </a:xfrm>
          <a:prstGeom prst="rect">
            <a:avLst/>
          </a:prstGeom>
          <a:noFill/>
        </p:spPr>
        <p:txBody>
          <a:bodyPr wrap="square" lIns="0" rIns="0" tIns="0" bIns="0">
            <a:spAutoFit/>
          </a:bodyPr>
          <a:lstStyle/>
          <a:p>
            <a:pPr algn="ctr"/>
            <a:r>
              <a:rPr sz="8000" b="1" i="0">
                <a:solidFill>
                  <a:srgbClr val="1E4C7D"/>
                </a:solidFill>
                <a:latin typeface="Ubuntu"/>
              </a:rPr>
              <a:t>Gracias</a:t>
            </a:r>
          </a:p>
        </p:txBody>
      </p:sp>
      <p:sp>
        <p:nvSpPr>
          <p:cNvPr id="7" name="Rectangle 6"/>
          <p:cNvSpPr/>
          <p:nvPr/>
        </p:nvSpPr>
        <p:spPr>
          <a:xfrm>
            <a:off x="2743200" y="5029200"/>
            <a:ext cx="3657600" cy="914400"/>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0" y="5029200"/>
            <a:ext cx="3657600" cy="914400"/>
          </a:xfrm>
          <a:prstGeom prst="rect">
            <a:avLst/>
          </a:prstGeom>
          <a:noFill/>
        </p:spPr>
        <p:txBody>
          <a:bodyPr wrap="square" lIns="0" rIns="0" tIns="0" bIns="0" anchor="ctr">
            <a:spAutoFit/>
          </a:bodyPr>
          <a:lstStyle/>
          <a:p>
            <a:pPr algn="ctr"/>
            <a:r>
              <a:rPr sz="2800" b="1" i="0">
                <a:solidFill>
                  <a:srgbClr val="FFFFFF"/>
                </a:solidFill>
                <a:latin typeface="Ubuntu"/>
              </a:rPr>
              <a:t>¿Preguntas?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