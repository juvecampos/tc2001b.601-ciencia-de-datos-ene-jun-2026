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4C7D"/>
                </a:solidFill>
                <a:latin typeface="Ubuntu"/>
              </a:defRPr>
            </a:pPr>
            <a:r>
              <a:t>Tecnologico de Monterrey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3200400"/>
          </a:xfrm>
          <a:prstGeom prst="rect">
            <a:avLst/>
          </a:prstGeom>
          <a:solidFill>
            <a:srgbClr val="DDE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1E4C7D"/>
                </a:solidFill>
                <a:latin typeface="Ubuntu"/>
              </a:defRPr>
            </a:pPr>
            <a:r>
              <a:t>11. Causalidad en</a:t>
            </a:r>
            <a:br/>
            <a:r>
              <a:t>Ciencias Sociales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6576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E4C7D"/>
                </a:solidFill>
                <a:latin typeface="Ubuntu"/>
              </a:defRPr>
            </a:pPr>
            <a:r>
              <a:t>Modulo 1: Introduccion y fundamentos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5303520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 b="1">
                <a:solidFill>
                  <a:srgbClr val="000000"/>
                </a:solidFill>
                <a:latin typeface="Ubuntu"/>
              </a:defRPr>
            </a:pPr>
            <a:r>
              <a:t>Jorge Juvenal Campos Ferreira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5943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C0392B"/>
                </a:solidFill>
                <a:latin typeface="Ubuntu"/>
              </a:defRPr>
            </a:pPr>
            <a:r>
              <a:t>juvenal.campos@tec.mx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365760"/>
            <a:ext cx="5486400" cy="640080"/>
          </a:xfrm>
          <a:prstGeom prst="roundRect">
            <a:avLst/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800" b="1">
                <a:solidFill>
                  <a:srgbClr val="FFFFFF"/>
                </a:solidFill>
                <a:latin typeface="Ubuntu"/>
              </a:defRPr>
            </a:pPr>
            <a:r>
              <a:t>Contenido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4C7D"/>
                </a:solidFill>
                <a:latin typeface="Ubuntu"/>
              </a:defRPr>
            </a:pPr>
            <a:r>
              <a:t>Conceptos fundamentales: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0000"/>
                </a:solidFill>
                <a:latin typeface="Ubuntu"/>
              </a:defRPr>
            </a:pPr>
            <a:r>
              <a:t>1. Correlacion y causalidad</a:t>
            </a:r>
            <a:br/>
            <a:r>
              <a:t>2. Correlacion ≠ causacion</a:t>
            </a:r>
            <a:br/>
            <a:r>
              <a:t>3. Condiciones para la causalidad</a:t>
            </a:r>
            <a:br/>
            <a:r>
              <a:t>4. Contrafactuales y potential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918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4C7D"/>
                </a:solidFill>
                <a:latin typeface="Ubuntu"/>
              </a:defRPr>
            </a:pPr>
            <a:r>
              <a:t>Metodos: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49039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0000"/>
                </a:solidFill>
                <a:latin typeface="Ubuntu"/>
              </a:defRPr>
            </a:pPr>
            <a:r>
              <a:t>5. Experimentos (RCT)</a:t>
            </a:r>
            <a:br/>
            <a:r>
              <a:t>6. Metodos cuasiexperimentales (DiD, RD, IV, PSM)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4C7D"/>
                </a:solidFill>
                <a:latin typeface="Ubuntu"/>
              </a:defRPr>
            </a:pPr>
            <a:r>
              <a:t>Aplicaciones: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21208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0000"/>
                </a:solidFill>
                <a:latin typeface="Ubuntu"/>
              </a:defRPr>
            </a:pPr>
            <a:r>
              <a:t>7. Politicas publicas en Mexico</a:t>
            </a:r>
            <a:br/>
            <a:r>
              <a:t>8. Papers y referencias clave</a:t>
            </a:r>
            <a:br/>
            <a:r>
              <a:t>9. Implementacion en R</a:t>
            </a:r>
            <a:br/>
            <a:r>
              <a:t>10. Preview: Causal ML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365760"/>
            <a:ext cx="5486400" cy="640080"/>
          </a:xfrm>
          <a:prstGeom prst="roundRect">
            <a:avLst/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800" b="1">
                <a:solidFill>
                  <a:srgbClr val="FFFFFF"/>
                </a:solidFill>
                <a:latin typeface="Ubuntu"/>
              </a:defRPr>
            </a:pPr>
            <a:r>
              <a:t>El dilema de la evaluacion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Ubuntu"/>
              </a:defRPr>
            </a:pPr>
            <a:r>
              <a:t>Imagina que eres jef@ de la Secretaria de Educacion de un estado mexicano.</a:t>
            </a:r>
            <a:br/>
            <a:r>
              <a:t>Tu gobernador implemento un programa de becas hace dos anos. Ahora quiere saber: ¿funciono?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7AE60"/>
                </a:solidFill>
                <a:latin typeface="Ubuntu"/>
              </a:defRPr>
            </a:pPr>
            <a:r>
              <a:t>Lo que ves: municipios con becas tienen 15% mas graduacion.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175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0392B"/>
                </a:solidFill>
                <a:latin typeface="Ubuntu"/>
              </a:defRPr>
            </a:pPr>
            <a:r>
              <a:t>Pero: ingreso familiar mas alto, mejor infraestructura, maestros con mas experiencia.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114800"/>
            <a:ext cx="10698480" cy="1097280"/>
          </a:xfrm>
          <a:prstGeom prst="roundRect">
            <a:avLst/>
          </a:prstGeom>
          <a:solidFill>
            <a:srgbClr val="EA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>
                <a:solidFill>
                  <a:srgbClr val="000000"/>
                </a:solidFill>
                <a:latin typeface="Ubuntu"/>
              </a:defRPr>
            </a:pPr>
            <a:r>
              <a:t>⚠ ¿Las becas causaron el aumento? ¿O se habrian graduado de todas formas?</a:t>
            </a:r>
            <a:br/>
            <a:r>
              <a:t>Este es el problema fundamental: correlacion no implica causacion.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365760"/>
            <a:ext cx="5486400" cy="640080"/>
          </a:xfrm>
          <a:prstGeom prst="roundRect">
            <a:avLst/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800" b="1">
                <a:solidFill>
                  <a:srgbClr val="FFFFFF"/>
                </a:solidFill>
                <a:latin typeface="Ubuntu"/>
              </a:defRPr>
            </a:pPr>
            <a:r>
              <a:t>Las dos grandes preguntas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029200" cy="3200400"/>
          </a:xfrm>
          <a:prstGeom prst="roundRect">
            <a:avLst/>
          </a:prstGeom>
          <a:solidFill>
            <a:srgbClr val="EA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5544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E4C7D"/>
                </a:solidFill>
                <a:latin typeface="Ubuntu"/>
              </a:defRPr>
            </a:pPr>
            <a:r>
              <a:t>PREDICCION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94560"/>
            <a:ext cx="4389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000000"/>
                </a:solidFill>
                <a:latin typeface="Ubuntu"/>
              </a:defRPr>
            </a:pPr>
            <a:r>
              <a:t>¿Que va a pasar?</a:t>
            </a:r>
            <a:br/>
            <a:br/>
            <a:r>
              <a:t>Dado lo que observo, ¿cual es la probabilidad de que Y ocurra?</a:t>
            </a:r>
            <a:br/>
            <a:br/>
            <a:r>
              <a:t>Ejemplo: ¿Quien va a desertar de la preparatoria?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371600"/>
            <a:ext cx="5029200" cy="3200400"/>
          </a:xfrm>
          <a:prstGeom prst="roundRect">
            <a:avLst/>
          </a:prstGeom>
          <a:solidFill>
            <a:srgbClr val="FAD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0" y="15544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C0392B"/>
                </a:solidFill>
                <a:latin typeface="Ubuntu"/>
              </a:defRPr>
            </a:pPr>
            <a:r>
              <a:t>CAUSALIDAD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2194560"/>
            <a:ext cx="4389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000000"/>
                </a:solidFill>
                <a:latin typeface="Ubuntu"/>
              </a:defRPr>
            </a:pPr>
            <a:r>
              <a:t>¿Por que pasa?</a:t>
            </a:r>
            <a:br/>
            <a:br/>
            <a:r>
              <a:t>Si cambio X, ¿cambia Y? ¿Cuanto?</a:t>
            </a:r>
            <a:br/>
            <a:br/>
            <a:r>
              <a:t>Ejemplo: ¿Las becas causan que se graduen mas estudiantes?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029200"/>
            <a:ext cx="10698480" cy="822960"/>
          </a:xfrm>
          <a:prstGeom prst="roundRect">
            <a:avLst/>
          </a:prstGeom>
          <a:solidFill>
            <a:srgbClr val="EA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>
                <a:solidFill>
                  <a:srgbClr val="000000"/>
                </a:solidFill>
                <a:latin typeface="Ubuntu"/>
              </a:defRPr>
            </a:pPr>
            <a:r>
              <a:t>En politica publica, casi siempre necesitas AMBAS: prediccion buena requiere causalidad para decisiones.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365760"/>
            <a:ext cx="5486400" cy="640080"/>
          </a:xfrm>
          <a:prstGeom prst="roundRect">
            <a:avLst/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800" b="1">
                <a:solidFill>
                  <a:srgbClr val="FFFFFF"/>
                </a:solidFill>
                <a:latin typeface="Ubuntu"/>
              </a:defRPr>
            </a:pPr>
            <a:r>
              <a:t>¿Que es la correlacion?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Ubuntu"/>
              </a:defRPr>
            </a:pPr>
            <a:r>
              <a:t>La correlacion mide el grado en que dos variables se mueven juntas.</a:t>
            </a:r>
            <a:br/>
            <a:r>
              <a:t>Si una sube cuando la otra sube = positivamente correlacionadas.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4C7D"/>
                </a:solidFill>
                <a:latin typeface="Ubuntu"/>
              </a:defRPr>
            </a:pPr>
            <a:r>
              <a:t>Coeficiente de Pearson (r): rango de -1 a +1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0000"/>
                </a:solidFill>
                <a:latin typeface="Ubuntu"/>
              </a:defRPr>
            </a:pPr>
            <a:r>
              <a:t>r = +1: correlacion positiva perfecta</a:t>
            </a:r>
            <a:br/>
            <a:r>
              <a:t>r = 0: sin correlacion lineal</a:t>
            </a:r>
            <a:br/>
            <a:r>
              <a:t>r = -1: correlacion negativa perfecta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0233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4C7D"/>
                </a:solidFill>
                <a:latin typeface="Ubuntu"/>
              </a:defRPr>
            </a:pPr>
            <a:r>
              <a:t>Ejemplos: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4805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0000"/>
                </a:solidFill>
                <a:latin typeface="Ubuntu"/>
              </a:defRPr>
            </a:pPr>
            <a:r>
              <a:t>r ≈ +0.8  Ingreso familiar ↔ Gasto en educacion</a:t>
            </a:r>
            <a:br/>
            <a:r>
              <a:t>r ≈ -0.6   Pobreza ↔ Esperanza de vida</a:t>
            </a:r>
            <a:br/>
            <a:r>
              <a:t>r ≈ +0.9  Ventas de helado ↔ Ahogamientos (¡espuria!)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669280"/>
            <a:ext cx="10698480" cy="731520"/>
          </a:xfrm>
          <a:prstGeom prst="roundRect">
            <a:avLst/>
          </a:prstGeom>
          <a:solidFill>
            <a:srgbClr val="EA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>
                <a:solidFill>
                  <a:srgbClr val="000000"/>
                </a:solidFill>
                <a:latin typeface="Ubuntu"/>
              </a:defRPr>
            </a:pPr>
            <a:r>
              <a:t>La correlacion describe asociacion, no explica por que.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365760"/>
            <a:ext cx="5486400" cy="640080"/>
          </a:xfrm>
          <a:prstGeom prst="roundRect">
            <a:avLst/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800" b="1">
                <a:solidFill>
                  <a:srgbClr val="FFFFFF"/>
                </a:solidFill>
                <a:latin typeface="Ubuntu"/>
              </a:defRPr>
            </a:pPr>
            <a:r>
              <a:t>¿Que es la causalidad?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Ubuntu"/>
              </a:defRPr>
            </a:pPr>
            <a:r>
              <a:t>Causalidad significa que un cambio en X produce un cambio en Y.</a:t>
            </a:r>
            <a:br/>
            <a:r>
              <a:t>No solo se mueven juntas: X genera 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0000"/>
                </a:solidFill>
                <a:latin typeface="Ubuntu"/>
              </a:defRPr>
            </a:pPr>
            <a:r>
              <a:t>Definicion formal: X causa Y si, al intervenir y cambiar X</a:t>
            </a:r>
            <a:br/>
            <a:r>
              <a:t>(manteniendo todo lo demas constante), Y cambia.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E4C7D"/>
                </a:solidFill>
                <a:latin typeface="Ubuntu"/>
              </a:defRPr>
            </a:pPr>
            <a:r>
              <a:t>Efecto causal = Y(con X) - Y(sin X)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9319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0000"/>
                </a:solidFill>
                <a:latin typeface="Ubuntu"/>
              </a:defRPr>
            </a:pPr>
            <a:r>
              <a:t>La idea del contrafactico: Si un estudiante recibio beca y se graduo,</a:t>
            </a:r>
            <a:br/>
            <a:r>
              <a:t>¿se habria graduado sin la beca? Nunca lo sabremos con certeza.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303520"/>
            <a:ext cx="10698480" cy="731520"/>
          </a:xfrm>
          <a:prstGeom prst="roundRect">
            <a:avLst/>
          </a:prstGeom>
          <a:solidFill>
            <a:srgbClr val="EA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>
                <a:solidFill>
                  <a:srgbClr val="000000"/>
                </a:solidFill>
                <a:latin typeface="Ubuntu"/>
              </a:defRPr>
            </a:pPr>
            <a:r>
              <a:t>Correlacion = "X e Y se mueven juntas"  |  Causalidad = "X hace que Y cambie"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365760"/>
            <a:ext cx="5486400" cy="640080"/>
          </a:xfrm>
          <a:prstGeom prst="roundRect">
            <a:avLst/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800" b="1">
                <a:solidFill>
                  <a:srgbClr val="FFFFFF"/>
                </a:solidFill>
                <a:latin typeface="Ubuntu"/>
              </a:defRPr>
            </a:pPr>
            <a:r>
              <a:t>Correlacion ≠ Causalidad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Ubuntu"/>
              </a:defRPr>
            </a:pPr>
            <a:r>
              <a:t>Que dos variables esten correlacionadas NO significa que una cause la otra: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0000"/>
                </a:solidFill>
                <a:latin typeface="Ubuntu"/>
              </a:defRPr>
            </a:pPr>
            <a:r>
              <a:t>Helados y ahogamientos: Ambos aumentan en verano (calor = causa comun).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0000"/>
                </a:solidFill>
                <a:latin typeface="Ubuntu"/>
              </a:defRPr>
            </a:pPr>
            <a:r>
              <a:t>Zapatos e inteligencia: En niños, la edad causa ambos.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38328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0000"/>
                </a:solidFill>
                <a:latin typeface="Ubuntu"/>
              </a:defRPr>
            </a:pPr>
            <a:r>
              <a:t>Nicolas Cage y piscinas: Correlacion r=0.67 sin mecanismo (espuria).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389120"/>
            <a:ext cx="10698480" cy="1097280"/>
          </a:xfrm>
          <a:prstGeom prst="roundRect">
            <a:avLst/>
          </a:prstGeom>
          <a:solidFill>
            <a:srgbClr val="FAD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0392B"/>
                </a:solidFill>
                <a:latin typeface="Ubuntu"/>
              </a:defRPr>
            </a:pPr>
            <a:r>
              <a:t>¡Cuidado! En politica publica, confundir correlacion con causalidad puede</a:t>
            </a:r>
            <a:br/>
            <a:r>
              <a:t>llevar a decisiones que desperdician millones de pesos.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365760"/>
            <a:ext cx="5486400" cy="640080"/>
          </a:xfrm>
          <a:prstGeom prst="roundRect">
            <a:avLst/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800" b="1">
                <a:solidFill>
                  <a:srgbClr val="FFFFFF"/>
                </a:solidFill>
                <a:latin typeface="Ubuntu"/>
              </a:defRPr>
            </a:pPr>
            <a:r>
              <a:t>Pero la correlacion es necesaria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Ubuntu"/>
              </a:defRPr>
            </a:pPr>
            <a:r>
              <a:t>Si X causa Y, entonces X e Y DEBEN estar correlacionadas.</a:t>
            </a:r>
            <a:br/>
            <a:r>
              <a:t>La correlacion es condicion necesaria (pero no suficiente) para la causalidad.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7AE60"/>
                </a:solidFill>
                <a:latin typeface="Ubuntu"/>
              </a:defRPr>
            </a:pPr>
            <a:r>
              <a:t>CAUSALIDAD  ⟹  CORRELACION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089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7AE60"/>
                </a:solidFill>
                <a:latin typeface="Ubuntu"/>
              </a:defRPr>
            </a:pPr>
            <a:r>
              <a:t>Si hay causalidad, SIEMPRE hay correlacion.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0392B"/>
                </a:solidFill>
                <a:latin typeface="Ubuntu"/>
              </a:defRPr>
            </a:pPr>
            <a:r>
              <a:t>CORRELACION  ⟹̸  CAUSALIDAD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3891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0392B"/>
                </a:solidFill>
                <a:latin typeface="Ubuntu"/>
              </a:defRPr>
            </a:pPr>
            <a:r>
              <a:t>Si hay correlacion, NO necesariamente hay causalidad.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303520"/>
            <a:ext cx="10698480" cy="914400"/>
          </a:xfrm>
          <a:prstGeom prst="roundRect">
            <a:avLst/>
          </a:prstGeom>
          <a:solidFill>
            <a:srgbClr val="EA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>
                <a:solidFill>
                  <a:srgbClr val="000000"/>
                </a:solidFill>
                <a:latin typeface="Ubuntu"/>
              </a:defRPr>
            </a:pPr>
            <a:r>
              <a:t>Implicacion: Si no encuentras correlacion, descarta causalidad.</a:t>
            </a:r>
            <a:br/>
            <a:r>
              <a:t>Si encuentras correlacion, necesitas metodos adicionales para confirmar causalidad.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365760"/>
            <a:ext cx="5486400" cy="640080"/>
          </a:xfrm>
          <a:prstGeom prst="roundRect">
            <a:avLst/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800" b="1">
                <a:solidFill>
                  <a:srgbClr val="FFFFFF"/>
                </a:solidFill>
                <a:latin typeface="Ubuntu"/>
              </a:defRPr>
            </a:pPr>
            <a:r>
              <a:t>Los tres caminos del sesgo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0000"/>
                </a:solidFill>
                <a:latin typeface="Ubuntu"/>
              </a:defRPr>
            </a:pPr>
            <a:r>
              <a:t>Tres caminos por los que variables se correlacionan sin relacion causal directa: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3291840" cy="2743200"/>
          </a:xfrm>
          <a:prstGeom prst="roundRect">
            <a:avLst/>
          </a:prstGeom>
          <a:solidFill>
            <a:srgbClr val="D5F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7A3A"/>
                </a:solidFill>
                <a:latin typeface="Ubuntu"/>
              </a:defRPr>
            </a:pPr>
            <a:r>
              <a:t>1. Causalidad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00000"/>
                </a:solidFill>
                <a:latin typeface="Ubuntu"/>
              </a:defRPr>
            </a:pPr>
            <a:r>
              <a:t>X → 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01752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00000"/>
                </a:solidFill>
                <a:latin typeface="Ubuntu"/>
              </a:defRPr>
            </a:pPr>
            <a:r>
              <a:t>X realmente causa Y.</a:t>
            </a:r>
            <a:br/>
            <a:br/>
            <a:r>
              <a:t>Ejemplo: Mas horas de estudio → mejores calificaciones.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011680"/>
            <a:ext cx="3291840" cy="2743200"/>
          </a:xfrm>
          <a:prstGeom prst="roundRect">
            <a:avLst/>
          </a:prstGeom>
          <a:solidFill>
            <a:srgbClr val="FEF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21945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7E22"/>
                </a:solidFill>
                <a:latin typeface="Ubuntu"/>
              </a:defRPr>
            </a:pPr>
            <a:r>
              <a:t>2. Causa comun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6517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00000"/>
                </a:solidFill>
                <a:latin typeface="Ubuntu"/>
              </a:defRPr>
            </a:pPr>
            <a:r>
              <a:t>X ← Z → 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301752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00000"/>
                </a:solidFill>
                <a:latin typeface="Ubuntu"/>
              </a:defRPr>
            </a:pPr>
            <a:r>
              <a:t>Tercera variable Z causa ambas.</a:t>
            </a:r>
            <a:br/>
            <a:br/>
            <a:r>
              <a:t>Ejemplo: Edu padres (Z) causa horas estudio (X) y calificaciones (Y).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2011680"/>
            <a:ext cx="3291840" cy="2743200"/>
          </a:xfrm>
          <a:prstGeom prst="roundRect">
            <a:avLst/>
          </a:prstGeom>
          <a:solidFill>
            <a:srgbClr val="FAD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21945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0392B"/>
                </a:solidFill>
                <a:latin typeface="Ubuntu"/>
              </a:defRPr>
            </a:pPr>
            <a:r>
              <a:t>3. Causalidad invertida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6517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00000"/>
                </a:solidFill>
                <a:latin typeface="Ubuntu"/>
              </a:defRPr>
            </a:pPr>
            <a:r>
              <a:t>X ← 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301752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00000"/>
                </a:solidFill>
                <a:latin typeface="Ubuntu"/>
              </a:defRPr>
            </a:pPr>
            <a:r>
              <a:t>Y causa X, no al reves.</a:t>
            </a:r>
            <a:br/>
            <a:br/>
            <a:r>
              <a:t>Ejemplo: ¿Actividad → felicidad? ¿O felicidad → actividad?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303520"/>
            <a:ext cx="10698480" cy="731520"/>
          </a:xfrm>
          <a:prstGeom prst="roundRect">
            <a:avLst/>
          </a:prstGeom>
          <a:solidFill>
            <a:srgbClr val="EA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>
                <a:solidFill>
                  <a:srgbClr val="000000"/>
                </a:solidFill>
                <a:latin typeface="Ubuntu"/>
              </a:defRPr>
            </a:pPr>
            <a:r>
              <a:t>Los metodos causales buscan distinguir el camino 1 de los caminos 2 y 3.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365760"/>
            <a:ext cx="5486400" cy="640080"/>
          </a:xfrm>
          <a:prstGeom prst="roundRect">
            <a:avLst/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800" b="1">
                <a:solidFill>
                  <a:srgbClr val="FFFFFF"/>
                </a:solidFill>
                <a:latin typeface="Ubuntu"/>
              </a:defRPr>
            </a:pPr>
            <a:r>
              <a:t>Ejemplos enganosos en la realidad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0000"/>
                </a:solidFill>
                <a:latin typeface="Ubuntu"/>
              </a:defRPr>
            </a:pPr>
            <a:r>
              <a:t>Policia y crimen: Mas policias ↔ mas crimenes. ¿Policia causa crimen?</a:t>
            </a:r>
            <a:br/>
            <a:r>
              <a:t>→ No. Mas crimen causa que se envie mas policia (causalidad invertida).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0000"/>
                </a:solidFill>
                <a:latin typeface="Ubuntu"/>
              </a:defRPr>
            </a:pPr>
            <a:r>
              <a:t>Educacion sexual y embarazo: Mas educacion sexual ↔ mas embarazo.</a:t>
            </a:r>
            <a:br/>
            <a:r>
              <a:t>→ No. Urbanizacion y desarrollo causan ambas cosas (causa comun).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0000"/>
                </a:solidFill>
                <a:latin typeface="Ubuntu"/>
              </a:defRPr>
            </a:pPr>
            <a:r>
              <a:t>Gasto educativo: Relacion debil gasto ↔ PISA.</a:t>
            </a:r>
            <a:br/>
            <a:r>
              <a:t>→ Estudios causales (DiD, IV) que aislan el gasto puro encuentran efectos positivos.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846320"/>
            <a:ext cx="10698480" cy="914400"/>
          </a:xfrm>
          <a:prstGeom prst="roundRect">
            <a:avLst/>
          </a:prstGeom>
          <a:solidFill>
            <a:srgbClr val="EA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>
                <a:solidFill>
                  <a:srgbClr val="000000"/>
                </a:solidFill>
                <a:latin typeface="Ubuntu"/>
              </a:defRPr>
            </a:pPr>
            <a:r>
              <a:t>En todos estos casos, la correlacion simple lleva a conclusiones erroneas.</a:t>
            </a:r>
            <a:br/>
            <a:r>
              <a:t>Los metodos causales revelan la verdad.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365760"/>
            <a:ext cx="5486400" cy="640080"/>
          </a:xfrm>
          <a:prstGeom prst="roundRect">
            <a:avLst/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800" b="1">
                <a:solidFill>
                  <a:srgbClr val="FFFFFF"/>
                </a:solidFill>
                <a:latin typeface="Ubuntu"/>
              </a:defRPr>
            </a:pPr>
            <a:r>
              <a:t>Condiciones para determinar causalidad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Ubuntu"/>
              </a:defRPr>
            </a:pPr>
            <a:r>
              <a:t>Para afirmar que X causa Y, se deben cumplir cuatro condiciones: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4C7D"/>
                </a:solidFill>
                <a:latin typeface="Ubuntu"/>
              </a:defRPr>
            </a:pPr>
            <a:r>
              <a:t>1. Correlacion (asociacion)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79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555555"/>
                </a:solidFill>
                <a:latin typeface="Ubuntu"/>
              </a:defRPr>
            </a:pPr>
            <a:r>
              <a:t>X e Y deben estar estadisticamente asociadas.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1089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4C7D"/>
                </a:solidFill>
                <a:latin typeface="Ubuntu"/>
              </a:defRPr>
            </a:pPr>
            <a:r>
              <a:t>2. Temporalidad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4747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555555"/>
                </a:solidFill>
                <a:latin typeface="Ubuntu"/>
              </a:defRPr>
            </a:pPr>
            <a:r>
              <a:t>X debe ocurrir ANTES que Y. La causa precede al efecto.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1148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4C7D"/>
                </a:solidFill>
                <a:latin typeface="Ubuntu"/>
              </a:defRPr>
            </a:pPr>
            <a:r>
              <a:t>3. Mecanismo causal plausible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4805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555555"/>
                </a:solidFill>
                <a:latin typeface="Ubuntu"/>
              </a:defRPr>
            </a:pPr>
            <a:r>
              <a:t>Debe existir una explicacion teorica de por que X produce 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120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4C7D"/>
                </a:solidFill>
                <a:latin typeface="Ubuntu"/>
              </a:defRPr>
            </a:pPr>
            <a:r>
              <a:t>4. Eliminacion de alternativas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4864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555555"/>
                </a:solidFill>
                <a:latin typeface="Ubuntu"/>
              </a:defRPr>
            </a:pPr>
            <a:r>
              <a:t>Descartar confusores, causalidad inversa o coincidencia.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365760"/>
            <a:ext cx="5486400" cy="640080"/>
          </a:xfrm>
          <a:prstGeom prst="roundRect">
            <a:avLst/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800" b="1">
                <a:solidFill>
                  <a:srgbClr val="FFFFFF"/>
                </a:solidFill>
                <a:latin typeface="Ubuntu"/>
              </a:defRPr>
            </a:pPr>
            <a:r>
              <a:t>Contrafacticos y potential outcomes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Ubuntu"/>
              </a:defRPr>
            </a:pPr>
            <a:r>
              <a:t>El nucleo de la inferencia causal es el contrafactico:</a:t>
            </a:r>
            <a:br/>
            <a:r>
              <a:t>¿Que habria pasado si las cosas fueran diferentes?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560320"/>
            <a:ext cx="5029200" cy="1828800"/>
          </a:xfrm>
          <a:prstGeom prst="roundRect">
            <a:avLst/>
          </a:prstGeom>
          <a:solidFill>
            <a:srgbClr val="D5F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7432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7A3A"/>
                </a:solidFill>
                <a:latin typeface="Ubuntu"/>
              </a:defRPr>
            </a:pPr>
            <a:r>
              <a:t>Mundo factual (observado)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200400"/>
            <a:ext cx="4389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000000"/>
                </a:solidFill>
                <a:latin typeface="Ubuntu"/>
              </a:defRPr>
            </a:pPr>
            <a:r>
              <a:t>Municipio RECIBE becas</a:t>
            </a:r>
            <a:br/>
            <a:r>
              <a:t>Tasa de graduacion: 70%</a:t>
            </a:r>
            <a:br/>
            <a:r>
              <a:t>Esto es Y(1)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2560320"/>
            <a:ext cx="5029200" cy="1828800"/>
          </a:xfrm>
          <a:prstGeom prst="roundRect">
            <a:avLst/>
          </a:prstGeom>
          <a:solidFill>
            <a:srgbClr val="FAD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0" y="27432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0392B"/>
                </a:solidFill>
                <a:latin typeface="Ubuntu"/>
              </a:defRPr>
            </a:pPr>
            <a:r>
              <a:t>Mundo contrafactico (NO observado)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3200400"/>
            <a:ext cx="4389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000000"/>
                </a:solidFill>
                <a:latin typeface="Ubuntu"/>
              </a:defRPr>
            </a:pPr>
            <a:r>
              <a:t>Municipio NO recibe becas</a:t>
            </a:r>
            <a:br/>
            <a:r>
              <a:t>Tasa de graduacion: ¿?%</a:t>
            </a:r>
            <a:br/>
            <a:r>
              <a:t>Nunca lo observamos = Y(0)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4846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1E4C7D"/>
                </a:solidFill>
                <a:latin typeface="Ubuntu"/>
              </a:defRPr>
            </a:pPr>
            <a:r>
              <a:t>Efecto causal = Y(1) - Y(0) = 70% - ¿?%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669280"/>
            <a:ext cx="10698480" cy="731520"/>
          </a:xfrm>
          <a:prstGeom prst="roundRect">
            <a:avLst/>
          </a:prstGeom>
          <a:solidFill>
            <a:srgbClr val="EA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>
                <a:solidFill>
                  <a:srgbClr val="000000"/>
                </a:solidFill>
                <a:latin typeface="Ubuntu"/>
              </a:defRPr>
            </a:pPr>
            <a:r>
              <a:t>Para cada unidad i: τᵢ = Yᵢ(1) - Yᵢ(0). Pero solo observamos uno de los dos.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365760"/>
            <a:ext cx="5486400" cy="640080"/>
          </a:xfrm>
          <a:prstGeom prst="roundRect">
            <a:avLst/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800" b="1">
                <a:solidFill>
                  <a:srgbClr val="FFFFFF"/>
                </a:solidFill>
                <a:latin typeface="Ubuntu"/>
              </a:defRPr>
            </a:pPr>
            <a:r>
              <a:t>El problema fundamental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Ubuntu"/>
              </a:defRPr>
            </a:pPr>
            <a:r>
              <a:t>Problema Fundamental de Inferencia Causal (Holland, 1986):</a:t>
            </a:r>
            <a:br/>
            <a:r>
              <a:t>Para cada unidad, solo observamos UN resultado. El contrafactico siempre falta.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0000"/>
                </a:solidFill>
                <a:latin typeface="Ubuntu"/>
              </a:defRPr>
            </a:pPr>
            <a:r>
              <a:t>Ana (beca=Si): Y(1)=Graduada, Y(0)=¿?</a:t>
            </a:r>
            <a:br/>
            <a:r>
              <a:t>Beto (beca=Si): Y(1)=Graduado, Y(0)=¿?</a:t>
            </a:r>
            <a:br/>
            <a:r>
              <a:t>Carla (beca=No): Y(1)=¿?, Y(0)=No graduada</a:t>
            </a:r>
            <a:br/>
            <a:r>
              <a:t>Diego (beca=No): Y(1)=¿?, Y(0)=Graduado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2062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4C7D"/>
                </a:solidFill>
                <a:latin typeface="Ubuntu"/>
              </a:defRPr>
            </a:pPr>
            <a:r>
              <a:t>Soluciones: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6634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0000"/>
                </a:solidFill>
                <a:latin typeface="Ubuntu"/>
              </a:defRPr>
            </a:pPr>
            <a:r>
              <a:t>• RCT: Aleatorizar para que grupos sean comparables en promedio</a:t>
            </a:r>
            <a:br/>
            <a:r>
              <a:t>• Cuasiexperimentos: Encontrar "seudo-aleatorizacion" natural</a:t>
            </a:r>
            <a:br/>
            <a:r>
              <a:t>• Controles estadisticos: Asumir que controlamos por todas las confundidoras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365760"/>
            <a:ext cx="5486400" cy="640080"/>
          </a:xfrm>
          <a:prstGeom prst="roundRect">
            <a:avLst/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800" b="1">
                <a:solidFill>
                  <a:srgbClr val="FFFFFF"/>
                </a:solidFill>
                <a:latin typeface="Ubuntu"/>
              </a:defRPr>
            </a:pPr>
            <a:r>
              <a:t>Supuestos clave de inferencia causal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4C7D"/>
                </a:solidFill>
                <a:latin typeface="Ubuntu"/>
              </a:defRPr>
            </a:pPr>
            <a:r>
              <a:t>1. SUTVA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8308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000000"/>
                </a:solidFill>
                <a:latin typeface="Ubuntu"/>
              </a:defRPr>
            </a:pPr>
            <a:r>
              <a:t>El tratamiento de una unidad NO afecta resultados de otra.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4C7D"/>
                </a:solidFill>
                <a:latin typeface="Ubuntu"/>
              </a:defRPr>
            </a:pPr>
            <a:r>
              <a:t>2. Consistencia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889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000000"/>
                </a:solidFill>
                <a:latin typeface="Ubuntu"/>
              </a:defRPr>
            </a:pPr>
            <a:r>
              <a:t>Si recibes tratamiento, tu resultado observado es Y(1). Bien definido.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4747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4C7D"/>
                </a:solidFill>
                <a:latin typeface="Ubuntu"/>
              </a:defRPr>
            </a:pPr>
            <a:r>
              <a:t>3. Positividad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7947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000000"/>
                </a:solidFill>
                <a:latin typeface="Ubuntu"/>
              </a:defRPr>
            </a:pPr>
            <a:r>
              <a:t>Todas las unidades tienen probabilidad &gt; 0 de recibir tratamiento.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4805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4C7D"/>
                </a:solidFill>
                <a:latin typeface="Ubuntu"/>
              </a:defRPr>
            </a:pPr>
            <a:r>
              <a:t>4. Ignorabilidad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8006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000000"/>
                </a:solidFill>
                <a:latin typeface="Ubuntu"/>
              </a:defRPr>
            </a:pPr>
            <a:r>
              <a:t>Dadas covariables, la asignacion es independiente de resultados potenciales.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486400"/>
            <a:ext cx="10698480" cy="731520"/>
          </a:xfrm>
          <a:prstGeom prst="roundRect">
            <a:avLst/>
          </a:prstGeom>
          <a:solidFill>
            <a:srgbClr val="FAD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55778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C0392B"/>
                </a:solidFill>
                <a:latin typeface="Ubuntu"/>
              </a:defRPr>
            </a:pPr>
            <a:r>
              <a:t>Si alguno se viola, la estimacion causal puede ser sesgada. Siempre evalua credibilidad.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365760"/>
            <a:ext cx="5486400" cy="640080"/>
          </a:xfrm>
          <a:prstGeom prst="roundRect">
            <a:avLst/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800" b="1">
                <a:solidFill>
                  <a:srgbClr val="FFFFFF"/>
                </a:solidFill>
                <a:latin typeface="Ubuntu"/>
              </a:defRPr>
            </a:pPr>
            <a:r>
              <a:t>¿Que es un experimento (RCT)?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Ubuntu"/>
              </a:defRPr>
            </a:pPr>
            <a:r>
              <a:t>Randomized Controlled Trial: participantes se asignan ALEATORIAMENTE</a:t>
            </a:r>
            <a:br/>
            <a:r>
              <a:t>a grupo de tratamiento o control. Gold standard para causalidad.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4C7D"/>
                </a:solidFill>
                <a:latin typeface="Ubuntu"/>
              </a:defRPr>
            </a:pPr>
            <a:r>
              <a:t>Poblacion → Aleatorizacion → Grupo Tratamiento (recibe) + Grupo Control (no recibe) → Comparar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0000"/>
                </a:solidFill>
                <a:latin typeface="Ubuntu"/>
              </a:defRPr>
            </a:pPr>
            <a:r>
              <a:t>¿Por que funciona? La aleatorizacion garantiza que ambos grupos son</a:t>
            </a:r>
            <a:br/>
            <a:r>
              <a:t>estadisticamente identicos en TODAS las caracteristicas.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5720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E4C7D"/>
                </a:solidFill>
                <a:latin typeface="Ubuntu"/>
              </a:defRPr>
            </a:pPr>
            <a:r>
              <a:t>E[Y|T=1] - E[Y|T=0] = Efecto causal promedio (ATE)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394960"/>
            <a:ext cx="10698480" cy="731520"/>
          </a:xfrm>
          <a:prstGeom prst="roundRect">
            <a:avLst/>
          </a:prstGeom>
          <a:solidFill>
            <a:srgbClr val="EA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>
                <a:solidFill>
                  <a:srgbClr val="000000"/>
                </a:solidFill>
                <a:latin typeface="Ubuntu"/>
              </a:defRPr>
            </a:pPr>
            <a:r>
              <a:t>No necesitas medir ni controlar por confusores. La aleatorizacion los "balancea" automaticamente.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365760"/>
            <a:ext cx="5486400" cy="640080"/>
          </a:xfrm>
          <a:prstGeom prst="roundRect">
            <a:avLst/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800" b="1">
                <a:solidFill>
                  <a:srgbClr val="FFFFFF"/>
                </a:solidFill>
                <a:latin typeface="Ubuntu"/>
              </a:defRPr>
            </a:pPr>
            <a:r>
              <a:t>Por que funciona la aleatorizacion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Ubuntu"/>
              </a:defRPr>
            </a:pPr>
            <a:r>
              <a:t>Por la ley de grandes numeros, los grupos son comparables en TODO: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000000"/>
                </a:solidFill>
                <a:latin typeface="Ubuntu"/>
              </a:defRPr>
            </a:pPr>
            <a:r>
              <a:t>                    Tratamiento    Control    Diferencia</a:t>
            </a:r>
            <a:br/>
            <a:r>
              <a:t>Ingreso promedio:        $8,200           $8,350       ≈ 0</a:t>
            </a:r>
            <a:br/>
            <a:r>
              <a:t>% madres con prepa:   42%                41%            ≈ 0</a:t>
            </a:r>
            <a:br/>
            <a:r>
              <a:t>% zona urbana:           55%                54%            ≈ 0</a:t>
            </a:r>
            <a:br/>
            <a:r>
              <a:t>Tasa graduacion:         72%                67%            5% = EFECTO CAUSAL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846320"/>
            <a:ext cx="10698480" cy="914400"/>
          </a:xfrm>
          <a:prstGeom prst="roundRect">
            <a:avLst/>
          </a:prstGeom>
          <a:solidFill>
            <a:srgbClr val="EA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>
                <a:solidFill>
                  <a:srgbClr val="000000"/>
                </a:solidFill>
                <a:latin typeface="Ubuntu"/>
              </a:defRPr>
            </a:pPr>
            <a:r>
              <a:t>La unica diferencia sistematica entre los grupos es el tratamiento.</a:t>
            </a:r>
            <a:br/>
            <a:r>
              <a:t>Por eso el RCT es el gold standard.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365760"/>
            <a:ext cx="5486400" cy="640080"/>
          </a:xfrm>
          <a:prstGeom prst="roundRect">
            <a:avLst/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800" b="1">
                <a:solidFill>
                  <a:srgbClr val="FFFFFF"/>
                </a:solidFill>
                <a:latin typeface="Ubuntu"/>
              </a:defRPr>
            </a:pPr>
            <a:r>
              <a:t>Caso: Progresa/Oportunidades (Mexico)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0000"/>
                </a:solidFill>
                <a:latin typeface="Ubuntu"/>
              </a:defRPr>
            </a:pPr>
            <a:r>
              <a:t>El RCT mas importante en politica social de America Latina.</a:t>
            </a:r>
            <a:br/>
            <a:r>
              <a:t>En 1998, Mexico asigno aleatoriamente 506 comunidades rurales al programa.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4C7D"/>
                </a:solidFill>
                <a:latin typeface="Ubuntu"/>
              </a:defRPr>
            </a:pPr>
            <a:r>
              <a:t>Diseno: 320 tratamiento + 186 control (asignacion aleatoria por comunidad)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0000"/>
                </a:solidFill>
                <a:latin typeface="Ubuntu"/>
              </a:defRPr>
            </a:pPr>
            <a:r>
              <a:t>Resultados causales:</a:t>
            </a:r>
            <a:br/>
            <a:r>
              <a:t>• +3.4% inscripcion primaria</a:t>
            </a:r>
            <a:br/>
            <a:r>
              <a:t>• +7.2% inscripcion secundaria (ninas)</a:t>
            </a:r>
            <a:br/>
            <a:r>
              <a:t>• Reduccion significativa en desnutricion</a:t>
            </a:r>
            <a:br/>
            <a:r>
              <a:t>• Mayor uso de servicios de salud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7E22"/>
                </a:solidFill>
                <a:latin typeface="Ubuntu"/>
              </a:defRPr>
            </a:pPr>
            <a:r>
              <a:t>Estudios observacionales previos EXAGERABAN los efectos por sesgo de seleccion.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3035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55555"/>
                </a:solidFill>
                <a:latin typeface="Ubuntu"/>
              </a:defRPr>
            </a:pPr>
            <a:r>
              <a:t>Papers: Schultz (2004), Parker &amp; Todd (2017) JPE, Gertler et al. (2012) AER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365760"/>
            <a:ext cx="5486400" cy="640080"/>
          </a:xfrm>
          <a:prstGeom prst="roundRect">
            <a:avLst/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800" b="1">
                <a:solidFill>
                  <a:srgbClr val="FFFFFF"/>
                </a:solidFill>
                <a:latin typeface="Ubuntu"/>
              </a:defRPr>
            </a:pPr>
            <a:r>
              <a:t>Limitaciones de los RCT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Ubuntu"/>
              </a:defRPr>
            </a:pPr>
            <a:r>
              <a:t>Aunque gold standard, no siempre son posibles o deseables: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0392B"/>
                </a:solidFill>
                <a:latin typeface="Ubuntu"/>
              </a:defRPr>
            </a:pPr>
            <a:r>
              <a:t>Eticas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231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000000"/>
                </a:solidFill>
                <a:latin typeface="Ubuntu"/>
              </a:defRPr>
            </a:pPr>
            <a:r>
              <a:t>No puedes asignar aleatoriamente una mala politica.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0175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0392B"/>
                </a:solidFill>
                <a:latin typeface="Ubuntu"/>
              </a:defRPr>
            </a:pPr>
            <a:r>
              <a:t>Practicas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3375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000000"/>
                </a:solidFill>
                <a:latin typeface="Ubuntu"/>
              </a:defRPr>
            </a:pPr>
            <a:r>
              <a:t>Costosos, lentos, dificiles de escalar.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9319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0392B"/>
                </a:solidFill>
                <a:latin typeface="Ubuntu"/>
              </a:defRPr>
            </a:pPr>
            <a:r>
              <a:t>Validez externa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251959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000000"/>
                </a:solidFill>
                <a:latin typeface="Ubuntu"/>
              </a:defRPr>
            </a:pPr>
            <a:r>
              <a:t>¿Se generaliza? Programa en Oaxaca ¿funciona en Nuevo Leon?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029200"/>
            <a:ext cx="10698480" cy="914400"/>
          </a:xfrm>
          <a:prstGeom prst="roundRect">
            <a:avLst/>
          </a:prstGeom>
          <a:solidFill>
            <a:srgbClr val="EA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>
                <a:solidFill>
                  <a:srgbClr val="000000"/>
                </a:solidFill>
                <a:latin typeface="Ubuntu"/>
              </a:defRPr>
            </a:pPr>
            <a:r>
              <a:t>Cuando no puedes hacer RCT, necesitas metodos cuasiexperimentales.</a:t>
            </a:r>
            <a:br/>
            <a:r>
              <a:t>Estos metodos buscan "imitar" la aleatorizacion explotando situaciones naturales.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365760"/>
            <a:ext cx="5486400" cy="640080"/>
          </a:xfrm>
          <a:prstGeom prst="roundRect">
            <a:avLst/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800" b="1">
                <a:solidFill>
                  <a:srgbClr val="FFFFFF"/>
                </a:solidFill>
                <a:latin typeface="Ubuntu"/>
              </a:defRPr>
            </a:pPr>
            <a:r>
              <a:t>Evaluacion de impacto en Mexico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Ubuntu"/>
              </a:defRPr>
            </a:pPr>
            <a:r>
              <a:t>Mexico es pionero en America Latina en evaluacion rigurosa de programas sociales.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4C7D"/>
                </a:solidFill>
                <a:latin typeface="Ubuntu"/>
              </a:defRPr>
            </a:pPr>
            <a:r>
              <a:t>CONEVAL: evalua todos los programas sociales federales con metodos de impacto causal.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0000"/>
                </a:solidFill>
                <a:latin typeface="Ubuntu"/>
              </a:defRPr>
            </a:pPr>
            <a:r>
              <a:t>Programas evaluados con metodos causales:</a:t>
            </a:r>
            <a:br/>
            <a:r>
              <a:t>• Progresa/Oportunidades/Prospera — RCT</a:t>
            </a:r>
            <a:br/>
            <a:r>
              <a:t>• Seguro Popular — RCT por clusters</a:t>
            </a:r>
            <a:br/>
            <a:r>
              <a:t>• Programa de Estancias Infantiles — DiD</a:t>
            </a:r>
            <a:br/>
            <a:r>
              <a:t>• Salario minimo — DiD, IV</a:t>
            </a:r>
            <a:br/>
            <a:r>
              <a:t>• Becas CONACYT — RD</a:t>
            </a:r>
            <a:br/>
            <a:r>
              <a:t>• Programas de empleo temporal — PSM</a:t>
            </a:r>
            <a:br/>
            <a:r>
              <a:t>• Jovenes Construyendo el Futuro — DiD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365760"/>
            <a:ext cx="5486400" cy="640080"/>
          </a:xfrm>
          <a:prstGeom prst="roundRect">
            <a:avLst/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800" b="1">
                <a:solidFill>
                  <a:srgbClr val="FFFFFF"/>
                </a:solidFill>
                <a:latin typeface="Ubuntu"/>
              </a:defRPr>
            </a:pPr>
            <a:r>
              <a:t>Parker &amp; Todd (2017) - Progresa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0000"/>
                </a:solidFill>
                <a:latin typeface="Ubuntu"/>
              </a:defRPr>
            </a:pPr>
            <a:r>
              <a:t>Journal of Political Economy. Efectos de LARGO PLAZO del programa Progresa.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Ubuntu"/>
              </a:defRPr>
            </a:pPr>
            <a:r>
              <a:t>Pregunta: ¿Transferencias condicionadas en educacion durante infancia aumentan</a:t>
            </a:r>
            <a:br/>
            <a:r>
              <a:t>escolaridad, empleo e ingresos en la ADULTEZ?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4C7D"/>
                </a:solidFill>
                <a:latin typeface="Ubuntu"/>
              </a:defRPr>
            </a:pPr>
            <a:r>
              <a:t>Metodo: RCT con seguimiento longitudinal (17 anos).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661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0000"/>
                </a:solidFill>
                <a:latin typeface="Ubuntu"/>
              </a:defRPr>
            </a:pPr>
            <a:r>
              <a:t>Hallazgos:</a:t>
            </a:r>
            <a:br/>
            <a:r>
              <a:t>• +0.8 anos de escolaridad</a:t>
            </a:r>
            <a:br/>
            <a:r>
              <a:t>• Mayor probabilidad de empleo formal</a:t>
            </a:r>
            <a:br/>
            <a:r>
              <a:t>• Efectos mas fuertes en mujeres</a:t>
            </a:r>
            <a:br/>
            <a:r>
              <a:t>• Cada peso invertido genero ~$1.60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303520"/>
            <a:ext cx="10698480" cy="731520"/>
          </a:xfrm>
          <a:prstGeom prst="roundRect">
            <a:avLst/>
          </a:prstGeom>
          <a:solidFill>
            <a:srgbClr val="EA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>
                <a:solidFill>
                  <a:srgbClr val="000000"/>
                </a:solidFill>
                <a:latin typeface="Ubuntu"/>
              </a:defRPr>
            </a:pPr>
            <a:r>
              <a:t>Invertir en educacion temprana tiene retornos a largo plazo medibles.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365760"/>
            <a:ext cx="5486400" cy="640080"/>
          </a:xfrm>
          <a:prstGeom prst="roundRect">
            <a:avLst/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800" b="1">
                <a:solidFill>
                  <a:srgbClr val="FFFFFF"/>
                </a:solidFill>
                <a:latin typeface="Ubuntu"/>
              </a:defRPr>
            </a:pPr>
            <a:r>
              <a:t>King et al. (2009) - Seguro Popular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0000"/>
                </a:solidFill>
                <a:latin typeface="Ubuntu"/>
              </a:defRPr>
            </a:pPr>
            <a:r>
              <a:t>The Lancet. Evaluacion aleatorizada del programa de aseguramiento universal.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4C7D"/>
                </a:solidFill>
                <a:latin typeface="Ubuntu"/>
              </a:defRPr>
            </a:pPr>
            <a:r>
              <a:t>Diseno: RCT por clusters. 100 pares de health clusters en 7 estados.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0000"/>
                </a:solidFill>
                <a:latin typeface="Ubuntu"/>
              </a:defRPr>
            </a:pPr>
            <a:r>
              <a:t>Resultados:</a:t>
            </a:r>
            <a:br/>
            <a:r>
              <a:t>• +23% afiliacion efectiva</a:t>
            </a:r>
            <a:br/>
            <a:r>
              <a:t>• Reduccion de gastos catastroficos en salud</a:t>
            </a:r>
            <a:br/>
            <a:r>
              <a:t>• Mayor uso de servicios preventivos</a:t>
            </a:r>
            <a:br/>
            <a:r>
              <a:t>• Sin efecto significativo en salud general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7E22"/>
                </a:solidFill>
                <a:latin typeface="Ubuntu"/>
              </a:defRPr>
            </a:pPr>
            <a:r>
              <a:t>¿Que habria pasado sin RCT? Estudios observacionales sugerian efectos mucho</a:t>
            </a:r>
            <a:br/>
            <a:r>
              <a:t>mayores en salud. El RCT mostro que el efecto fue proteccion financiera, no salud.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365760"/>
            <a:ext cx="5486400" cy="640080"/>
          </a:xfrm>
          <a:prstGeom prst="roundRect">
            <a:avLst/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800" b="1">
                <a:solidFill>
                  <a:srgbClr val="FFFFFF"/>
                </a:solidFill>
                <a:latin typeface="Ubuntu"/>
              </a:defRPr>
            </a:pPr>
            <a:r>
              <a:t>Salario minimo en Mexico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0000"/>
                </a:solidFill>
                <a:latin typeface="Ubuntu"/>
              </a:defRPr>
            </a:pPr>
            <a:r>
              <a:t>¿Aumentar el salario minimo destruye empleos? Correlacion genera respuestas contradictorias.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0000"/>
                </a:solidFill>
                <a:latin typeface="Ubuntu"/>
              </a:defRPr>
            </a:pPr>
            <a:r>
              <a:t>Correlacion simple: parece que destruye empleo (BAJA confiabilidad)</a:t>
            </a:r>
            <a:br/>
            <a:r>
              <a:t>Regresion con controles: efecto pequeno, p=0.08 (MEDIA confiabilidad)</a:t>
            </a:r>
            <a:br/>
            <a:r>
              <a:t>DiD (Card &amp; Krueger): efecto nulo o positivo (ALTA confiabilidad)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4C7D"/>
                </a:solidFill>
                <a:latin typeface="Ubuntu"/>
              </a:defRPr>
            </a:pPr>
            <a:r>
              <a:t>Mexico (2019-2024): incremento salario minimo &gt;100% real.</a:t>
            </a:r>
            <a:br/>
            <a:r>
              <a:t>Campos-Vazquez (2020) y Esquivel (2021) usando DiD:</a:t>
            </a:r>
            <a:br/>
            <a:r>
              <a:t>efectos POSITIVOS en ingreso sin destruccion significativa de empleo.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029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55555"/>
                </a:solidFill>
                <a:latin typeface="Ubuntu"/>
              </a:defRPr>
            </a:pPr>
            <a:r>
              <a:t>Papers: Card &amp; Krueger (1994) AER, Campos-Vazquez (2020) World Dev.,</a:t>
            </a:r>
            <a:br/>
            <a:r>
              <a:t>Esquivel (2021) CONEVAL, Bosch &amp; Manacorda (2010) AEJ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365760"/>
            <a:ext cx="5486400" cy="640080"/>
          </a:xfrm>
          <a:prstGeom prst="roundRect">
            <a:avLst/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800" b="1">
                <a:solidFill>
                  <a:srgbClr val="FFFFFF"/>
                </a:solidFill>
                <a:latin typeface="Ubuntu"/>
              </a:defRPr>
            </a:pPr>
            <a:r>
              <a:t>¿Por que metodos cuasiexperimentales?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Ubuntu"/>
              </a:defRPr>
            </a:pPr>
            <a:r>
              <a:t>En la mayoria de contextos, no es posible realizar un RCT.</a:t>
            </a:r>
            <a:br/>
            <a:r>
              <a:t>Los cuasiexperimentos buscan imitar la logica experimental.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0000"/>
                </a:solidFill>
                <a:latin typeface="Ubuntu"/>
              </a:defRPr>
            </a:pPr>
            <a:r>
              <a:t>Razones:</a:t>
            </a:r>
            <a:br/>
            <a:r>
              <a:t>• Etica: no puedes negar tratamiento medico a grupo control</a:t>
            </a:r>
            <a:br/>
            <a:r>
              <a:t>• Costo: RCTs son caros y lentos</a:t>
            </a:r>
            <a:br/>
            <a:r>
              <a:t>• Escala: politicas ya implementadas no se pueden "des-implementar"</a:t>
            </a:r>
            <a:br/>
            <a:r>
              <a:t>• Retrospectiva: quieres evaluar algo que ya paso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754880"/>
            <a:ext cx="10698480" cy="1097280"/>
          </a:xfrm>
          <a:prstGeom prst="roundRect">
            <a:avLst/>
          </a:prstGeom>
          <a:solidFill>
            <a:srgbClr val="EA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>
                <a:solidFill>
                  <a:srgbClr val="000000"/>
                </a:solidFill>
                <a:latin typeface="Ubuntu"/>
              </a:defRPr>
            </a:pPr>
            <a:r>
              <a:t>Idea central: Si no puedes aleatorizar, busca una situacion donde la naturaleza,</a:t>
            </a:r>
            <a:br/>
            <a:r>
              <a:t>la politica o reglas burocraticas crearon asignacion que SE PARECE a aleatoria.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365760"/>
            <a:ext cx="5486400" cy="640080"/>
          </a:xfrm>
          <a:prstGeom prst="roundRect">
            <a:avLst/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800" b="1">
                <a:solidFill>
                  <a:srgbClr val="FFFFFF"/>
                </a:solidFill>
                <a:latin typeface="Ubuntu"/>
              </a:defRPr>
            </a:pPr>
            <a:r>
              <a:t>Diferencias en Diferencias (DiD)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0000"/>
                </a:solidFill>
                <a:latin typeface="Ubuntu"/>
              </a:defRPr>
            </a:pPr>
            <a:r>
              <a:t>Compara el CAMBIO en resultado entre grupo tratado y control, antes y despues: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0000"/>
                </a:solidFill>
                <a:latin typeface="Ubuntu"/>
              </a:defRPr>
            </a:pPr>
            <a:r>
              <a:t>                     Antes    Despues    Cambio</a:t>
            </a:r>
            <a:br/>
            <a:r>
              <a:t>Tratados:           60%       75%          +15%</a:t>
            </a:r>
            <a:br/>
            <a:r>
              <a:t>Control:              58%       68%          +10%</a:t>
            </a:r>
            <a:br/>
            <a:r>
              <a:t>DiD:                                                     +5% (efecto causal)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4C7D"/>
                </a:solidFill>
                <a:latin typeface="Ubuntu"/>
              </a:defRPr>
            </a:pPr>
            <a:r>
              <a:t>Formula: DiD = (Y_T,post - Y_T,pre) - (Y_C,post - Y_C,pre)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0392B"/>
                </a:solidFill>
                <a:latin typeface="Ubuntu"/>
              </a:defRPr>
            </a:pPr>
            <a:r>
              <a:t>Supuesto critico: TENDENCIAS PARALELAS — sin tratamiento, ambos grupos</a:t>
            </a:r>
            <a:br/>
            <a:r>
              <a:t>habrian seguido la misma tendencia.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486400"/>
            <a:ext cx="10698480" cy="731520"/>
          </a:xfrm>
          <a:prstGeom prst="roundRect">
            <a:avLst/>
          </a:prstGeom>
          <a:solidFill>
            <a:srgbClr val="EA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>
                <a:solidFill>
                  <a:srgbClr val="000000"/>
                </a:solidFill>
                <a:latin typeface="Ubuntu"/>
              </a:defRPr>
            </a:pPr>
            <a:r>
              <a:t>El grupo control dice "que habria pasado" al grupo tratado sin la intervencion.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365760"/>
            <a:ext cx="5486400" cy="640080"/>
          </a:xfrm>
          <a:prstGeom prst="roundRect">
            <a:avLst/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800" b="1">
                <a:solidFill>
                  <a:srgbClr val="FFFFFF"/>
                </a:solidFill>
                <a:latin typeface="Ubuntu"/>
              </a:defRPr>
            </a:pPr>
            <a:r>
              <a:t>DiD en Mexico: Ejemplos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4C7D"/>
                </a:solidFill>
                <a:latin typeface="Ubuntu"/>
              </a:defRPr>
            </a:pPr>
            <a:r>
              <a:t>Estancias Infantiles (Angeles et al., 2014, World Dev.):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000000"/>
                </a:solidFill>
                <a:latin typeface="Ubuntu"/>
              </a:defRPr>
            </a:pPr>
            <a:r>
              <a:t>Pregunta: ¿Estancias infantiles aumentan participacion laboral femenina?</a:t>
            </a:r>
            <a:br/>
            <a:r>
              <a:t>DiD: Municipios con vs. sin estancias, antes y despues.</a:t>
            </a:r>
            <a:br/>
            <a:r>
              <a:t>Resultado: +5 pp en participacion laboral de madres.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4C7D"/>
                </a:solidFill>
                <a:latin typeface="Ubuntu"/>
              </a:defRPr>
            </a:pPr>
            <a:r>
              <a:t>Impuesto a bebidas azucaradas (Colchero et al., 2016, BMJ):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49039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000000"/>
                </a:solidFill>
                <a:latin typeface="Ubuntu"/>
              </a:defRPr>
            </a:pPr>
            <a:r>
              <a:t>Pregunta: ¿El IEPS redujo consumo de bebidas azucaradas?</a:t>
            </a:r>
            <a:br/>
            <a:r>
              <a:t>DiD: Consumo antes y despues del impuesto (2014).</a:t>
            </a:r>
            <a:br/>
            <a:r>
              <a:t>Resultado: -6% en consumo de bebidas azucaradas.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303520"/>
            <a:ext cx="10698480" cy="731520"/>
          </a:xfrm>
          <a:prstGeom prst="roundRect">
            <a:avLst/>
          </a:prstGeom>
          <a:solidFill>
            <a:srgbClr val="EA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>
                <a:solidFill>
                  <a:srgbClr val="000000"/>
                </a:solidFill>
                <a:latin typeface="Ubuntu"/>
              </a:defRPr>
            </a:pPr>
            <a:r>
              <a:t>En ambos casos era imposible hacer RCT. DiD aprovecho la implementacion escalonada.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365760"/>
            <a:ext cx="5486400" cy="640080"/>
          </a:xfrm>
          <a:prstGeom prst="roundRect">
            <a:avLst/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800" b="1">
                <a:solidFill>
                  <a:srgbClr val="FFFFFF"/>
                </a:solidFill>
                <a:latin typeface="Ubuntu"/>
              </a:defRPr>
            </a:pPr>
            <a:r>
              <a:t>Regresion Discontinua (RD)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0000"/>
                </a:solidFill>
                <a:latin typeface="Ubuntu"/>
              </a:defRPr>
            </a:pPr>
            <a:r>
              <a:t>Cuando hay un CORTE (cutoff) que determina quien recibe tratamiento, comparamos</a:t>
            </a:r>
            <a:br/>
            <a:r>
              <a:t>unidades justo arriba y justo abajo del corte.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0000"/>
                </a:solidFill>
                <a:latin typeface="Ubuntu"/>
              </a:defRPr>
            </a:pPr>
            <a:r>
              <a:t>Ejemplo: Beca si puntaje &gt; 60. Estudiante con 61 es practicamente identico a uno con 59.</a:t>
            </a:r>
            <a:br/>
            <a:r>
              <a:t>La unica diferencia relevante es la beca.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4C7D"/>
                </a:solidFill>
                <a:latin typeface="Ubuntu"/>
              </a:defRPr>
            </a:pPr>
            <a:r>
              <a:t>Efecto = salto en Y justo en el punto de corte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9319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0392B"/>
                </a:solidFill>
                <a:latin typeface="Ubuntu"/>
              </a:defRPr>
            </a:pPr>
            <a:r>
              <a:t>Supuesto clave: No hay manipulacion del puntaje alrededor del corte.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5720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E67E22"/>
                </a:solidFill>
                <a:latin typeface="Ubuntu"/>
              </a:defRPr>
            </a:pPr>
            <a:r>
              <a:t>Limitacion: Efecto LOCAL (solo valido cerca del corte). El efecto puede ser</a:t>
            </a:r>
            <a:br/>
            <a:r>
              <a:t>diferente para personas lejos del cutoff.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365760"/>
            <a:ext cx="5486400" cy="640080"/>
          </a:xfrm>
          <a:prstGeom prst="roundRect">
            <a:avLst/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800" b="1">
                <a:solidFill>
                  <a:srgbClr val="FFFFFF"/>
                </a:solidFill>
                <a:latin typeface="Ubuntu"/>
              </a:defRPr>
            </a:pPr>
            <a:r>
              <a:t>RD en Mexico: Ejemplos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4C7D"/>
                </a:solidFill>
                <a:latin typeface="Ubuntu"/>
              </a:defRPr>
            </a:pPr>
            <a:r>
              <a:t>Becas CONACYT (De Hoyos et al., 2016):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000000"/>
                </a:solidFill>
                <a:latin typeface="Ubuntu"/>
              </a:defRPr>
            </a:pPr>
            <a:r>
              <a:t>Cutoff: Puntaje de evaluacion del comite.</a:t>
            </a:r>
            <a:br/>
            <a:r>
              <a:t>RD: Solicitantes justo arriba vs. justo abajo del corte de aceptacion.</a:t>
            </a:r>
            <a:br/>
            <a:r>
              <a:t>Resultado: +15% probabilidad completar posgrado, +12% ingreso posterior.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4C7D"/>
                </a:solidFill>
                <a:latin typeface="Ubuntu"/>
              </a:defRPr>
            </a:pPr>
            <a:r>
              <a:t>Progresa - RD + RCT (Buddelmeyer &amp; Skoufias, 2004):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49039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000000"/>
                </a:solidFill>
                <a:latin typeface="Ubuntu"/>
              </a:defRPr>
            </a:pPr>
            <a:r>
              <a:t>Cutoff: Indice de marginacion del municipio.</a:t>
            </a:r>
            <a:br/>
            <a:r>
              <a:t>Ademas del RCT, usaron RD en el indice de pobreza.</a:t>
            </a:r>
            <a:br/>
            <a:r>
              <a:t>Resultado: Efecto ~2% en graduacion justo en el corte.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303520"/>
            <a:ext cx="10698480" cy="731520"/>
          </a:xfrm>
          <a:prstGeom prst="roundRect">
            <a:avLst/>
          </a:prstGeom>
          <a:solidFill>
            <a:srgbClr val="EA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>
                <a:solidFill>
                  <a:srgbClr val="000000"/>
                </a:solidFill>
                <a:latin typeface="Ubuntu"/>
              </a:defRPr>
            </a:pPr>
            <a:r>
              <a:t>RD da efecto LOCAL (solo valido cerca del corte). Complementa al RCT.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365760"/>
            <a:ext cx="5486400" cy="640080"/>
          </a:xfrm>
          <a:prstGeom prst="roundRect">
            <a:avLst/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800" b="1">
                <a:solidFill>
                  <a:srgbClr val="FFFFFF"/>
                </a:solidFill>
                <a:latin typeface="Ubuntu"/>
              </a:defRPr>
            </a:pPr>
            <a:r>
              <a:t>Variables Instrumentales (IV)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0000"/>
                </a:solidFill>
                <a:latin typeface="Ubuntu"/>
              </a:defRPr>
            </a:pPr>
            <a:r>
              <a:t>Cuando hay confusion, buscamos un instrumento Z que afecte X</a:t>
            </a:r>
            <a:br/>
            <a:r>
              <a:t>pero NO afecte Y excepto a traves de X.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4C7D"/>
                </a:solidFill>
                <a:latin typeface="Ubuntu"/>
              </a:defRPr>
            </a:pPr>
            <a:r>
              <a:t>Z (instrumento)  →  X (tratamiento)  →  Y (resultado)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67E22"/>
                </a:solidFill>
                <a:latin typeface="Ubuntu"/>
              </a:defRPr>
            </a:pPr>
            <a:r>
              <a:t>U (no observada) afecta X e Y, pero Z NO se relaciona con 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661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000000"/>
                </a:solidFill>
                <a:latin typeface="Ubuntu"/>
              </a:defRPr>
            </a:pPr>
            <a:r>
              <a:t>Ejemplo clasico - Educacion → salarios:</a:t>
            </a:r>
            <a:br/>
            <a:r>
              <a:t>Problema: Habilidad innata causa mas educacion Y mas salario.</a:t>
            </a:r>
            <a:br/>
            <a:r>
              <a:t>Instrumento: Cambios en leyes de escolaridad obligatoria.</a:t>
            </a:r>
            <a:br/>
            <a:r>
              <a:t>(Angrist &amp; Krueger, 1991 QJE)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9377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000000"/>
                </a:solidFill>
                <a:latin typeface="Ubuntu"/>
              </a:defRPr>
            </a:pPr>
            <a:r>
              <a:t>Mexico - Bosch &amp; Manacorda (2010) AEJ:</a:t>
            </a:r>
            <a:br/>
            <a:r>
              <a:t>Usan variacion en salario minimo como instrumento para medir efecto en desigualdad.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365760"/>
            <a:ext cx="5486400" cy="640080"/>
          </a:xfrm>
          <a:prstGeom prst="roundRect">
            <a:avLst/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800" b="1">
                <a:solidFill>
                  <a:srgbClr val="FFFFFF"/>
                </a:solidFill>
                <a:latin typeface="Ubuntu"/>
              </a:defRPr>
            </a:pPr>
            <a:r>
              <a:t>Propensity Score Matching (PSM)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0000"/>
                </a:solidFill>
                <a:latin typeface="Ubuntu"/>
              </a:defRPr>
            </a:pPr>
            <a:r>
              <a:t>Cuando no tienes aleatorizacion, corte ni instrumento: EMPAREJA unidades</a:t>
            </a:r>
            <a:br/>
            <a:r>
              <a:t>tratadas con controles que sean lo mas parecidas posible.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4C7D"/>
                </a:solidFill>
                <a:latin typeface="Ubuntu"/>
              </a:defRPr>
            </a:pPr>
            <a:r>
              <a:t>Paso 1: Estimar probabilidad de recibir tratamiento = propensity score p(X)</a:t>
            </a:r>
            <a:br/>
            <a:r>
              <a:t>Paso 2: Emparejar cada tratado con control que tenga p(X) similar</a:t>
            </a:r>
            <a:br/>
            <a:r>
              <a:t>Paso 3: Comparar resultados entre pares emparejados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7AE60"/>
                </a:solidFill>
                <a:latin typeface="Ubuntu"/>
              </a:defRPr>
            </a:pPr>
            <a:r>
              <a:t>Ventaja: No requiere instrumento, corte ni datos antes/despues.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062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0392B"/>
                </a:solidFill>
                <a:latin typeface="Ubuntu"/>
              </a:defRPr>
            </a:pPr>
            <a:r>
              <a:t>Limitacion: Solo controla por variables OBSERVADAS. Si hay confusores no medidos, el sesgo persiste.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120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55555"/>
                </a:solidFill>
                <a:latin typeface="Ubuntu"/>
              </a:defRPr>
            </a:pPr>
            <a:r>
              <a:t>Mexico: Behrman, Parker &amp; Todd (2011) J. Human Resources - PSM para Oportunidades.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365760"/>
            <a:ext cx="5486400" cy="640080"/>
          </a:xfrm>
          <a:prstGeom prst="roundRect">
            <a:avLst/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800" b="1">
                <a:solidFill>
                  <a:srgbClr val="FFFFFF"/>
                </a:solidFill>
                <a:latin typeface="Ubuntu"/>
              </a:defRPr>
            </a:pPr>
            <a:r>
              <a:t>Comparativa de metodos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Ubuntu"/>
              </a:defRPr>
            </a:pPr>
            <a:r>
              <a:t>Metodo      Idea central                  Supuesto clave              Paquete R</a:t>
            </a:r>
            <a:br/>
            <a:r>
              <a:t>RCT           Asignacion aleatoria       Aleatorizacion exitosa     estimatr</a:t>
            </a:r>
            <a:br/>
            <a:r>
              <a:t>DiD            Diferencia de cambios     Tendencias paralelas      fixest, did</a:t>
            </a:r>
            <a:br/>
            <a:r>
              <a:t>RD             Comparar en el corte       No manipulacion             rdrobust</a:t>
            </a:r>
            <a:br/>
            <a:r>
              <a:t>IV              Variable exogena             Exclusion (Z→Y via X)   ivreg</a:t>
            </a:r>
            <a:br/>
            <a:r>
              <a:t>PSM           Emparejar similares         No confusores ocultos     MatchIt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2062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4C7D"/>
                </a:solidFill>
                <a:latin typeface="Ubuntu"/>
              </a:defRPr>
            </a:pPr>
            <a:r>
              <a:t>Jerarquia de credibilidad causal (de mayor a menor):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75488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0000"/>
                </a:solidFill>
                <a:latin typeface="Ubuntu"/>
              </a:defRPr>
            </a:pPr>
            <a:r>
              <a:t>RCT  &gt;  RD  &gt;  DiD  &gt;  IV  &gt;  PSM  &gt;  Regresion con controles  &gt;  Correlacion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365760"/>
            <a:ext cx="5486400" cy="640080"/>
          </a:xfrm>
          <a:prstGeom prst="roundRect">
            <a:avLst/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800" b="1">
                <a:solidFill>
                  <a:srgbClr val="FFFFFF"/>
                </a:solidFill>
                <a:latin typeface="Ubuntu"/>
              </a:defRPr>
            </a:pPr>
            <a:r>
              <a:t>Papers fundamentales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Ubuntu"/>
              </a:defRPr>
            </a:pPr>
            <a:r>
              <a:t>• Angrist &amp; Pischke (2008) — Mostly Harmless Econometrics. Princeton UP.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Ubuntu"/>
              </a:defRPr>
            </a:pPr>
            <a:r>
              <a:t>• Rubin (1974) — Potential outcomes framework. J. Ed. Psychology.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Ubuntu"/>
              </a:defRPr>
            </a:pPr>
            <a:r>
              <a:t>• Pearl (2000) — Causality: Models, Reasoning, Inference. Cambridge UP.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918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Ubuntu"/>
              </a:defRPr>
            </a:pPr>
            <a:r>
              <a:t>• Holland (1986) — Statistics and Causal Inference. JASA.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9319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Ubuntu"/>
              </a:defRPr>
            </a:pPr>
            <a:r>
              <a:t>• Athey &amp; Wager (2019) — Generalized Random Forests. Annals of Statistics.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5720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Ubuntu"/>
              </a:defRPr>
            </a:pPr>
            <a:r>
              <a:t>• Chernozhukov et al. (2018) — Double/Debiased ML. Econometric Journal.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21208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Ubuntu"/>
              </a:defRPr>
            </a:pPr>
            <a:r>
              <a:t>• Cunningham (2021) — Causal Inference: The Mixtape. Gratis online.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8521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Ubuntu"/>
              </a:defRPr>
            </a:pPr>
            <a:r>
              <a:t>• Card &amp; Krueger (1994) — Salario minimo DiD. AER.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365760"/>
            <a:ext cx="5486400" cy="640080"/>
          </a:xfrm>
          <a:prstGeom prst="roundRect">
            <a:avLst/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800" b="1">
                <a:solidFill>
                  <a:srgbClr val="FFFFFF"/>
                </a:solidFill>
                <a:latin typeface="Ubuntu"/>
              </a:defRPr>
            </a:pPr>
            <a:r>
              <a:t>Papers de Mexico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00000"/>
                </a:solidFill>
                <a:latin typeface="Ubuntu"/>
              </a:defRPr>
            </a:pPr>
            <a:r>
              <a:t>• RCT — Parker &amp; Todd (2017) JPE — Progresa largo plazo: +0.8 años escolaridad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00000"/>
                </a:solidFill>
                <a:latin typeface="Ubuntu"/>
              </a:defRPr>
            </a:pPr>
            <a:r>
              <a:t>• RCT — King et al. (2009) Lancet — Seguro Popular: proteccion financiera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00000"/>
                </a:solidFill>
                <a:latin typeface="Ubuntu"/>
              </a:defRPr>
            </a:pPr>
            <a:r>
              <a:t>• RCT — Gertler et al. (2012) AER — Progresa: inversion productiva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0175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00000"/>
                </a:solidFill>
                <a:latin typeface="Ubuntu"/>
              </a:defRPr>
            </a:pPr>
            <a:r>
              <a:t>• DiD — Campos-Vazquez (2020) World Dev. — Salario minimo: sin destruccion empleo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5661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00000"/>
                </a:solidFill>
                <a:latin typeface="Ubuntu"/>
              </a:defRPr>
            </a:pPr>
            <a:r>
              <a:t>• DiD — Colchero et al. (2016) BMJ — IEPS bebidas: -6% consumo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1148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00000"/>
                </a:solidFill>
                <a:latin typeface="Ubuntu"/>
              </a:defRPr>
            </a:pPr>
            <a:r>
              <a:t>• DiD — Angeles et al. (2014) World Dev. — Estancias Infantiles: +5pp empleo mujeres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634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00000"/>
                </a:solidFill>
                <a:latin typeface="Ubuntu"/>
              </a:defRPr>
            </a:pPr>
            <a:r>
              <a:t>• RD — De Hoyos et al. (2016) — Becas CONACYT: +15% completar posgrado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212079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00000"/>
                </a:solidFill>
                <a:latin typeface="Ubuntu"/>
              </a:defRPr>
            </a:pPr>
            <a:r>
              <a:t>• IV — Bosch &amp; Manacorda (2010) AEJ — Salario minimo y desigualdad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760719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00000"/>
                </a:solidFill>
                <a:latin typeface="Ubuntu"/>
              </a:defRPr>
            </a:pPr>
            <a:r>
              <a:t>• PSM — Behrman et al. (2011) J. Hum. Res. — Oportunidades no experimental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365760"/>
            <a:ext cx="5486400" cy="640080"/>
          </a:xfrm>
          <a:prstGeom prst="roundRect">
            <a:avLst/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800" b="1">
                <a:solidFill>
                  <a:srgbClr val="FFFFFF"/>
                </a:solidFill>
                <a:latin typeface="Ubuntu"/>
              </a:defRPr>
            </a:pPr>
            <a:r>
              <a:t>Recursos adicionales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4C7D"/>
                </a:solidFill>
                <a:latin typeface="Ubuntu"/>
              </a:defRPr>
            </a:pPr>
            <a:r>
              <a:t>Libros gratuitos: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000000"/>
                </a:solidFill>
                <a:latin typeface="Ubuntu"/>
              </a:defRPr>
            </a:pPr>
            <a:r>
              <a:t>• Cunningham — Causal Inference: The Mixtape (mixtape.scunning.com)</a:t>
            </a:r>
            <a:br/>
            <a:r>
              <a:t>• Huntington-Klein — The Effect (theeffectbook.net)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4C7D"/>
                </a:solidFill>
                <a:latin typeface="Ubuntu"/>
              </a:defRPr>
            </a:pPr>
            <a:r>
              <a:t>Instituciones (Mexico):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000000"/>
                </a:solidFill>
                <a:latin typeface="Ubuntu"/>
              </a:defRPr>
            </a:pPr>
            <a:r>
              <a:t>• CONEVAL — Evaluaciones de impacto</a:t>
            </a:r>
            <a:br/>
            <a:r>
              <a:t>• J-PAL LAC — RCTs en America Latina</a:t>
            </a:r>
            <a:br/>
            <a:r>
              <a:t>• BID — Guias de evaluacion de impacto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3891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4C7D"/>
                </a:solidFill>
                <a:latin typeface="Ubuntu"/>
              </a:defRPr>
            </a:pPr>
            <a:r>
              <a:t>Cursos online: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8463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000000"/>
                </a:solidFill>
                <a:latin typeface="Ubuntu"/>
              </a:defRPr>
            </a:pPr>
            <a:r>
              <a:t>• MIT OCW — Econometrics (Angrist)</a:t>
            </a:r>
            <a:br/>
            <a:r>
              <a:t>• Coursera — Causal Inference (UPenn)</a:t>
            </a:r>
            <a:br/>
            <a:r>
              <a:t>• edX — Evaluating Social Programs (MIT/J-PAL)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365760"/>
            <a:ext cx="5486400" cy="640080"/>
          </a:xfrm>
          <a:prstGeom prst="roundRect">
            <a:avLst/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800" b="1">
                <a:solidFill>
                  <a:srgbClr val="FFFFFF"/>
                </a:solidFill>
                <a:latin typeface="Ubuntu"/>
              </a:defRPr>
            </a:pPr>
            <a:r>
              <a:t>R: Simulacion de datos causales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10698480" cy="5029200"/>
          </a:xfrm>
          <a:prstGeom prst="round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ts val="1800"/>
              </a:lnSpc>
              <a:defRPr sz="1300">
                <a:solidFill>
                  <a:srgbClr val="E0E0E0"/>
                </a:solidFill>
                <a:latin typeface="Courier New"/>
              </a:defRPr>
            </a:pPr>
            <a:r>
              <a:t>library(tidyverse)</a:t>
            </a:r>
            <a:br/>
            <a:r>
              <a:t>set.seed(42)</a:t>
            </a:r>
            <a:br/>
            <a:r>
              <a:t>n &lt;- 1000</a:t>
            </a:r>
            <a:br/>
            <a:br/>
            <a:r>
              <a:t>datos &lt;- tibble(</a:t>
            </a:r>
            <a:br/>
            <a:r>
              <a:t>  ingreso   = rnorm(n, 50000, 15000),</a:t>
            </a:r>
            <a:br/>
            <a:r>
              <a:t>  edu_madre = sample(1:16, n, replace = TRUE),</a:t>
            </a:r>
            <a:br/>
            <a:r>
              <a:t>  prob_trat = plogis(-2 + 0.00003*ingreso + 0.1*edu_madre),</a:t>
            </a:r>
            <a:br/>
            <a:r>
              <a:t>  beca      = rbinom(n, 1, prob_trat),</a:t>
            </a:r>
            <a:br/>
            <a:r>
              <a:t>  # Efecto causal REAL = 5 pp</a:t>
            </a:r>
            <a:br/>
            <a:r>
              <a:t>  graduacion = rbinom(n, 1,</a:t>
            </a:r>
            <a:br/>
            <a:r>
              <a:t>    plogis(-1 + 0.00002*ingreso + 0.08*edu_madre + 0.2*beca))</a:t>
            </a:r>
            <a:br/>
            <a:r>
              <a:t>)</a:t>
            </a:r>
            <a:br/>
            <a:br/>
            <a:r>
              <a:t># Correlacion simple (sesgada!)</a:t>
            </a:r>
            <a:br/>
            <a:r>
              <a:t>datos %&gt;% group_by(beca) %&gt;%</a:t>
            </a:r>
            <a:br/>
            <a:r>
              <a:t>  summarise(tasa_grad = mean(graduacion))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365760"/>
            <a:ext cx="5486400" cy="640080"/>
          </a:xfrm>
          <a:prstGeom prst="roundRect">
            <a:avLst/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800" b="1">
                <a:solidFill>
                  <a:srgbClr val="FFFFFF"/>
                </a:solidFill>
                <a:latin typeface="Ubuntu"/>
              </a:defRPr>
            </a:pPr>
            <a:r>
              <a:t>R: Correlacional vs. con controles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10698480" cy="5029200"/>
          </a:xfrm>
          <a:prstGeom prst="round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ts val="1800"/>
              </a:lnSpc>
              <a:defRPr sz="1300">
                <a:solidFill>
                  <a:srgbClr val="E0E0E0"/>
                </a:solidFill>
                <a:latin typeface="Courier New"/>
              </a:defRPr>
            </a:pPr>
            <a:r>
              <a:t># Modelo 1: Correlacion simple (sesgado)</a:t>
            </a:r>
            <a:br/>
            <a:r>
              <a:t>modelo_simple &lt;- glm(graduacion ~ beca,</a:t>
            </a:r>
            <a:br/>
            <a:r>
              <a:t>  data = datos, family = binomial)</a:t>
            </a:r>
            <a:br/>
            <a:br/>
            <a:r>
              <a:t># Modelo 2: Con controles (mejor)</a:t>
            </a:r>
            <a:br/>
            <a:r>
              <a:t>modelo_controles &lt;- glm(</a:t>
            </a:r>
            <a:br/>
            <a:r>
              <a:t>  graduacion ~ beca + ingreso + edu_madre,</a:t>
            </a:r>
            <a:br/>
            <a:r>
              <a:t>  data = datos, family = binomial)</a:t>
            </a:r>
            <a:br/>
            <a:br/>
            <a:r>
              <a:t># Comparar efectos marginales</a:t>
            </a:r>
            <a:br/>
            <a:r>
              <a:t>library(marginaleffects)</a:t>
            </a:r>
            <a:br/>
            <a:r>
              <a:t>avg_slopes(modelo_simple, variables = "beca")</a:t>
            </a:r>
            <a:br/>
            <a:r>
              <a:t>  # ~12% (sesgado)</a:t>
            </a:r>
            <a:br/>
            <a:r>
              <a:t>avg_slopes(modelo_controles, variables = "beca")</a:t>
            </a:r>
            <a:br/>
            <a:r>
              <a:t>  # ~6% (mas cerca del 5% real)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365760"/>
            <a:ext cx="5486400" cy="640080"/>
          </a:xfrm>
          <a:prstGeom prst="roundRect">
            <a:avLst/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800" b="1">
                <a:solidFill>
                  <a:srgbClr val="FFFFFF"/>
                </a:solidFill>
                <a:latin typeface="Ubuntu"/>
              </a:defRPr>
            </a:pPr>
            <a:r>
              <a:t>R: Diferencias en Diferencias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10698480" cy="5029200"/>
          </a:xfrm>
          <a:prstGeom prst="round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ts val="1800"/>
              </a:lnSpc>
              <a:defRPr sz="1300">
                <a:solidFill>
                  <a:srgbClr val="E0E0E0"/>
                </a:solidFill>
                <a:latin typeface="Courier New"/>
              </a:defRPr>
            </a:pPr>
            <a:r>
              <a:t>library(fixest)</a:t>
            </a:r>
            <a:br/>
            <a:br/>
            <a:r>
              <a:t># DiD clasico con efectos fijos</a:t>
            </a:r>
            <a:br/>
            <a:r>
              <a:t>modelo_did &lt;- feols(</a:t>
            </a:r>
            <a:br/>
            <a:r>
              <a:t>  graduacion ~ tratado * post |</a:t>
            </a:r>
            <a:br/>
            <a:r>
              <a:t>    municipio + anio,</a:t>
            </a:r>
            <a:br/>
            <a:r>
              <a:t>  data = datos_panel,</a:t>
            </a:r>
            <a:br/>
            <a:r>
              <a:t>  cluster = ~municipio</a:t>
            </a:r>
            <a:br/>
            <a:r>
              <a:t>)</a:t>
            </a:r>
            <a:br/>
            <a:r>
              <a:t>summary(modelo_did)</a:t>
            </a:r>
            <a:br/>
            <a:r>
              <a:t># Coef de tratado:post = efecto causal DiD</a:t>
            </a:r>
            <a:br/>
            <a:br/>
            <a:r>
              <a:t># Event study (tendencias paralelas)</a:t>
            </a:r>
            <a:br/>
            <a:r>
              <a:t>modelo_event &lt;- feols(</a:t>
            </a:r>
            <a:br/>
            <a:r>
              <a:t>  graduacion ~ i(anio_rel, tratado, ref = -1) |</a:t>
            </a:r>
            <a:br/>
            <a:r>
              <a:t>    municipio + anio,</a:t>
            </a:r>
            <a:br/>
            <a:r>
              <a:t>  data = datos_panel</a:t>
            </a:r>
            <a:br/>
            <a:r>
              <a:t>)</a:t>
            </a:r>
            <a:br/>
            <a:r>
              <a:t>iplot(modelo_event)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365760"/>
            <a:ext cx="5486400" cy="640080"/>
          </a:xfrm>
          <a:prstGeom prst="roundRect">
            <a:avLst/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800" b="1">
                <a:solidFill>
                  <a:srgbClr val="FFFFFF"/>
                </a:solidFill>
                <a:latin typeface="Ubuntu"/>
              </a:defRPr>
            </a:pPr>
            <a:r>
              <a:t>R: Regresion Discontinua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10698480" cy="5029200"/>
          </a:xfrm>
          <a:prstGeom prst="round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ts val="1800"/>
              </a:lnSpc>
              <a:defRPr sz="1300">
                <a:solidFill>
                  <a:srgbClr val="E0E0E0"/>
                </a:solidFill>
                <a:latin typeface="Courier New"/>
              </a:defRPr>
            </a:pPr>
            <a:r>
              <a:t>library(rdrobust)</a:t>
            </a:r>
            <a:br/>
            <a:br/>
            <a:r>
              <a:t># Estimacion RD con bandwidth optimo</a:t>
            </a:r>
            <a:br/>
            <a:r>
              <a:t>rd_resultado &lt;- rdrobust(</a:t>
            </a:r>
            <a:br/>
            <a:r>
              <a:t>  y = datos$graduacion,</a:t>
            </a:r>
            <a:br/>
            <a:r>
              <a:t>  x = datos$puntaje,</a:t>
            </a:r>
            <a:br/>
            <a:r>
              <a:t>  c = 60</a:t>
            </a:r>
            <a:br/>
            <a:r>
              <a:t>)</a:t>
            </a:r>
            <a:br/>
            <a:r>
              <a:t>summary(rd_resultado)</a:t>
            </a:r>
            <a:br/>
            <a:br/>
            <a:r>
              <a:t># Grafica de discontinuidad</a:t>
            </a:r>
            <a:br/>
            <a:r>
              <a:t>rdplot(</a:t>
            </a:r>
            <a:br/>
            <a:r>
              <a:t>  y = datos$graduacion,</a:t>
            </a:r>
            <a:br/>
            <a:r>
              <a:t>  x = datos$puntaje,</a:t>
            </a:r>
            <a:br/>
            <a:r>
              <a:t>  c = 60,</a:t>
            </a:r>
            <a:br/>
            <a:r>
              <a:t>  title = "RD: efecto de beca",</a:t>
            </a:r>
            <a:br/>
            <a:r>
              <a:t>  x.label = "Puntaje de pobreza",</a:t>
            </a:r>
            <a:br/>
            <a:r>
              <a:t>  y.label = "Tasa de graduacion"</a:t>
            </a:r>
            <a:br/>
            <a:r>
              <a:t>)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365760"/>
            <a:ext cx="5486400" cy="640080"/>
          </a:xfrm>
          <a:prstGeom prst="roundRect">
            <a:avLst/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800" b="1">
                <a:solidFill>
                  <a:srgbClr val="FFFFFF"/>
                </a:solidFill>
                <a:latin typeface="Ubuntu"/>
              </a:defRPr>
            </a:pPr>
            <a:r>
              <a:t>R: Variables Instrumentales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10698480" cy="5029200"/>
          </a:xfrm>
          <a:prstGeom prst="round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ts val="1800"/>
              </a:lnSpc>
              <a:defRPr sz="1300">
                <a:solidFill>
                  <a:srgbClr val="E0E0E0"/>
                </a:solidFill>
                <a:latin typeface="Courier New"/>
              </a:defRPr>
            </a:pPr>
            <a:r>
              <a:t>library(ivreg)</a:t>
            </a:r>
            <a:br/>
            <a:br/>
            <a:r>
              <a:t># OLS (sesgado por habilidad no observada)</a:t>
            </a:r>
            <a:br/>
            <a:r>
              <a:t>ols &lt;- lm(log_salario ~ anios_edu + experiencia,</a:t>
            </a:r>
            <a:br/>
            <a:r>
              <a:t>  data = datos)</a:t>
            </a:r>
            <a:br/>
            <a:br/>
            <a:r>
              <a:t># IV: instrumentamos anios_edu con distancia_uni</a:t>
            </a:r>
            <a:br/>
            <a:r>
              <a:t>iv &lt;- ivreg(</a:t>
            </a:r>
            <a:br/>
            <a:r>
              <a:t>  log_salario ~ anios_edu + experiencia |</a:t>
            </a:r>
            <a:br/>
            <a:r>
              <a:t>    distancia_uni + experiencia,</a:t>
            </a:r>
            <a:br/>
            <a:r>
              <a:t>  data = datos</a:t>
            </a:r>
            <a:br/>
            <a:r>
              <a:t>)</a:t>
            </a:r>
            <a:br/>
            <a:br/>
            <a:r>
              <a:t>summary(iv, diagnostics = TRUE)</a:t>
            </a:r>
            <a:br/>
            <a:r>
              <a:t># Verificar: F primera etapa &gt; 10</a:t>
            </a:r>
            <a:br/>
            <a:r>
              <a:t># Si F &lt; 10: instrumento debil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365760"/>
            <a:ext cx="5486400" cy="640080"/>
          </a:xfrm>
          <a:prstGeom prst="roundRect">
            <a:avLst/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800" b="1">
                <a:solidFill>
                  <a:srgbClr val="FFFFFF"/>
                </a:solidFill>
                <a:latin typeface="Ubuntu"/>
              </a:defRPr>
            </a:pPr>
            <a:r>
              <a:t>R: Visualizacion causal con ggplot2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10698480" cy="5029200"/>
          </a:xfrm>
          <a:prstGeom prst="round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ts val="1800"/>
              </a:lnSpc>
              <a:defRPr sz="1300">
                <a:solidFill>
                  <a:srgbClr val="E0E0E0"/>
                </a:solidFill>
                <a:latin typeface="Courier New"/>
              </a:defRPr>
            </a:pPr>
            <a:r>
              <a:t># Grafica DiD</a:t>
            </a:r>
            <a:br/>
            <a:r>
              <a:t>datos_panel %&gt;%</a:t>
            </a:r>
            <a:br/>
            <a:r>
              <a:t>  group_by(tratado, anio) %&gt;%</a:t>
            </a:r>
            <a:br/>
            <a:r>
              <a:t>  summarise(media = mean(resultado)) %&gt;%</a:t>
            </a:r>
            <a:br/>
            <a:r>
              <a:t>  ggplot(aes(x = anio, y = media,</a:t>
            </a:r>
            <a:br/>
            <a:r>
              <a:t>    color = factor(tratado))) +</a:t>
            </a:r>
            <a:br/>
            <a:r>
              <a:t>  geom_line(size = 1.2) +</a:t>
            </a:r>
            <a:br/>
            <a:r>
              <a:t>  geom_point(size = 3) +</a:t>
            </a:r>
            <a:br/>
            <a:r>
              <a:t>  geom_vline(xintercept = 2015,</a:t>
            </a:r>
            <a:br/>
            <a:r>
              <a:t>    linetype = "dashed") +</a:t>
            </a:r>
            <a:br/>
            <a:r>
              <a:t>  labs(title = "Diferencias en Diferencias",</a:t>
            </a:r>
            <a:br/>
            <a:r>
              <a:t>    color = "Grupo") +</a:t>
            </a:r>
            <a:br/>
            <a:r>
              <a:t>  theme_minimal()</a:t>
            </a:r>
            <a:br/>
            <a:br/>
            <a:r>
              <a:t># Grafica RD</a:t>
            </a:r>
            <a:br/>
            <a:r>
              <a:t>datos %&gt;%</a:t>
            </a:r>
            <a:br/>
            <a:r>
              <a:t>  mutate(tratado = puntaje &gt; 60) %&gt;%</a:t>
            </a:r>
            <a:br/>
            <a:r>
              <a:t>  ggplot(aes(x = puntaje, y = graduacion,</a:t>
            </a:r>
            <a:br/>
            <a:r>
              <a:t>    color = tratado)) +</a:t>
            </a:r>
            <a:br/>
            <a:r>
              <a:t>  geom_point(alpha = 0.3) +</a:t>
            </a:r>
            <a:br/>
            <a:r>
              <a:t>  geom_smooth(method = "loess") +</a:t>
            </a:r>
            <a:br/>
            <a:r>
              <a:t>  geom_vline(xintercept = 60,</a:t>
            </a:r>
            <a:br/>
            <a:r>
              <a:t>    linetype = "dashed", color = "red") +</a:t>
            </a:r>
            <a:br/>
            <a:r>
              <a:t>  theme_minimal()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365760"/>
            <a:ext cx="5486400" cy="640080"/>
          </a:xfrm>
          <a:prstGeom prst="roundRect">
            <a:avLst/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800" b="1">
                <a:solidFill>
                  <a:srgbClr val="FFFFFF"/>
                </a:solidFill>
                <a:latin typeface="Ubuntu"/>
              </a:defRPr>
            </a:pPr>
            <a:r>
              <a:t>Preview: Causal Machine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Ubuntu"/>
              </a:defRPr>
            </a:pPr>
            <a:r>
              <a:t>Metodos modernos integran machine learning con inferencia causal (Tema 1.2):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5029200" cy="3200400"/>
          </a:xfrm>
          <a:prstGeom prst="roundRect">
            <a:avLst/>
          </a:prstGeom>
          <a:solidFill>
            <a:srgbClr val="EA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1945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E4C7D"/>
                </a:solidFill>
                <a:latin typeface="Ubuntu"/>
              </a:defRPr>
            </a:pPr>
            <a:r>
              <a:t>Causal Forests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4389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00000"/>
                </a:solidFill>
                <a:latin typeface="Ubuntu"/>
              </a:defRPr>
            </a:pPr>
            <a:r>
              <a:t>Random forests que estiman efectos causales</a:t>
            </a:r>
            <a:br/>
            <a:r>
              <a:t>heterogeneos τ(X) = Y(1) - Y(0)</a:t>
            </a:r>
            <a:br/>
            <a:r>
              <a:t>para cada persona.</a:t>
            </a:r>
            <a:br/>
            <a:br/>
            <a:r>
              <a:t>Resultado: funcion que dice a quien</a:t>
            </a:r>
            <a:br/>
            <a:r>
              <a:t>le funciona mas el programa.</a:t>
            </a:r>
            <a:br/>
            <a:br/>
            <a:r>
              <a:t>Athey &amp; Wager (2019). Paquete: grf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2011680"/>
            <a:ext cx="5029200" cy="3200400"/>
          </a:xfrm>
          <a:prstGeom prst="roundRect">
            <a:avLst/>
          </a:prstGeom>
          <a:solidFill>
            <a:srgbClr val="D5F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0" y="21945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A7A3A"/>
                </a:solidFill>
                <a:latin typeface="Ubuntu"/>
              </a:defRPr>
            </a:pPr>
            <a:r>
              <a:t>Double/Debiased 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2743200"/>
            <a:ext cx="4389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00000"/>
                </a:solidFill>
                <a:latin typeface="Ubuntu"/>
              </a:defRPr>
            </a:pPr>
            <a:r>
              <a:t>Usa ML para controlar confusores</a:t>
            </a:r>
            <a:br/>
            <a:r>
              <a:t>de manera flexible (sin asumir linealidad).</a:t>
            </a:r>
            <a:br/>
            <a:br/>
            <a:r>
              <a:t>Ventaja: permite muchas variables (p &gt;&gt; n).</a:t>
            </a:r>
            <a:br/>
            <a:r>
              <a:t>Mantiene estimador causal insesgado.</a:t>
            </a:r>
            <a:br/>
            <a:br/>
            <a:r>
              <a:t>Chernozhukov et al. (2018). Paquete: DoubleML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486400"/>
            <a:ext cx="10698480" cy="731520"/>
          </a:xfrm>
          <a:prstGeom prst="roundRect">
            <a:avLst/>
          </a:prstGeom>
          <a:solidFill>
            <a:srgbClr val="EA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>
                <a:solidFill>
                  <a:srgbClr val="000000"/>
                </a:solidFill>
                <a:latin typeface="Ubuntu"/>
              </a:defRPr>
            </a:pPr>
            <a:r>
              <a:t>Ambos metodos son formales (con teoria asintotica), no solo heuristicos.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365760"/>
            <a:ext cx="5486400" cy="640080"/>
          </a:xfrm>
          <a:prstGeom prst="roundRect">
            <a:avLst/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800" b="1">
                <a:solidFill>
                  <a:srgbClr val="FFFFFF"/>
                </a:solidFill>
                <a:latin typeface="Ubuntu"/>
              </a:defRPr>
            </a:pPr>
            <a:r>
              <a:t>Resumen: 10 puntos clave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Ubuntu"/>
              </a:defRPr>
            </a:pPr>
            <a:r>
              <a:t>1. Correlacion mide asociacion; causalidad mide efecto de intervenir.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74519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Ubuntu"/>
              </a:defRPr>
            </a:pPr>
            <a:r>
              <a:t>2. Correlacion NO implica causalidad, pero es condicion NECESARIA.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39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Ubuntu"/>
              </a:defRPr>
            </a:pPr>
            <a:r>
              <a:t>3. Causalidad requiere: correlacion + temporalidad + mecanismo + eliminacion de alternativas.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80359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Ubuntu"/>
              </a:defRPr>
            </a:pPr>
            <a:r>
              <a:t>4. El contrafactico es la base: ¿que habria pasado sin la intervencion?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383279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Ubuntu"/>
              </a:defRPr>
            </a:pPr>
            <a:r>
              <a:t>5. El RCT es el gold standard: la aleatorizacion elimina sesgos de seleccion.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886199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Ubuntu"/>
              </a:defRPr>
            </a:pPr>
            <a:r>
              <a:t>6. Cuando no hay RCT, usamos metodos cuasiexperimentales (DiD, RD, IV, PSM).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389119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Ubuntu"/>
              </a:defRPr>
            </a:pPr>
            <a:r>
              <a:t>7. Cada metodo tiene supuestos que deben evaluarse en cada contexto.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892039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Ubuntu"/>
              </a:defRPr>
            </a:pPr>
            <a:r>
              <a:t>8. Mexico es pionero: Progresa, Seguro Popular, salario minimo — evaluados causalmente.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394959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Ubuntu"/>
              </a:defRPr>
            </a:pPr>
            <a:r>
              <a:t>9. En R: fixest, rdrobust, ivreg, MatchIt son las herramientas clave.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897879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Ubuntu"/>
              </a:defRPr>
            </a:pPr>
            <a:r>
              <a:t>10. Causal ML (causal forests, Double ML) es el futuro: efectos heterogeneos a escala.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13716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1E4C7D"/>
                </a:solidFill>
                <a:latin typeface="Ubuntu"/>
              </a:defRPr>
            </a:pPr>
            <a:r>
              <a:t>¿Preguntas?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004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4C7D"/>
                </a:solidFill>
                <a:latin typeface="Ubuntu"/>
              </a:defRPr>
            </a:pPr>
            <a:r>
              <a:t>Actividad propuesta: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749039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0000"/>
                </a:solidFill>
                <a:latin typeface="Ubuntu"/>
              </a:defRPr>
            </a:pPr>
            <a:r>
              <a:t>1. Identifica una politica publica que te interese</a:t>
            </a:r>
            <a:br/>
            <a:r>
              <a:t>2. Dibuja un DAG mostrando relaciones causales</a:t>
            </a:r>
            <a:br/>
            <a:r>
              <a:t>3. ¿Que metodo causal es mas apropiado?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8463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4C7D"/>
                </a:solidFill>
                <a:latin typeface="Ubuntu"/>
              </a:defRPr>
            </a:pPr>
            <a:r>
              <a:t>Recursos clave: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035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000000"/>
                </a:solidFill>
                <a:latin typeface="Ubuntu"/>
              </a:defRPr>
            </a:pPr>
            <a:r>
              <a:t>Cunningham — The Mixtape (gratis)  |  Huntington-Klein — The Effect (gratis)</a:t>
            </a:r>
            <a:br/>
            <a:r>
              <a:t>J-PAL LAC — evaluaciones Mexico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12648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0000"/>
                </a:solidFill>
                <a:latin typeface="Ubuntu"/>
              </a:defRPr>
            </a:pPr>
            <a:r>
              <a:t>Jorge Juvenal Campos Ferreira  |  juvenal.campos@tec.mx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