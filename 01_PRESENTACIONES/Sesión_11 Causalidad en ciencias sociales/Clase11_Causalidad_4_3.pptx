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62" y="2130425"/>
            <a:ext cx="582944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25" y="3886200"/>
            <a:ext cx="480072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48" y="4406900"/>
            <a:ext cx="582944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48" y="2906713"/>
            <a:ext cx="582944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8" y="1600200"/>
            <a:ext cx="30290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237" y="1600200"/>
            <a:ext cx="30290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8" y="1535113"/>
            <a:ext cx="3030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8" y="2174875"/>
            <a:ext cx="3030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855" y="1535113"/>
            <a:ext cx="30314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855" y="2174875"/>
            <a:ext cx="303140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273050"/>
            <a:ext cx="225629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354" y="273050"/>
            <a:ext cx="383390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8" y="1435100"/>
            <a:ext cx="225629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49" y="4800600"/>
            <a:ext cx="411490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49" y="612775"/>
            <a:ext cx="411490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49" y="5367338"/>
            <a:ext cx="411490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8" y="0"/>
            <a:ext cx="6172354" cy="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174" y="274638"/>
            <a:ext cx="1543088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8" y="274638"/>
            <a:ext cx="451496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8" y="274638"/>
            <a:ext cx="61723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8" y="1600200"/>
            <a:ext cx="61723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8" y="6356350"/>
            <a:ext cx="160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208" y="6356350"/>
            <a:ext cx="217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5022" y="6356350"/>
            <a:ext cx="160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8" y="274320"/>
            <a:ext cx="34290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Tecnologico de Monterrey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072" y="2286000"/>
            <a:ext cx="822980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E4C7D"/>
                </a:solidFill>
                <a:latin typeface="Ubuntu"/>
              </a:defRPr>
            </a:pPr>
            <a:r>
              <a:t>11. Causalidad en</a:t>
            </a:r>
            <a:br/>
            <a:r>
              <a:t>Ciencias Sociales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8" y="4582510"/>
            <a:ext cx="548653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C7D"/>
                </a:solidFill>
                <a:latin typeface="Ubuntu"/>
              </a:defRPr>
            </a:pPr>
            <a:r>
              <a:rPr dirty="0"/>
              <a:t>Modulo 1: </a:t>
            </a:r>
            <a:r>
              <a:rPr dirty="0" err="1"/>
              <a:t>Introduccion</a:t>
            </a:r>
            <a:r>
              <a:rPr dirty="0"/>
              <a:t> y </a:t>
            </a:r>
            <a:r>
              <a:rPr dirty="0" err="1"/>
              <a:t>fundamentos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172354" y="5303520"/>
            <a:ext cx="27432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  <a:latin typeface="Ubuntu"/>
              </a:defRPr>
            </a:pPr>
            <a:r>
              <a:t>Jorge Juvenal Campos Ferreira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354" y="5943600"/>
            <a:ext cx="27432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0392B"/>
                </a:solidFill>
                <a:latin typeface="Ubuntu"/>
              </a:defRPr>
            </a:pPr>
            <a:r>
              <a:t>juvenal.campos@tec.mx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Conceptos fundamentales: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17373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1. Correlacion y causalidad</a:t>
            </a:r>
            <a:br/>
            <a:r>
              <a:t>2. Correlacion ≠ causacion</a:t>
            </a:r>
            <a:br/>
            <a:r>
              <a:t>3. Condiciones para la causalidad</a:t>
            </a:r>
            <a:br/>
            <a:r>
              <a:t>4. Contrafactuales y potential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2918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Metodos: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74903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5. Experimentos (RCT)</a:t>
            </a:r>
            <a:br/>
            <a:r>
              <a:t>6. Metodos cuasiexperimentales (DiD, RD, IV, PSM)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47548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Aplicaciones: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5212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7. Politicas publicas en Mexico</a:t>
            </a:r>
            <a:br/>
            <a:r>
              <a:t>8. Papers y referencias clave</a:t>
            </a:r>
            <a:br/>
            <a:r>
              <a:t>9. Implementacion en R</a:t>
            </a:r>
            <a:br/>
            <a:r>
              <a:t>10. Preview: Causal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El dilema de la evaluacion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Imagina que eres jef@ de la Secretaria de Educacion de un estado mexicano.</a:t>
            </a:r>
            <a:br/>
            <a:r>
              <a:t>Tu gobernador implemento un programa de becas hace dos anos. Ahora quiere saber: ¿funciono?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377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Ubuntu"/>
              </a:defRPr>
            </a:pPr>
            <a:r>
              <a:t>Lo que ves: municipios con becas tienen 15% mas graduacion.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0175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Pero: ingreso familiar mas alto, mejor infraestructura, maestros con mas experiencia.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53" y="4114800"/>
            <a:ext cx="802406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⚠ ¿Las becas causaron el aumento? ¿O se habrian graduado de todas formas?</a:t>
            </a:r>
            <a:br/>
            <a:r>
              <a:t>Este es el problema fundamental: correlacion no implica causacion.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Las dos grandes preguntas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53" y="1371600"/>
            <a:ext cx="3771994" cy="3200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80" y="1554480"/>
            <a:ext cx="308617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C7D"/>
                </a:solidFill>
                <a:latin typeface="Ubuntu"/>
              </a:defRPr>
            </a:pPr>
            <a:r>
              <a:t>PREDICCION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80" y="2194560"/>
            <a:ext cx="329192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¿Que va a pasar?</a:t>
            </a:r>
            <a:br/>
            <a:br/>
            <a:r>
              <a:t>Dado lo que observo, ¿cual es la probabilidad de que Y ocurra?</a:t>
            </a:r>
            <a:br/>
            <a:br/>
            <a:r>
              <a:t>Ejemplo: ¿Quien va a desertar de la preparatoria?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720" y="1371600"/>
            <a:ext cx="3771994" cy="32004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5046" y="1554480"/>
            <a:ext cx="308617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Ubuntu"/>
              </a:defRPr>
            </a:pPr>
            <a:r>
              <a:t>CAUSALIDAD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5046" y="2194560"/>
            <a:ext cx="329192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¿Por que pasa?</a:t>
            </a:r>
            <a:br/>
            <a:br/>
            <a:r>
              <a:t>Si cambio X, ¿cambia Y? ¿Cuanto?</a:t>
            </a:r>
            <a:br/>
            <a:br/>
            <a:r>
              <a:t>Ejemplo: ¿Las becas causan que se graduen mas estudiantes?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53" y="5029200"/>
            <a:ext cx="8024060" cy="8229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En politica publica, casi siempre necesitas AMBAS: prediccion buena requiere causalidad para decisiones.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¿Que es la correlacion?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La correlacion mide el grado en que dos variables se mueven juntas.</a:t>
            </a:r>
            <a:br/>
            <a:r>
              <a:t>Si una sube cuando la otra sube = positivamente correlacionadas.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377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Coeficiente de Pearson (r): rango de -1 a 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926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 = +1: correlacion positiva perfecta</a:t>
            </a:r>
            <a:br/>
            <a:r>
              <a:t>r = 0: sin correlacion lineal</a:t>
            </a:r>
            <a:br/>
            <a:r>
              <a:t>r = -1: correlacion negativa perfecta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40233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Ejemplos: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44805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 ≈ +0.8  Ingreso familiar ↔ Gasto en educacion</a:t>
            </a:r>
            <a:br/>
            <a:r>
              <a:t>r ≈ -0.6   Pobreza ↔ Esperanza de vida</a:t>
            </a:r>
            <a:br/>
            <a:r>
              <a:t>r ≈ +0.9  Ventas de helado ↔ Ahogamientos (¡espuria!)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53" y="566928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La correlacion describe asociacion, no explica por 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¿Que es la causalidad?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Causalidad significa que un cambio en X produce un cambio en Y.</a:t>
            </a:r>
            <a:br/>
            <a:r>
              <a:t>No solo se mueven juntas: X genera 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377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Definicion formal: X causa Y si, al intervenir y cambiar X</a:t>
            </a:r>
            <a:br/>
            <a:r>
              <a:t>(manteniendo todo lo demas constante), Y cambia.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2004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4C7D"/>
                </a:solidFill>
                <a:latin typeface="Ubuntu"/>
              </a:defRPr>
            </a:pPr>
            <a:r>
              <a:t>Efecto causal = Y(con X) - Y(sin 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9319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La idea del contrafactico: Si un estudiante recibio beca y se graduo,</a:t>
            </a:r>
            <a:br/>
            <a:r>
              <a:t>¿se habria graduado sin la beca? Nunca lo sabremos con certeza.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53" y="530352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Correlacion = "X e Y se mueven juntas"  |  Causalidad = "X hace que Y cambie"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Correlacion ≠ Causalidad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Que dos variables esten correlacionadas NO significa que una cause la otra: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103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Helados y ahogamientos: Ambos aumentan en verano (calor = causa comun).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7432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Zapatos e inteligencia: En niños, la edad causa ambos.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3832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Nicolas Cage y piscinas: Correlacion r=0.67 sin mecanismo (espuria).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53" y="4389120"/>
            <a:ext cx="8024060" cy="109728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80" y="4572000"/>
            <a:ext cx="75439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¡Cuidado! En politica publica, confundir correlacion con causalidad puede</a:t>
            </a:r>
            <a:br/>
            <a:r>
              <a:t>llevar a decisiones que desperdician millones de pesos.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Pero la correlacion es necesaria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Si X causa Y, entonces X e Y DEBEN estar correlacionadas.</a:t>
            </a:r>
            <a:br/>
            <a:r>
              <a:t>La correlacion es condicion necesaria (pero no suficiente) para la causalidad.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5603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Ubuntu"/>
              </a:defRPr>
            </a:pPr>
            <a:r>
              <a:t>CAUSALIDAD  ⟹  CORRELACION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1089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Ubuntu"/>
              </a:defRPr>
            </a:pPr>
            <a:r>
              <a:t>Si hay causalidad, SIEMPRE hay correlacion.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8404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Ubuntu"/>
              </a:defRPr>
            </a:pPr>
            <a:r>
              <a:t>CORRELACION  ⟹̸  CAUSALIDAD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4389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  <a:latin typeface="Ubuntu"/>
              </a:defRPr>
            </a:pPr>
            <a:r>
              <a:t>Si hay correlacion, NO necesariamente hay causalidad.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53" y="5303520"/>
            <a:ext cx="802406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Implicacion: Si no encuentras correlacion, descarta causalidad.</a:t>
            </a:r>
            <a:br/>
            <a:r>
              <a:t>Si encuentras correlacion, necesitas metodos adicionales para confirmar causalidad.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Los tres caminos del sesgo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Tres caminos por los que variables se correlacionan sin relacion causal directa: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53" y="2011680"/>
            <a:ext cx="2468941" cy="274320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17" y="2194560"/>
            <a:ext cx="21946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A3A"/>
                </a:solidFill>
                <a:latin typeface="Ubuntu"/>
              </a:defRPr>
            </a:pPr>
            <a:r>
              <a:t>1. Causalidad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17" y="2651760"/>
            <a:ext cx="21946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Ubuntu"/>
              </a:defRPr>
            </a:pPr>
            <a:r>
              <a:t>X →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17" y="3017520"/>
            <a:ext cx="219461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X realmente causa Y.</a:t>
            </a:r>
            <a:br/>
            <a:br/>
            <a:r>
              <a:t>Ejemplo: Mas horas de estudio → mejores calificaciones.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922" y="2011680"/>
            <a:ext cx="2468941" cy="27432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85" y="2194560"/>
            <a:ext cx="21946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Ubuntu"/>
              </a:defRPr>
            </a:pPr>
            <a:r>
              <a:t>2. Causa comun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85" y="2651760"/>
            <a:ext cx="21946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Ubuntu"/>
              </a:defRPr>
            </a:pPr>
            <a:r>
              <a:t>X ← Z →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85" y="3017520"/>
            <a:ext cx="219461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Tercera variable Z causa ambas.</a:t>
            </a:r>
            <a:br/>
            <a:br/>
            <a:r>
              <a:t>Ejemplo: Edu padres (Z) causa horas estudio (X) y calificaciones (Y).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190" y="2011680"/>
            <a:ext cx="2468941" cy="27432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354" y="2194560"/>
            <a:ext cx="21946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3. Causalidad invertida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354" y="2651760"/>
            <a:ext cx="21946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Ubuntu"/>
              </a:defRPr>
            </a:pPr>
            <a:r>
              <a:t>X ←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354" y="3017520"/>
            <a:ext cx="219461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Y causa X, no al reves.</a:t>
            </a:r>
            <a:br/>
            <a:br/>
            <a:r>
              <a:t>Ejemplo: ¿Actividad → felicidad? ¿O felicidad → actividad?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53" y="530352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Los metodos causales buscan distinguir el camino 1 de los caminos 2 y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Ejemplos enganosos en la realidad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Policia y crimen: Mas policias ↔ mas crimenes. ¿Policia causa crimen?</a:t>
            </a:r>
            <a:br/>
            <a:r>
              <a:t>→ No. Mas crimen causa que se envie mas policia (causalidad invertida).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377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Educacion sexual y embarazo: Mas educacion sexual ↔ mas embarazo.</a:t>
            </a:r>
            <a:br/>
            <a:r>
              <a:t>→ No. Urbanizacion y desarrollo causan ambas cosas (causa comun).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4747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Gasto educativo: Relacion debil gasto ↔ PISA.</a:t>
            </a:r>
            <a:br/>
            <a:r>
              <a:t>→ Estudios causales (DiD, IV) que aislan el gasto puro encuentran efectos positivos.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53" y="4846320"/>
            <a:ext cx="802406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En todos estos casos, la correlacion simple lleva a conclusiones erroneas.</a:t>
            </a:r>
            <a:br/>
            <a:r>
              <a:t>Los metodos causales revelan la verdad.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Condiciones para determinar causalidad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Para afirmar que X causa Y, se deben cumplir cuatro condiciones: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103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1. Correlacion (asociacion)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46887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X e Y deben estar estadisticamente asociadas.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1089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2. Temporalidad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34747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X debe ocurrir ANTES que Y. La causa precede al efecto.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1148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3. Mecanismo causal plausible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4805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Debe existir una explicacion teorica de por que X produce 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51206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4. Eliminacion de alternativas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4864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Descartar confusores, causalidad inversa o coincidencia.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Contrafacticos y potential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El nucleo de la inferencia causal es el contrafactico:</a:t>
            </a:r>
            <a:br/>
            <a:r>
              <a:t>¿Que habria pasado si las cosas fueran diferentes?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53" y="2560320"/>
            <a:ext cx="3771994" cy="182880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80" y="2743200"/>
            <a:ext cx="32919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  <a:latin typeface="Ubuntu"/>
              </a:defRPr>
            </a:pPr>
            <a:r>
              <a:t>Mundo factual (observado)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80" y="3200400"/>
            <a:ext cx="329192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Municipio RECIBE becas</a:t>
            </a:r>
            <a:br/>
            <a:r>
              <a:t>Tasa de graduacion: 70%</a:t>
            </a:r>
            <a:br/>
            <a:r>
              <a:t>Esto es Y(1)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720" y="2560320"/>
            <a:ext cx="3771994" cy="18288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5046" y="2743200"/>
            <a:ext cx="32919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Mundo contrafactico (NO observado)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5046" y="3200400"/>
            <a:ext cx="329192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Municipio NO recibe becas</a:t>
            </a:r>
            <a:br/>
            <a:r>
              <a:t>Tasa de graduacion: ¿?%</a:t>
            </a:r>
            <a:br/>
            <a:r>
              <a:t>Nunca lo observamos = Y(0)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34" y="4846320"/>
            <a:ext cx="617235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4C7D"/>
                </a:solidFill>
                <a:latin typeface="Ubuntu"/>
              </a:defRPr>
            </a:pPr>
            <a:r>
              <a:t>Efecto causal = Y(1) - Y(0) = 70% - ¿?%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53" y="566928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Para cada unidad i: τᵢ = Yᵢ(1) - Yᵢ(0). Pero solo observamos uno de los 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El problema fundamental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Problema Fundamental de Inferencia Causal (Holland, 1986):</a:t>
            </a:r>
            <a:br/>
            <a:r>
              <a:t>Para cada unidad, solo observamos UN resultado. El contrafactico siempre falta.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5603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Ana (beca=Si): Y(1)=Graduada, Y(0)=¿?</a:t>
            </a:r>
            <a:br/>
            <a:r>
              <a:t>Beto (beca=Si): Y(1)=Graduado, Y(0)=¿?</a:t>
            </a:r>
            <a:br/>
            <a:r>
              <a:t>Carla (beca=No): Y(1)=¿?, Y(0)=No graduada</a:t>
            </a:r>
            <a:br/>
            <a:r>
              <a:t>Diego (beca=No): Y(1)=¿?, Y(0)=Graduado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42062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Soluciones: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4663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• RCT: Aleatorizar para que grupos sean comparables en promedio</a:t>
            </a:r>
            <a:br/>
            <a:r>
              <a:t>• Cuasiexperimentos: Encontrar "seudo-aleatorizacion" natural</a:t>
            </a:r>
            <a:br/>
            <a:r>
              <a:t>• Controles estadisticos: Asumir que controlamos por todas las confundidoras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Supuestos clave de inferencia 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4630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1. SUTVA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1783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El tratamiento de una unidad NO afecta resultados de otra.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4688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2. Consistencia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27889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Si recibes tratamiento, tu resultado observado es Y(1). Bien definido.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34747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3. Positividad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7947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Todas las unidades tienen probabilidad &gt; 0 de recibir tratamiento.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4805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4. Ignorabilidad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8006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Dadas covariables, la asignacion es independiente de resultados potenciales.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53" y="5486400"/>
            <a:ext cx="8024060" cy="73152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80" y="5577840"/>
            <a:ext cx="75439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Ubuntu"/>
              </a:defRPr>
            </a:pPr>
            <a:r>
              <a:t>Si alguno se viola, la estimacion causal puede ser sesgada. Siempre evalua credibilidad.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¿Que es un experimento (RCT)?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Randomized Controlled Trial: participantes se asignan ALEATORIAMENTE</a:t>
            </a:r>
            <a:br/>
            <a:r>
              <a:t>a grupo de tratamiento o control. Gold standard para causalidad.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5603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Poblacion → Aleatorizacion → Grupo Tratamiento (recibe) + Grupo Control (no recibe) → Comparar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4747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¿Por que funciona? La aleatorizacion garantiza que ambos grupos son</a:t>
            </a:r>
            <a:br/>
            <a:r>
              <a:t>estadisticamente identicos en TODAS las caracteristicas.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34" y="4572000"/>
            <a:ext cx="617235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C7D"/>
                </a:solidFill>
                <a:latin typeface="Ubuntu"/>
              </a:defRPr>
            </a:pPr>
            <a:r>
              <a:t>E[Y|T=1] - E[Y|T=0] = Efecto causal promedio (ATE)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53" y="539496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No necesitas medir ni controlar por confusores. La aleatorizacion los "balancea" automaticamente.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Por que funciona la aleatorizacion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Por la ley de grandes numeros, los grupos son comparables en TODO: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1945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                    Tratamiento    Control    Diferencia</a:t>
            </a:r>
            <a:br/>
            <a:r>
              <a:t>Ingreso promedio:        $8,200           $8,350       ≈ 0</a:t>
            </a:r>
            <a:br/>
            <a:r>
              <a:t>% madres con prepa:   42%                41%            ≈ 0</a:t>
            </a:r>
            <a:br/>
            <a:r>
              <a:t>% zona urbana:           55%                54%            ≈ 0</a:t>
            </a:r>
            <a:br/>
            <a:r>
              <a:t>Tasa graduacion:         72%                67%            5% = EFECTO CAUSAL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53" y="4846320"/>
            <a:ext cx="802406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La unica diferencia sistematica entre los grupos es el tratamiento.</a:t>
            </a:r>
            <a:br/>
            <a:r>
              <a:t>Por eso el RCT es el gold standard.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Caso: Progresa/Oportunidades (Mexico)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El RCT mas importante en politica social de America Latina.</a:t>
            </a:r>
            <a:br/>
            <a:r>
              <a:t>En 1998, Mexico asigno aleatoriamente 506 comunidades rurales al programa.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2860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Diseno: 320 tratamiento + 186 control (asignacion aleatoria por comunidad)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926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Resultados causales:</a:t>
            </a:r>
            <a:br/>
            <a:r>
              <a:t>• +3.4% inscripcion primaria</a:t>
            </a:r>
            <a:br/>
            <a:r>
              <a:t>• +7.2% inscripcion secundaria (ninas)</a:t>
            </a:r>
            <a:br/>
            <a:r>
              <a:t>• Reduccion significativa en desnutricion</a:t>
            </a:r>
            <a:br/>
            <a:r>
              <a:t>• Mayor uso de servicios de salud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45720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Ubuntu"/>
              </a:defRPr>
            </a:pPr>
            <a:r>
              <a:t>Estudios observacionales previos EXAGERABAN los efectos por sesgo de seleccion.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53035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Ubuntu"/>
              </a:defRPr>
            </a:pPr>
            <a:r>
              <a:t>Papers: Schultz (2004), Parker &amp; Todd (2017) JPE, Gertler et al. (2012) AER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Limitaciones de los RCT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Aunque gold standard, no siempre son posibles o deseables: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103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Eticas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423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No puedes asignar aleatoriamente una mala politica.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0175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Practicas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33375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Costosos, lentos, dificiles de escalar.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9319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Validez externa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25195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¿Se generaliza? Programa en Oaxaca ¿funciona en Nuevo Leon?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53" y="5029200"/>
            <a:ext cx="802406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Cuando no puedes hacer RCT, necesitas metodos cuasiexperimentales.</a:t>
            </a:r>
            <a:br/>
            <a:r>
              <a:t>Estos metodos buscan "imitar" la aleatorizacion explotando situaciones naturales.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Evaluacion de impacto en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Mexico es pionero en America Latina en evaluacion rigurosa de programas sociales.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103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CONEVAL: evalua todos los programas sociales federales con metodos de impacto causal.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926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Programas evaluados con metodos causales:</a:t>
            </a:r>
            <a:br/>
            <a:r>
              <a:t>• Progresa/Oportunidades/Prospera — RCT</a:t>
            </a:r>
            <a:br/>
            <a:r>
              <a:t>• Seguro Popular — RCT por clusters</a:t>
            </a:r>
            <a:br/>
            <a:r>
              <a:t>• Programa de Estancias Infantiles — DiD</a:t>
            </a:r>
            <a:br/>
            <a:r>
              <a:t>• Salario minimo — DiD, IV</a:t>
            </a:r>
            <a:br/>
            <a:r>
              <a:t>• Becas CONACYT — RD</a:t>
            </a:r>
            <a:br/>
            <a:r>
              <a:t>• Programas de empleo temporal — PSM</a:t>
            </a:r>
            <a:br/>
            <a:r>
              <a:t>• Jovenes Construyendo el Futuro — DiD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Parker &amp; Todd (2017) - Progresa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Journal of Political Economy. Efectos de LARGO PLAZO del programa Progresa.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0116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Ubuntu"/>
              </a:defRPr>
            </a:pPr>
            <a:r>
              <a:t>Pregunta: ¿Transferencias condicionadas en educacion durante infancia aumentan</a:t>
            </a:r>
            <a:br/>
            <a:r>
              <a:t>escolaridad, empleo e ingresos en la ADULTEZ?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926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Metodo: RCT con seguimiento longitudinal (17 anos).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566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Hallazgos:</a:t>
            </a:r>
            <a:br/>
            <a:r>
              <a:t>• +0.8 anos de escolaridad</a:t>
            </a:r>
            <a:br/>
            <a:r>
              <a:t>• Mayor probabilidad de empleo formal</a:t>
            </a:r>
            <a:br/>
            <a:r>
              <a:t>• Efectos mas fuertes en mujeres</a:t>
            </a:r>
            <a:br/>
            <a:r>
              <a:t>• Cada peso invertido genero ~$1.60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53" y="530352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Invertir en educacion temprana tiene retornos a largo plazo medibles.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King et al. (2009) - Seguro Popular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The Lancet. Evaluacion aleatorizada del programa de aseguramiento universal.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0116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Diseno: RCT por clusters. 100 pares de health clusters en 7 estados.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7432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Resultados:</a:t>
            </a:r>
            <a:br/>
            <a:r>
              <a:t>• +23% afiliacion efectiva</a:t>
            </a:r>
            <a:br/>
            <a:r>
              <a:t>• Reduccion de gastos catastroficos en salud</a:t>
            </a:r>
            <a:br/>
            <a:r>
              <a:t>• Mayor uso de servicios preventivos</a:t>
            </a:r>
            <a:br/>
            <a:r>
              <a:t>• Sin efecto significativo en salud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4389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Ubuntu"/>
              </a:defRPr>
            </a:pPr>
            <a:r>
              <a:t>¿Que habria pasado sin RCT? Estudios observacionales sugerian efectos mucho</a:t>
            </a:r>
            <a:br/>
            <a:r>
              <a:t>mayores en salud. El RCT mostro que el efecto fue proteccion financiera, no salud.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Salario minimo en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¿Aumentar el salario minimo destruye empleos? Correlacion genera respuestas contradictorias.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1945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Correlacion simple: parece que destruye empleo (BAJA confiabilidad)</a:t>
            </a:r>
            <a:br/>
            <a:r>
              <a:t>Regresion con controles: efecto pequeno, p=0.08 (MEDIA confiabilidad)</a:t>
            </a:r>
            <a:br/>
            <a:r>
              <a:t>DiD (Card &amp; Krueger): efecto nulo o positivo (ALTA confiabilidad)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566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Mexico (2019-2024): incremento salario minimo &gt;100% real.</a:t>
            </a:r>
            <a:br/>
            <a:r>
              <a:t>Campos-Vazquez (2020) y Esquivel (2021) usando DiD:</a:t>
            </a:r>
            <a:br/>
            <a:r>
              <a:t>efectos POSITIVOS en ingreso sin destruccion significativa de empleo.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50292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Ubuntu"/>
              </a:defRPr>
            </a:pPr>
            <a:r>
              <a:t>Papers: Card &amp; Krueger (1994) AER, Campos-Vazquez (2020) World Dev.,</a:t>
            </a:r>
            <a:br/>
            <a:r>
              <a:t>Esquivel (2021) CONEVAL, Bosch &amp; Manacorda (2010) AEJ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¿Por que metodos cuasiexperimentales?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En la mayoria de contextos, no es posible realizar un RCT.</a:t>
            </a:r>
            <a:br/>
            <a:r>
              <a:t>Los cuasiexperimentos buscan imitar la logica experimental.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377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Razones:</a:t>
            </a:r>
            <a:br/>
            <a:r>
              <a:t>• Etica: no puedes negar tratamiento medico a grupo control</a:t>
            </a:r>
            <a:br/>
            <a:r>
              <a:t>• Costo: RCTs son caros y lentos</a:t>
            </a:r>
            <a:br/>
            <a:r>
              <a:t>• Escala: politicas ya implementadas no se pueden "des-implementar"</a:t>
            </a:r>
            <a:br/>
            <a:r>
              <a:t>• Retrospectiva: quieres evaluar algo que ya paso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53" y="4754880"/>
            <a:ext cx="802406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Idea central: Si no puedes aleatorizar, busca una situacion donde la naturaleza,</a:t>
            </a:r>
            <a:br/>
            <a:r>
              <a:t>la politica o reglas burocraticas crearon asignacion que SE PARECE a aleatoria.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Diferencias en Diferencias (DiD)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Compara el CAMBIO en resultado entre grupo tratado y control, antes y despues: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103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                     Antes    Despues    Cambio</a:t>
            </a:r>
            <a:br/>
            <a:r>
              <a:t>Tratados:           60%       75%          +15%</a:t>
            </a:r>
            <a:br/>
            <a:r>
              <a:t>Control:              58%       68%          +10%</a:t>
            </a:r>
            <a:br/>
            <a:r>
              <a:t>DiD:                                                     +5% (efecto causal)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6576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Formula: DiD = (Y_T,post - Y_T,pre) - (Y_C,post - Y_C,pre)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4389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Supuesto critico: TENDENCIAS PARALELAS — sin tratamiento, ambos grupos</a:t>
            </a:r>
            <a:br/>
            <a:r>
              <a:t>habrian seguido la misma tendencia.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53" y="548640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El grupo control dice "que habria pasado" al grupo tratado sin la intervencion.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DiD en Mexico: 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Estancias Infantiles (Angeles et al., 2014, World Dev.):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18288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Pregunta: ¿Estancias infantiles aumentan participacion laboral femenina?</a:t>
            </a:r>
            <a:br/>
            <a:r>
              <a:t>DiD: Municipios con vs. sin estancias, antes y despues.</a:t>
            </a:r>
            <a:br/>
            <a:r>
              <a:t>Resultado: +5 pp en participacion laboral de madres.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2004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Impuesto a bebidas azucaradas (Colchero et al., 2016, BMJ):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74903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Pregunta: ¿El IEPS redujo consumo de bebidas azucaradas?</a:t>
            </a:r>
            <a:br/>
            <a:r>
              <a:t>DiD: Consumo antes y despues del impuesto (2014).</a:t>
            </a:r>
            <a:br/>
            <a:r>
              <a:t>Resultado: -6% en consumo de bebidas azucaradas.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53" y="530352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En ambos casos era imposible hacer RCT. DiD aprovecho la implementacion escalonada.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Regresion Discontinua (RD)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Cuando hay un CORTE (cutoff) que determina quien recibe tratamiento, comparamos</a:t>
            </a:r>
            <a:br/>
            <a:r>
              <a:t>unidades justo arriba y justo abajo del corte.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2860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Ejemplo: Beca si puntaje &gt; 60. Estudiante con 61 es practicamente identico a uno con 59.</a:t>
            </a:r>
            <a:br/>
            <a:r>
              <a:t>La unica diferencia relevante es la beca.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2004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Efecto = salto en Y justo en el punto de corte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9319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Supuesto clave: No hay manipulacion del puntaje alrededor del corte.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45720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7E22"/>
                </a:solidFill>
                <a:latin typeface="Ubuntu"/>
              </a:defRPr>
            </a:pPr>
            <a:r>
              <a:t>Limitacion: Efecto LOCAL (solo valido cerca del corte). El efecto puede ser</a:t>
            </a:r>
            <a:br/>
            <a:r>
              <a:t>diferente para personas lejos del cutoff.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RD en Mexico: 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Becas CONACYT (De Hoyos et al., 2016):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18288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Cutoff: Puntaje de evaluacion del comite.</a:t>
            </a:r>
            <a:br/>
            <a:r>
              <a:t>RD: Solicitantes justo arriba vs. justo abajo del corte de aceptacion.</a:t>
            </a:r>
            <a:br/>
            <a:r>
              <a:t>Resultado: +15% probabilidad completar posgrado, +12% ingreso posterior.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2004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Progresa - RD + RCT (Buddelmeyer &amp; Skoufias, 2004):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74903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Cutoff: Indice de marginacion del municipio.</a:t>
            </a:r>
            <a:br/>
            <a:r>
              <a:t>Ademas del RCT, usaron RD en el indice de pobreza.</a:t>
            </a:r>
            <a:br/>
            <a:r>
              <a:t>Resultado: Efecto ~2% en graduacion justo en el corte.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53" y="530352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RD da efecto LOCAL (solo valido cerca del corte). Complementa al RCT.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Variables Instrumentales (IV)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Cuando hay confusion, buscamos un instrumento Z que afecte X</a:t>
            </a:r>
            <a:br/>
            <a:r>
              <a:t>pero NO afecte Y excepto a traves de 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377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Z (instrumento)  →  X (tratamiento)  →  Y (resultado)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926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Ubuntu"/>
              </a:defRPr>
            </a:pPr>
            <a:r>
              <a:t>U (no observada) afecta X e Y, pero Z NO se relaciona con 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566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Ejemplo clasico - Educacion → salarios:</a:t>
            </a:r>
            <a:br/>
            <a:r>
              <a:t>Problema: Habilidad innata causa mas educacion Y mas salario.</a:t>
            </a:r>
            <a:br/>
            <a:r>
              <a:t>Instrumento: Cambios en leyes de escolaridad obligatoria.</a:t>
            </a:r>
            <a:br/>
            <a:r>
              <a:t>(Angrist &amp; Krueger, 1991 QJE)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49377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Mexico - Bosch &amp; Manacorda (2010) AEJ:</a:t>
            </a:r>
            <a:br/>
            <a:r>
              <a:t>Usan variacion en salario minimo como instrumento para medir efecto en desigualdad.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Propensity Score Matching (PSM)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Cuando no tienes aleatorizacion, corte ni instrumento: EMPAREJA unidades</a:t>
            </a:r>
            <a:br/>
            <a:r>
              <a:t>tratadas con controles que sean lo mas parecidas posible.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377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Paso 1: Estimar probabilidad de recibir tratamiento = propensity score p(X)</a:t>
            </a:r>
            <a:br/>
            <a:r>
              <a:t>Paso 2: Emparejar cada tratado con control que tenga p(X) similar</a:t>
            </a:r>
            <a:br/>
            <a:r>
              <a:t>Paso 3: Comparar resultados entre pares emparejados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36576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Ubuntu"/>
              </a:defRPr>
            </a:pPr>
            <a:r>
              <a:t>Ventaja: No requiere instrumento, corte ni datos antes/despues.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42062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Limitacion: Solo controla por variables OBSERVADAS. Si hay confusores no medidos, el sesgo persiste.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51206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Ubuntu"/>
              </a:defRPr>
            </a:pPr>
            <a:r>
              <a:t>Mexico: Behrman, Parker &amp; Todd (2011) J. Human Resources - PSM para Oportunidades.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Comparativa de metodos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Metodo      Idea central                  Supuesto clave              Paquete R</a:t>
            </a:r>
            <a:br/>
            <a:r>
              <a:t>RCT           Asignacion aleatoria       Aleatorizacion exitosa     estimatr</a:t>
            </a:r>
            <a:br/>
            <a:r>
              <a:t>DiD            Diferencia de cambios     Tendencias paralelas      fixest, did</a:t>
            </a:r>
            <a:br/>
            <a:r>
              <a:t>RD             Comparar en el corte       No manipulacion             rdrobust</a:t>
            </a:r>
            <a:br/>
            <a:r>
              <a:t>IV              Variable exogena             Exclusion (Z→Y via X)   ivreg</a:t>
            </a:r>
            <a:br/>
            <a:r>
              <a:t>PSM           Emparejar similares         No confusores ocultos     MatchIt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42062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Jerarquia de credibilidad causal (de mayor a menor):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47548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Ubuntu"/>
              </a:defRPr>
            </a:pPr>
            <a:r>
              <a:t>RCT  &gt;  RD  &gt;  DiD  &gt;  IV  &gt;  PSM  &gt;  Regresion con controles  &gt;  Correlacion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Papers fundamentales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3716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Angrist &amp; Pischke (2008) — Mostly Harmless Econometrics. Princeton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20116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Rubin (1974) — Potential outcomes framework. J. Ed. Psychology.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6517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Pearl (2000) — Causality: Models, Reasoning, Inference. Cambridge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2918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Holland (1986) — Statistics and Causal Inference. JASA.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39319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Athey &amp; Wager (2019) — Generalized Random Forests. Annals of Statistics.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5720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Chernozhukov et al. (2018) — Double/Debiased ML. Econometric Journal.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52120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Cunningham (2021) — Causal Inference: The Mixtape. Gratis online.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5852160"/>
            <a:ext cx="80240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Card &amp; Krueger (1994) — Salario minimo DiD. AER.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Papers de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3716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RCT — Parker &amp; Todd (2017) JPE — Progresa largo plazo: +0.8 años escolaridad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19202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RCT — King et al. (2009) Lancet — Seguro Popular: proteccion financiera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46888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RCT — Gertler et al. (2012) AER — Progresa: inversion productiva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0175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DiD — Campos-Vazquez (2020) World Dev. — Salario minimo: sin destruccion empleo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3566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DiD — Colchero et al. (2016) BMJ — IEPS bebidas: -6% consumo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1148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DiD — Angeles et al. (2014) World Dev. — Estancias Infantiles: +5pp empleo mujeres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6344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RD — De Hoyos et al. (2016) — Becas CONACYT: +15% completar posgrado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521207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IV — Bosch &amp; Manacorda (2010) AEJ — Salario minimo y desigualdad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76071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PSM — Behrman et al. (2011) J. Hum. Res. — Oportunidades no experimental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Recursos adicionales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Libros gratuitos: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17373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• Cunningham — Causal Inference: The Mixtape (mixtape.scunning.com)</a:t>
            </a:r>
            <a:br/>
            <a:r>
              <a:t>• Huntington-Klein — The Effect (theeffectbook.net)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7432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Instituciones (Mexico):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32004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• CONEVAL — Evaluaciones de impacto</a:t>
            </a:r>
            <a:br/>
            <a:r>
              <a:t>• J-PAL LAC — RCTs en America Latina</a:t>
            </a:r>
            <a:br/>
            <a:r>
              <a:t>• BID — Guias de evaluacion de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43891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Cursos online: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8463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• MIT OCW — Econometrics (Angrist)</a:t>
            </a:r>
            <a:br/>
            <a:r>
              <a:t>• Coursera — Causal Inference (UPenn)</a:t>
            </a:r>
            <a:br/>
            <a:r>
              <a:t>• edX — Evaluating Social Programs (MIT/J-PAL)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Simulacion de datos causales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53" y="1280160"/>
            <a:ext cx="802406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library(tidyverse)</a:t>
            </a:r>
            <a:br/>
            <a:r>
              <a:t>set.seed(42)</a:t>
            </a:r>
            <a:br/>
            <a:r>
              <a:t>n &lt;- 1000</a:t>
            </a:r>
            <a:br/>
            <a:br/>
            <a:r>
              <a:t>datos &lt;- tibble(</a:t>
            </a:r>
            <a:br/>
            <a:r>
              <a:t>  ingreso   = rnorm(n, 50000, 15000),</a:t>
            </a:r>
            <a:br/>
            <a:r>
              <a:t>  edu_madre = sample(1:16, n, replace = TRUE),</a:t>
            </a:r>
            <a:br/>
            <a:r>
              <a:t>  prob_trat = plogis(-2 + 0.00003*ingreso + 0.1*edu_madre),</a:t>
            </a:r>
            <a:br/>
            <a:r>
              <a:t>  beca      = rbinom(n, 1, prob_trat),</a:t>
            </a:r>
            <a:br/>
            <a:r>
              <a:t>  # Efecto causal REAL = 5 pp</a:t>
            </a:r>
            <a:br/>
            <a:r>
              <a:t>  graduacion = rbinom(n, 1,</a:t>
            </a:r>
            <a:br/>
            <a:r>
              <a:t>    plogis(-1 + 0.00002*ingreso + 0.08*edu_madre + 0.2*beca))</a:t>
            </a:r>
            <a:br/>
            <a:r>
              <a:t>)</a:t>
            </a:r>
            <a:br/>
            <a:br/>
            <a:r>
              <a:t># Correlacion simple (sesgada!)</a:t>
            </a:r>
            <a:br/>
            <a:r>
              <a:t>datos %&gt;% group_by(beca) %&gt;%</a:t>
            </a:r>
            <a:br/>
            <a:r>
              <a:t>  summarise(tasa_grad = mean(graduacion))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Correlacional vs. con controles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53" y="1280160"/>
            <a:ext cx="802406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# Modelo 1: Correlacion simple (sesgado)</a:t>
            </a:r>
            <a:br/>
            <a:r>
              <a:t>modelo_simple &lt;- glm(graduacion ~ beca,</a:t>
            </a:r>
            <a:br/>
            <a:r>
              <a:t>  data = datos, family = binomial)</a:t>
            </a:r>
            <a:br/>
            <a:br/>
            <a:r>
              <a:t># Modelo 2: Con controles (mejor)</a:t>
            </a:r>
            <a:br/>
            <a:r>
              <a:t>modelo_controles &lt;- glm(</a:t>
            </a:r>
            <a:br/>
            <a:r>
              <a:t>  graduacion ~ beca + ingreso + edu_madre,</a:t>
            </a:r>
            <a:br/>
            <a:r>
              <a:t>  data = datos, family = binomial)</a:t>
            </a:r>
            <a:br/>
            <a:br/>
            <a:r>
              <a:t># Comparar efectos marginales</a:t>
            </a:r>
            <a:br/>
            <a:r>
              <a:t>library(marginaleffects)</a:t>
            </a:r>
            <a:br/>
            <a:r>
              <a:t>avg_slopes(modelo_simple, variables = "beca")</a:t>
            </a:r>
            <a:br/>
            <a:r>
              <a:t>  # ~12% (sesgado)</a:t>
            </a:r>
            <a:br/>
            <a:r>
              <a:t>avg_slopes(modelo_controles, variables = "beca")</a:t>
            </a:r>
            <a:br/>
            <a:r>
              <a:t>  # ~6% (mas cerca del 5% real)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Diferencias en Diferencias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53" y="1280160"/>
            <a:ext cx="802406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library(fixest)</a:t>
            </a:r>
            <a:br/>
            <a:br/>
            <a:r>
              <a:t># DiD clasico con efectos fijos</a:t>
            </a:r>
            <a:br/>
            <a:r>
              <a:t>modelo_did &lt;- feols(</a:t>
            </a:r>
            <a:br/>
            <a:r>
              <a:t>  graduacion ~ tratado * post |</a:t>
            </a:r>
            <a:br/>
            <a:r>
              <a:t>    municipio + anio,</a:t>
            </a:r>
            <a:br/>
            <a:r>
              <a:t>  data = datos_panel,</a:t>
            </a:r>
            <a:br/>
            <a:r>
              <a:t>  cluster = ~municipio</a:t>
            </a:r>
            <a:br/>
            <a:r>
              <a:t>)</a:t>
            </a:r>
            <a:br/>
            <a:r>
              <a:t>summary(modelo_did)</a:t>
            </a:r>
            <a:br/>
            <a:r>
              <a:t># Coef de tratado:post = efecto causal DiD</a:t>
            </a:r>
            <a:br/>
            <a:br/>
            <a:r>
              <a:t># Event study (tendencias paralelas)</a:t>
            </a:r>
            <a:br/>
            <a:r>
              <a:t>modelo_event &lt;- feols(</a:t>
            </a:r>
            <a:br/>
            <a:r>
              <a:t>  graduacion ~ i(anio_rel, tratado, ref = -1) |</a:t>
            </a:r>
            <a:br/>
            <a:r>
              <a:t>    municipio + anio,</a:t>
            </a:r>
            <a:br/>
            <a:r>
              <a:t>  data = datos_panel</a:t>
            </a:r>
            <a:br/>
            <a:r>
              <a:t>)</a:t>
            </a:r>
            <a:br/>
            <a:r>
              <a:t>iplot(modelo_event)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Regresion Discontinua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53" y="1280160"/>
            <a:ext cx="802406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library(rdrobust)</a:t>
            </a:r>
            <a:br/>
            <a:br/>
            <a:r>
              <a:t># Estimacion RD con bandwidth optimo</a:t>
            </a:r>
            <a:br/>
            <a:r>
              <a:t>rd_resultado &lt;- rdrobust(</a:t>
            </a:r>
            <a:br/>
            <a:r>
              <a:t>  y = datos$graduacion,</a:t>
            </a:r>
            <a:br/>
            <a:r>
              <a:t>  x = datos$puntaje,</a:t>
            </a:r>
            <a:br/>
            <a:r>
              <a:t>  c = 60</a:t>
            </a:r>
            <a:br/>
            <a:r>
              <a:t>)</a:t>
            </a:r>
            <a:br/>
            <a:r>
              <a:t>summary(rd_resultado)</a:t>
            </a:r>
            <a:br/>
            <a:br/>
            <a:r>
              <a:t># Grafica de discontinuidad</a:t>
            </a:r>
            <a:br/>
            <a:r>
              <a:t>rdplot(</a:t>
            </a:r>
            <a:br/>
            <a:r>
              <a:t>  y = datos$graduacion,</a:t>
            </a:r>
            <a:br/>
            <a:r>
              <a:t>  x = datos$puntaje,</a:t>
            </a:r>
            <a:br/>
            <a:r>
              <a:t>  c = 60,</a:t>
            </a:r>
            <a:br/>
            <a:r>
              <a:t>  title = "RD: efecto de beca",</a:t>
            </a:r>
            <a:br/>
            <a:r>
              <a:t>  x.label = "Puntaje de pobreza",</a:t>
            </a:r>
            <a:br/>
            <a:r>
              <a:t>  y.label = "Tasa de graduacion"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Variables Instrumentales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53" y="1280160"/>
            <a:ext cx="802406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library(ivreg)</a:t>
            </a:r>
            <a:br/>
            <a:br/>
            <a:r>
              <a:t># OLS (sesgado por habilidad no observada)</a:t>
            </a:r>
            <a:br/>
            <a:r>
              <a:t>ols &lt;- lm(log_salario ~ anios_edu + experiencia,</a:t>
            </a:r>
            <a:br/>
            <a:r>
              <a:t>  data = datos)</a:t>
            </a:r>
            <a:br/>
            <a:br/>
            <a:r>
              <a:t># IV: instrumentamos anios_edu con distancia_uni</a:t>
            </a:r>
            <a:br/>
            <a:r>
              <a:t>iv &lt;- ivreg(</a:t>
            </a:r>
            <a:br/>
            <a:r>
              <a:t>  log_salario ~ anios_edu + experiencia |</a:t>
            </a:r>
            <a:br/>
            <a:r>
              <a:t>    distancia_uni + experiencia,</a:t>
            </a:r>
            <a:br/>
            <a:r>
              <a:t>  data = datos</a:t>
            </a:r>
            <a:br/>
            <a:r>
              <a:t>)</a:t>
            </a:r>
            <a:br/>
            <a:br/>
            <a:r>
              <a:t>summary(iv, diagnostics = TRUE)</a:t>
            </a:r>
            <a:br/>
            <a:r>
              <a:t># Verificar: F primera etapa &gt; 10</a:t>
            </a:r>
            <a:br/>
            <a:r>
              <a:t># Si F &lt; 10: instrumento debil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Visualizacion causal con ggplot2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53" y="1280160"/>
            <a:ext cx="802406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# Grafica DiD</a:t>
            </a:r>
            <a:br/>
            <a:r>
              <a:t>datos_panel %&gt;%</a:t>
            </a:r>
            <a:br/>
            <a:r>
              <a:t>  group_by(tratado, anio) %&gt;%</a:t>
            </a:r>
            <a:br/>
            <a:r>
              <a:t>  summarise(media = mean(resultado)) %&gt;%</a:t>
            </a:r>
            <a:br/>
            <a:r>
              <a:t>  ggplot(aes(x = anio, y = media,</a:t>
            </a:r>
            <a:br/>
            <a:r>
              <a:t>    color = factor(tratado))) +</a:t>
            </a:r>
            <a:br/>
            <a:r>
              <a:t>  geom_line(size = 1.2) +</a:t>
            </a:r>
            <a:br/>
            <a:r>
              <a:t>  geom_point(size = 3) +</a:t>
            </a:r>
            <a:br/>
            <a:r>
              <a:t>  geom_vline(xintercept = 2015,</a:t>
            </a:r>
            <a:br/>
            <a:r>
              <a:t>    linetype = "dashed") +</a:t>
            </a:r>
            <a:br/>
            <a:r>
              <a:t>  labs(title = "Diferencias en Diferencias",</a:t>
            </a:r>
            <a:br/>
            <a:r>
              <a:t>    color = "Grupo") +</a:t>
            </a:r>
            <a:br/>
            <a:r>
              <a:t>  theme_minimal()</a:t>
            </a:r>
            <a:br/>
            <a:br/>
            <a:r>
              <a:t># Grafica RD</a:t>
            </a:r>
            <a:br/>
            <a:r>
              <a:t>datos %&gt;%</a:t>
            </a:r>
            <a:br/>
            <a:r>
              <a:t>  mutate(tratado = puntaje &gt; 60) %&gt;%</a:t>
            </a:r>
            <a:br/>
            <a:r>
              <a:t>  ggplot(aes(x = puntaje, y = graduacion,</a:t>
            </a:r>
            <a:br/>
            <a:r>
              <a:t>    color = tratado)) +</a:t>
            </a:r>
            <a:br/>
            <a:r>
              <a:t>  geom_point(alpha = 0.3) +</a:t>
            </a:r>
            <a:br/>
            <a:r>
              <a:t>  geom_smooth(method = "loess") +</a:t>
            </a:r>
            <a:br/>
            <a:r>
              <a:t>  geom_vline(xintercept = 60,</a:t>
            </a:r>
            <a:br/>
            <a:r>
              <a:t>    linetype = "dashed", color = "red") +</a:t>
            </a:r>
            <a:br/>
            <a:r>
              <a:t>  theme_minimal()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Preview: Causal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28016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Metodos modernos integran machine learning con inferencia causal (Tema 1.2):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53" y="2011680"/>
            <a:ext cx="3771994" cy="3200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80" y="2194560"/>
            <a:ext cx="32919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C7D"/>
                </a:solidFill>
                <a:latin typeface="Ubuntu"/>
              </a:defRPr>
            </a:pPr>
            <a:r>
              <a:t>Causal Forests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80" y="2743200"/>
            <a:ext cx="329192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Random forests que estiman efectos causales</a:t>
            </a:r>
            <a:br/>
            <a:r>
              <a:t>heterogeneos τ(X) = Y(1) - Y(0)</a:t>
            </a:r>
            <a:br/>
            <a:r>
              <a:t>para cada persona.</a:t>
            </a:r>
            <a:br/>
            <a:br/>
            <a:r>
              <a:t>Resultado: funcion que dice a quien</a:t>
            </a:r>
            <a:br/>
            <a:r>
              <a:t>le funciona mas el programa.</a:t>
            </a:r>
            <a:br/>
            <a:br/>
            <a:r>
              <a:t>Athey &amp; Wager (2019). Paquete: grf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720" y="2011680"/>
            <a:ext cx="3771994" cy="320040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5046" y="2194560"/>
            <a:ext cx="32919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A3A"/>
                </a:solidFill>
                <a:latin typeface="Ubuntu"/>
              </a:defRPr>
            </a:pPr>
            <a:r>
              <a:t>Double/Debiased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5046" y="2743200"/>
            <a:ext cx="329192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Usa ML para controlar confusores</a:t>
            </a:r>
            <a:br/>
            <a:r>
              <a:t>de manera flexible (sin asumir linealidad).</a:t>
            </a:r>
            <a:br/>
            <a:br/>
            <a:r>
              <a:t>Ventaja: permite muchas variables (p &gt;&gt; n).</a:t>
            </a:r>
            <a:br/>
            <a:r>
              <a:t>Mantiene estimador causal insesgado.</a:t>
            </a:r>
            <a:br/>
            <a:br/>
            <a:r>
              <a:t>Chernozhukov et al. (2018). Paquete: DoubleML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53" y="5486400"/>
            <a:ext cx="802406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Ambos metodos son formales (con teoria asintotica), no solo heuristicos.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65760"/>
            <a:ext cx="4114902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Resumen: 10 puntos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13716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1. Correlacion mide asociacion; causalidad mide efecto de intervenir.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187451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2. Correlacion NO implica causalidad, pero es condicion NECESARIA.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237743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3. Causalidad requiere: correlacion + temporalidad + mecanismo + eliminacion de alternativas.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288035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4. El contrafactico es la base: ¿que habria pasado sin la intervencion?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338327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5. El RCT es el gold standard: la aleatorizacion elimina sesgos de seleccion.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88619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6. Cuando no hay RCT, usamos metodos cuasiexperimentales (DiD, RD, IV, PSM).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38911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7. Cada metodo tiene supuestos que deben evaluarse en cada contexto.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89203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8. Mexico es pionero: Progresa, Seguro Popular, salario minimo — evaluados causalmente.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39495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9. En R: fixest, rdrobust, ivreg, MatchIt son las herramientas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53" y="5897879"/>
            <a:ext cx="8024060" cy="960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10. Causal ML (causal forests, Double ML) es el futuro: efectos heterogeneos a escala.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34" y="1371600"/>
            <a:ext cx="617235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E4C7D"/>
                </a:solidFill>
                <a:latin typeface="Ubuntu"/>
              </a:defRPr>
            </a:pPr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53" y="320040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Actividad propuesta: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3749039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1. Identifica una politica publica que te interese</a:t>
            </a:r>
            <a:br/>
            <a:r>
              <a:t>2. Dibuja un DAG mostrando relaciones causales</a:t>
            </a:r>
            <a:br/>
            <a:r>
              <a:t>3. ¿Que metodo causal es mas apropiado?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48463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Recursos clave: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5303520"/>
            <a:ext cx="80240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Cunningham — The Mixtape (gratis)  |  Huntington-Klein — The Effect (gratis)</a:t>
            </a:r>
            <a:br/>
            <a:r>
              <a:t>J-PAL LAC — evaluaciones Mexico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51" y="6126480"/>
            <a:ext cx="480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Ubuntu"/>
              </a:defRPr>
            </a:pPr>
            <a:r>
              <a:t>Jorge Juvenal Campos Ferreira  |  juvenal.campos@tec.mx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4602</Words>
  <Application>Microsoft Macintosh PowerPoint</Application>
  <PresentationFormat>Presentación en pantalla (4:3)</PresentationFormat>
  <Paragraphs>250</Paragraphs>
  <Slides>42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Juvenal Campos Ferreira</cp:lastModifiedBy>
  <cp:revision>2</cp:revision>
  <dcterms:created xsi:type="dcterms:W3CDTF">2013-01-27T09:14:16Z</dcterms:created>
  <dcterms:modified xsi:type="dcterms:W3CDTF">2026-03-24T03:37:56Z</dcterms:modified>
  <cp:category/>
</cp:coreProperties>
</file>