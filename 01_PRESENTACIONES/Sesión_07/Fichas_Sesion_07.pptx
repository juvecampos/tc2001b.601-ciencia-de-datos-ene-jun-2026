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ggplot2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6BD4"/>
                </a:solidFill>
                <a:latin typeface="Ubuntu Mono"/>
              </a:defRPr>
            </a:pPr>
            <a:r>
              <a:t>geom_col()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Crea gráficas de barras donde la altura de cada barra representa un valor ya calculado en los datos.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DC2626"/>
                </a:solidFill>
                <a:latin typeface="Ubuntu"/>
              </a:defRPr>
            </a:pPr>
            <a:r>
              <a:t>A diferencia de geom_bar(), NO cuenta frecuencias.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6BD4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6400800" cy="82296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ggplot(datos, aes(x = categoria, y = valor)) +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geom_col()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6BD4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# Datos de ventas por mes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ventas &lt;- tibble(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mes = c("Ene", "Feb", "Mar", "Abr"),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total = c(15000, 22000, 18000, 25000)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ggplot(ventas, aes(x = mes, y = total)) +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geom_col(fill = "#1A6BD4") +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labs(title = "Ventas mensuales")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Parámetros comunes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Ubuntu Mono"/>
              </a:defRPr>
            </a:pPr>
            <a:r>
              <a:t>fill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Color de relleno de las barras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Ubuntu Mono"/>
              </a:defRPr>
            </a:pPr>
            <a:r>
              <a:t>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Color del borde de las barras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Ubuntu Mono"/>
              </a:defRPr>
            </a:pPr>
            <a:r>
              <a:t>width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Ancho de las barras (0 a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Ubuntu Mono"/>
              </a:defRPr>
            </a:pPr>
            <a:r>
              <a:t>alpha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063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Transparencia (0 = invisible, 1 = sólido)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661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6BD4"/>
                </a:solidFill>
                <a:latin typeface="Ubuntu Mono"/>
              </a:defRPr>
            </a:pPr>
            <a:r>
              <a:t>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5661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"dodge" para barras lado a lado,</a:t>
            </a:r>
            <a:br/>
            <a:r>
              <a:t>"stack" para apiladas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Ubuntu"/>
              </a:defRPr>
            </a:pPr>
            <a:r>
              <a:t>geom_col() vs geom_bar()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754880"/>
            <a:ext cx="5943600" cy="27432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93776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A6BD4"/>
                </a:solidFill>
                <a:latin typeface="Ubuntu"/>
              </a:defRPr>
            </a:pPr>
            <a:r>
              <a:t>geom_col():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Usa los valores tal como están en los datos.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Requiere aes(x, y).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D06B21"/>
                </a:solidFill>
                <a:latin typeface="Ubuntu"/>
              </a:defRPr>
            </a:pPr>
            <a:r>
              <a:t>geom_bar():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Cuenta frecuencias automáticamente.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Solo necesita aes(x).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ggplot2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8A4A"/>
                </a:solidFill>
                <a:latin typeface="Ubuntu Mono"/>
              </a:defRPr>
            </a:pPr>
            <a:r>
              <a:t>geom_point()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Crea gráficas de dispersión (scatterplots). Ideal para explorar relaciones entre dos variables numéricas.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A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6400800" cy="82296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ggplot(datos, aes(x = var_x, y = var_y)) +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geom_point()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A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# Relación entre cilindrada y rendimiento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ggplot(mpg, aes(x = displ, y = hwy)) +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geom_point(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color = "#1B8A4A",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size = 3,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alpha = 0.7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) +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labs(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title = "Cilindrada vs Rendimiento",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x = "Cilindrada (litros)",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y = "Millas por galón (autopista)"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Parámetros comunes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8A4A"/>
                </a:solidFill>
                <a:latin typeface="Ubuntu Mono"/>
              </a:defRPr>
            </a:pPr>
            <a:r>
              <a:t>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Color de los puntos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8A4A"/>
                </a:solidFill>
                <a:latin typeface="Ubuntu Mono"/>
              </a:defRPr>
            </a:pPr>
            <a:r>
              <a:t>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Tamaño de los puntos (default ~1.5)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8A4A"/>
                </a:solidFill>
                <a:latin typeface="Ubuntu Mono"/>
              </a:defRPr>
            </a:pPr>
            <a:r>
              <a:t>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Forma: 16=círculo, 17=triángulo, 15=cuadrado...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8A4A"/>
                </a:solidFill>
                <a:latin typeface="Ubuntu Mono"/>
              </a:defRPr>
            </a:pPr>
            <a:r>
              <a:t>alpha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063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Transparencia (útil si hay sobreposición)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661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8A4A"/>
                </a:solidFill>
                <a:latin typeface="Ubuntu Mono"/>
              </a:defRPr>
            </a:pPr>
            <a:r>
              <a:t>stroke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5661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Grosor del borde (para shapes con borde)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Ubuntu"/>
              </a:defRPr>
            </a:pPr>
            <a:r>
              <a:t>Mapeos estéticos dentro de aes()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754880"/>
            <a:ext cx="5943600" cy="27432"/>
          </a:xfrm>
          <a:prstGeom prst="rect">
            <a:avLst/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4937760"/>
            <a:ext cx="621792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Color por categoría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aes(color = clase)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Tamaño por variable numérica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aes(size = poblacion)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Forma por grupo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aes(shape = tipo)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C0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ggplot2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C0397A"/>
                </a:solidFill>
                <a:latin typeface="Ubuntu Mono"/>
              </a:defRPr>
            </a:pPr>
            <a:r>
              <a:t>geom_line()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Conecta observaciones con líneas, ordenadas por el eje X. Ideal para series de tiempo y datos con progresión.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7A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6400800" cy="82296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ggplot(datos, aes(x = tiempo, y = valor)) +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geom_line()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7A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# Serie de tiempo de temperatura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temps &lt;- tibble(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fecha = seq(as.Date("2025-01-01"),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            as.Date("2025-12-01"), by = "month"),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temp = c(12,14,18,22,28,32,34,33,29,23,17,13)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ggplot(temps, aes(x = fecha, y = temp)) +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geom_line(color = "#C0397A", linewidth = 1.2) +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geom_point(color = "#C0397A", size = 3) +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labs(title = "Temperatura mensual 2025")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Parámetros comunes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C0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color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Color de la línea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linewidth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057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Grosor de la línea (antes era 'size')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560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linetype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2560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"solid", "dashed", "dotted", "dotdash"...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alpha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306323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Transparencia de la línea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5661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group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35661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Agrupa líneas (dentro de aes())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Ubuntu"/>
              </a:defRPr>
            </a:pPr>
            <a:r>
              <a:t>Tip: Combina geom_line + geom_point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754880"/>
            <a:ext cx="5943600" cy="27432"/>
          </a:xfrm>
          <a:prstGeom prst="rect">
            <a:avLst/>
          </a:prstGeom>
          <a:solidFill>
            <a:srgbClr val="C0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493776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Agregar puntos sobre la línea ayuda a identificar las observaciones exactas: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  geom_line() + geom_point()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Para múltiples líneas, usa: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  aes(color = grupo)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011680" cy="411480"/>
          </a:xfrm>
          <a:prstGeom prst="roundRect">
            <a:avLst>
              <a:gd name="adj" fmla="val 15000"/>
            </a:avLst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ggplot2 + sf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D7C7C"/>
                </a:solidFill>
                <a:latin typeface="Ubuntu Mono"/>
              </a:defRPr>
            </a:pPr>
            <a:r>
              <a:t>geom_sf()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Dibuja geometrías espaciales (mapas) a partir de objetos sf (Simple Features). Polígonos, puntos, líneas.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7C7C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6400800" cy="82296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ggplot(datos_sf) +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geom_sf()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7C7C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library(sf)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# Leer un shapefile de estados de México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mapa &lt;- st_read("estados.shp")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# Mapa coloreado por población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ggplot(mapa) +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geom_sf(aes(fill = poblacion),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        color = "white", linewidth = 0.2) +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scale_fill_viridis_c() +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theme_void() +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  <a:latin typeface="Ubuntu Mono"/>
              </a:defRPr>
            </a:pPr>
            <a:r>
              <a:t>  labs(title = "Población por estado")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Requiere el paquete sf instalado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Los datos deben ser un objeto sf con columna geometry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ggplot detecta automáticamente las coordenadas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fill colorea el interior de los polígonos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color controla el borde de los polígonos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Usa theme_void() para un mapa más limpio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scale_fill_viridis_c() es ideal para mapas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Ubuntu"/>
              </a:defRPr>
            </a:pPr>
            <a:r>
              <a:t>Fuentes de datos geográficos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937760"/>
            <a:ext cx="5943600" cy="27432"/>
          </a:xfrm>
          <a:prstGeom prst="rect">
            <a:avLst/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12064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0D7C7C"/>
                </a:solidFill>
                <a:latin typeface="Ubuntu"/>
              </a:defRPr>
            </a:pPr>
            <a:r>
              <a:t>.shp (Shapefile) — El más común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0D7C7C"/>
                </a:solidFill>
                <a:latin typeface="Ubuntu"/>
              </a:defRPr>
            </a:pPr>
            <a:r>
              <a:t>.geojson — Formato web, texto plano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0D7C7C"/>
                </a:solidFill>
                <a:latin typeface="Ubuntu"/>
              </a:defRPr>
            </a:pPr>
            <a:r>
              <a:t>.gpkg (GeoPackage) — Moderno, un solo archivo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Todos se leen con st_read() del paquete sf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D0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dplyr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06B21"/>
                </a:solidFill>
                <a:latin typeface="Ubuntu Mono"/>
              </a:defRPr>
            </a:pPr>
            <a:r>
              <a:t>mutate()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Crea nuevas columnas o modifica columnas existentes en un dataframe. Es uno de los verbos más usados del tidyverse. Las columnas nuevas se agregan al final del dataframe.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06B21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mutate(nueva_col = expresion)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06B21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Crear nuevas columnas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mtcars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mutate(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kpl = mpg * 0.425,          # millas a km/litro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peso_ton = wt / 2.205,      # libras a toneladas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potencia_cat = ifelse(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hp &gt; 150, "Alta", "Baja"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D0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Siempre devuelve un dataframe del mismo número de filas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Puedes crear múltiples columnas en un solo mutate()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Las columnas nuevas pueden usar columnas recién creadas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Si el nombre ya existe, sobreescribe la columna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Dentro de mutate puedes usar: ifelse(), case_when(),</a:t>
            </a:r>
            <a:br/>
            <a:r>
              <a:t>  str_c(), round(), y muchas más funciones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Para modificar solo un subconjunto, mira mutate() + if_else()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6583680"/>
            <a:ext cx="6217920" cy="10058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2700">
            <a:solidFill>
              <a:srgbClr val="F5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D06B21"/>
                </a:solidFill>
                <a:latin typeface="Ubuntu"/>
              </a:defRPr>
            </a:pPr>
            <a:r>
              <a:t>Tip</a:t>
            </a:r>
          </a:p>
          <a:p>
            <a:pPr>
              <a:defRPr sz="1300">
                <a:solidFill>
                  <a:srgbClr val="555566"/>
                </a:solidFill>
                <a:latin typeface="Ubuntu"/>
              </a:defRPr>
            </a:pPr>
            <a:r>
              <a:t>Usa .before o .after para controlar dónde se inserta la nueva columna:</a:t>
            </a:r>
            <a:br/>
            <a:r>
              <a:t>mutate(nueva = x + y, .after = columna_ref)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dplyr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C3AED"/>
                </a:solidFill>
                <a:latin typeface="Ubuntu Mono"/>
              </a:defRPr>
            </a:pPr>
            <a:r>
              <a:t>case_when() e ifelse()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Funciones para crear valores condicionales dentro de mutate().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06B21"/>
                </a:solidFill>
                <a:latin typeface="Ubuntu"/>
              </a:defRPr>
            </a:pPr>
            <a:r>
              <a:t>ifelse() — Dos opciones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6400800" cy="164592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ifelse: condicion -&gt; valor_si_TRUE, valor_si_FALSE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mutate(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categoria = ifelse(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precio &gt; 100,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"Caro",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"Barato"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8A4A"/>
                </a:solidFill>
                <a:latin typeface="Ubuntu"/>
              </a:defRPr>
            </a:pPr>
            <a:r>
              <a:t>case_when() — Múltiples opciones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6400800" cy="256032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case_when: multiples condiciones con ~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mutate(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nivel = case_when(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calificacion &gt;= 90 ~ "Excelente",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calificacion &gt;= 80 ~ "Bueno",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calificacion &gt;= 70 ~ "Regular",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TRUE               ~ "Insuficiente"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# TRUE es el "else" (todo lo demas)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Comparación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D06B21"/>
                </a:solidFill>
                <a:latin typeface="Ubuntu Mono"/>
              </a:defRPr>
            </a:pPr>
            <a:r>
              <a:t>ifelse()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+ Simple: solo TRUE / FALSE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+ Rápido para decisiones binarias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DC2626"/>
                </a:solidFill>
                <a:latin typeface="Ubuntu"/>
              </a:defRPr>
            </a:pPr>
            <a:r>
              <a:t>  - Se vuelve feo si anidas muchos</a:t>
            </a:r>
          </a:p>
          <a:p>
            <a:pPr algn="l">
              <a:spcAft>
                <a:spcPts val="600"/>
              </a:spcAft>
              <a:defRPr sz="10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1B8A4A"/>
                </a:solidFill>
                <a:latin typeface="Ubuntu Mono"/>
              </a:defRPr>
            </a:pPr>
            <a:r>
              <a:t>case_when()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+ Múltiples condiciones, limpio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+ Más legible que ifelse anidados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+ TRUE ~ captura "todo lo demás"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DC2626"/>
                </a:solidFill>
                <a:latin typeface="Ubuntu"/>
              </a:defRPr>
            </a:pPr>
            <a:r>
              <a:t>  - Sintaxis con ~ puede confundir al inicio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29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Ubuntu"/>
              </a:defRPr>
            </a:pPr>
            <a:r>
              <a:t>¿Cuándo usar cuál?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5394960"/>
            <a:ext cx="59436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57784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D06B21"/>
                </a:solidFill>
                <a:latin typeface="Ubuntu"/>
              </a:defRPr>
            </a:pPr>
            <a:r>
              <a:t>2 opciones  --&gt;  ifelse()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1B8A4A"/>
                </a:solidFill>
                <a:latin typeface="Ubuntu"/>
              </a:defRPr>
            </a:pPr>
            <a:r>
              <a:t>3+ opciones --&gt;  case_when()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Tip: También existe if_else() de dplyr, que es más estricto con los tipos de datos (recomendado).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A883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janitor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88307"/>
                </a:solidFill>
                <a:latin typeface="Ubuntu Mono"/>
              </a:defRPr>
            </a:pPr>
            <a:r>
              <a:t>clean_names()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Limpia los nombres de las columnas de un dataframe: los convierte a snake_case, elimina caracteres especiales, acentos, espacios y los hace consistentes.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8307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library(janitor)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clean_names()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8307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library(janitor)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Datos con nombres feos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&lt;- tibble(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`Nombre Completo` = c("Ana", "Luis"),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`Año de Nacimiento` = c(1995, 1998),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`% Asistencia` = c(95.5, 88.2)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%&gt;% clean_names()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nombre_completo, ano_de_nacimiento,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percent_asistencia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A883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Convierte TODO a snake_case (minúsculas con _)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Elimina acentos: Año -&gt; ano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Reemplaza espacios por guiones bajos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Convierte % a 'percent', # a 'number'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Elimina caracteres especiales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Si hay nombres duplicados, agrega sufijo numérico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Funciona con dataframes, tibbles y más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Úsalo siempre al importar datos externos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6583680"/>
            <a:ext cx="6217920" cy="10058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2700">
            <a:solidFill>
              <a:srgbClr val="F5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D06B21"/>
                </a:solidFill>
                <a:latin typeface="Ubuntu"/>
              </a:defRPr>
            </a:pPr>
            <a:r>
              <a:t>Tip</a:t>
            </a:r>
          </a:p>
          <a:p>
            <a:pPr>
              <a:defRPr sz="1300">
                <a:solidFill>
                  <a:srgbClr val="555566"/>
                </a:solidFill>
                <a:latin typeface="Ubuntu"/>
              </a:defRPr>
            </a:pPr>
            <a:r>
              <a:t>Ponlo justo después de leer tus datos:</a:t>
            </a:r>
            <a:br/>
            <a:r>
              <a:t>read_csv('archivo.csv') %&gt;% clean_names()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stringr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6BD4"/>
                </a:solidFill>
                <a:latin typeface="Ubuntu Mono"/>
              </a:defRPr>
            </a:pPr>
            <a:r>
              <a:t>str_c()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Concatena (pega) cadenas de texto. Es la versión tidyverse de paste0(). Más predecible con valores NA que paste().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6BD4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str_c("texto1", "texto2", sep = " 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6BD4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Concatenar columnas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&lt;- tibble(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nombre = c("Ana", "Luis"),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apellido = c("García", "López")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mutate(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nombre_completo = str_c(nombre, apellido,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                      sep = " "),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saludo = str_c("Hola, ", nombre, "!")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"Ana García", "Hola, Ana!"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sep = define el separador entre elementos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collapse = une un vector en un solo string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Si algún valor es NA, el resultado es NA</a:t>
            </a:r>
            <a:br/>
            <a:r>
              <a:t>  (a diferencia de paste que pone "NA")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str_c('a', 'b')        -&gt; 'ab'  (sin separador)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str_c('a', 'b', sep='-') -&gt; 'a-b'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Equivalente a paste0() pero más consistente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6583680"/>
            <a:ext cx="6217920" cy="10058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2700">
            <a:solidFill>
              <a:srgbClr val="F5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D06B21"/>
                </a:solidFill>
                <a:latin typeface="Ubuntu"/>
              </a:defRPr>
            </a:pPr>
            <a:r>
              <a:t>Tip</a:t>
            </a:r>
          </a:p>
          <a:p>
            <a:pPr>
              <a:defRPr sz="1300">
                <a:solidFill>
                  <a:srgbClr val="555566"/>
                </a:solidFill>
                <a:latin typeface="Ubuntu"/>
              </a:defRPr>
            </a:pPr>
            <a:r>
              <a:t>Usa collapse para colapsar un vector:</a:t>
            </a:r>
            <a:br/>
            <a:r>
              <a:t>str_c(c("a","b","c"), collapse=", ") -&gt; "a, b, c"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base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B8A4A"/>
                </a:solidFill>
                <a:latin typeface="Ubuntu Mono"/>
              </a:defRPr>
            </a:pPr>
            <a:r>
              <a:t>round()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Redondea números al número de decimales especificado. Función base de R, no requiere paquetes adicionales.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A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round(x, digits =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8A4A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Redondeo básico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round(3.14159, 2)     # 3.14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round(3.14159, 0)     # 3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round(1234.5, -2)     # 1200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Dentro de mutate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mutate(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promedio = round(mean(valor), 2),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porcentaje = round(n / total * 100, 1)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digits = 0 -&gt; sin decimales (entero)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digits = 2 -&gt; dos decimales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digits negativo -&gt; redondea a decenas, centenas, etc.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round(1250, -2) -&gt; 1200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Funciones relacionadas:</a:t>
            </a:r>
            <a:br/>
            <a:r>
              <a:t>  ceiling() -&gt; redondea hacia arriba</a:t>
            </a:r>
            <a:br/>
            <a:r>
              <a:t>  floor()   -&gt; redondea hacia abajo</a:t>
            </a:r>
            <a:br/>
            <a:r>
              <a:t>  trunc()   -&gt; elimina decimales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R usa 'banker's rounding': round(2.5) = 2</a:t>
            </a:r>
            <a:br/>
            <a:r>
              <a:t>  (redondea al par más cercano en empates)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6583680"/>
            <a:ext cx="6217920" cy="10058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2700">
            <a:solidFill>
              <a:srgbClr val="F5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D06B21"/>
                </a:solidFill>
                <a:latin typeface="Ubuntu"/>
              </a:defRPr>
            </a:pPr>
            <a:r>
              <a:t>Tip</a:t>
            </a:r>
          </a:p>
          <a:p>
            <a:pPr>
              <a:defRPr sz="1300">
                <a:solidFill>
                  <a:srgbClr val="555566"/>
                </a:solidFill>
                <a:latin typeface="Ubuntu"/>
              </a:defRPr>
            </a:pPr>
            <a:r>
              <a:t>Si necesitas siempre redondear .5 hacia arriba:</a:t>
            </a:r>
            <a:br/>
            <a:r>
              <a:t>round2 &lt;- function(x, n=0) floor(x*10^n + 0.5)/10^n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dplyr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C2626"/>
                </a:solidFill>
                <a:latin typeface="Ubuntu Mono"/>
              </a:defRPr>
            </a:pPr>
            <a:r>
              <a:t>ungroup()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Elimina la agrupación de un dataframe creada con group_by(). Es fundamental para evitar cálculos inesperados en operaciones posteriores.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group_by(variable) %&gt;%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summarise(...) %&gt;%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ungroup()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Sin ungroup: el mutate opera por grupo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mtcars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group_by(cyl)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summarise(promedio = mean(mpg))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ungroup() %&gt;%    # &lt;- Importante!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mutate(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porcentaje = promedio / sum(promedio) * 100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Sin ungroup, sum(promedio) seria por grupo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Con ungroup, sum(promedio) es el total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group_by() se 'hereda' en todas las operaciones</a:t>
            </a:r>
            <a:br/>
            <a:r>
              <a:t>  posteriores hasta que hagas ungroup()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summarise() quita UN nivel de agrupación,</a:t>
            </a:r>
            <a:br/>
            <a:r>
              <a:t>  pero si tenías group_by(a, b), queda agrupado por 'a'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Buena práctica: siempre usar ungroup() después</a:t>
            </a:r>
            <a:br/>
            <a:r>
              <a:t>  de terminar operaciones agrupadas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Si no desagrupas, mutate(), filter() y otras</a:t>
            </a:r>
            <a:br/>
            <a:r>
              <a:t>  funciones operarán dentro de cada grupo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Puedes verificar con: groups(datos)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6583680"/>
            <a:ext cx="6217920" cy="10058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2700">
            <a:solidFill>
              <a:srgbClr val="F5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D06B21"/>
                </a:solidFill>
                <a:latin typeface="Ubuntu"/>
              </a:defRPr>
            </a:pPr>
            <a:r>
              <a:t>Tip</a:t>
            </a:r>
          </a:p>
          <a:p>
            <a:pPr>
              <a:defRPr sz="1300">
                <a:solidFill>
                  <a:srgbClr val="555566"/>
                </a:solidFill>
                <a:latin typeface="Ubuntu"/>
              </a:defRPr>
            </a:pPr>
            <a:r>
              <a:t>Regla de oro: si usas group_by(), siempre</a:t>
            </a:r>
            <a:br/>
            <a:r>
              <a:t>termina con ungroup() cuando ya no lo necesites.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ggplot2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Ubuntu"/>
              </a:defRPr>
            </a:pPr>
            <a:r>
              <a:t>aes() — Dentro vs Fuera del geom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La ubicación de los parámetros estéticos cambia completamente el comportamiento de la gráfica.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8A4A"/>
                </a:solidFill>
                <a:latin typeface="Ubuntu"/>
              </a:defRPr>
            </a:pPr>
            <a:r>
              <a:t>Dentro de aes() — Mapeo a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6400800" cy="27432"/>
          </a:xfrm>
          <a:prstGeom prst="rect">
            <a:avLst/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6400800" cy="164592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El COLOR depende de una variable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ggplot(datos, aes(x = mes, y = ventas)) +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geom_col(aes(fill = region))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Cada región tendrá un color diferente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ggplot asigna colores automáticamente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6400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1B8A4A"/>
                </a:solidFill>
                <a:latin typeface="Ubuntu"/>
              </a:defRPr>
            </a:pPr>
            <a:r>
              <a:t>  El valor cambia según los datos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B8A4A"/>
                </a:solidFill>
                <a:latin typeface="Ubuntu"/>
              </a:defRPr>
            </a:pPr>
            <a:r>
              <a:t>  Se genera una leyenda automáticamente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1B8A4A"/>
                </a:solidFill>
                <a:latin typeface="Ubuntu"/>
              </a:defRPr>
            </a:pPr>
            <a:r>
              <a:t>  Usa nombres de columnas (sin comillas)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555566"/>
                </a:solidFill>
                <a:latin typeface="Ubuntu Mono"/>
              </a:defRPr>
            </a:pPr>
            <a:r>
              <a:t>  Ejemplo: aes(fill = region)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-&gt; Norte=azul, Sur=rojo, Centro=verde...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06B21"/>
                </a:solidFill>
                <a:latin typeface="Ubuntu"/>
              </a:defRPr>
            </a:pPr>
            <a:r>
              <a:t>Fuera de aes() — Valor fijo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3017520"/>
            <a:ext cx="5943600" cy="27432"/>
          </a:xfrm>
          <a:prstGeom prst="rect">
            <a:avLst/>
          </a:prstGeom>
          <a:solidFill>
            <a:srgbClr val="D0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3200400"/>
            <a:ext cx="6217920" cy="164592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TODAS las barras del mismo color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ggplot(datos, aes(x = mes, y = ventas)) +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geom_col(fill = "#1A6BD4")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Un solo color fijo para TODO el geom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No se genera leyenda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502920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D06B21"/>
                </a:solidFill>
                <a:latin typeface="Ubuntu"/>
              </a:defRPr>
            </a:pPr>
            <a:r>
              <a:t>  Aplica el MISMO valor a todos los elementos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D06B21"/>
                </a:solidFill>
                <a:latin typeface="Ubuntu"/>
              </a:defRPr>
            </a:pPr>
            <a:r>
              <a:t>  No genera leyenda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D06B21"/>
                </a:solidFill>
                <a:latin typeface="Ubuntu"/>
              </a:defRPr>
            </a:pPr>
            <a:r>
              <a:t>  Usa valores literales (con comillas para colores)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600" b="0">
                <a:solidFill>
                  <a:srgbClr val="555566"/>
                </a:solidFill>
                <a:latin typeface="Ubuntu Mono"/>
              </a:defRPr>
            </a:pPr>
            <a:r>
              <a:t>  Ejemplo: fill = "#1A6BD4"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-&gt; Todas las barras: azul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2560320"/>
            <a:ext cx="27432" cy="484632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base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7C3AED"/>
                </a:solidFill>
                <a:latin typeface="Ubuntu Mono"/>
              </a:defRPr>
            </a:pPr>
            <a:r>
              <a:t>prettyNum()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Formatea números para presentación: agrega separadores de miles, controla decimales y devuelve texto legible. Ideal para etiquetas en gráficas y tablas.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prettyNum(x, big.mark = ",", scientific = FALSE)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Formato con comas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prettyNum(1234567, big.mark = ",")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"1,234,567"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Dentro de mutate para etiquetas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datos %&gt;%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mutate(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etiqueta = prettyNum(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poblacion,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big.mark = ",",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scientific = FALSE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En gráficas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geom_text(aes(label = prettyNum(valor,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         big.mark = ",")))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big.mark = "," -&gt; separador de miles con coma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big.mark = "." -&gt; separador con punto (estilo MX)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scientific = FALSE -&gt; evita notación científica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Devuelve un CHARACTER, no un número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Muy útil para geom_text() y geom_label()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Para más control, revisa scales::comma()</a:t>
            </a:r>
            <a:br/>
            <a:r>
              <a:t>  y format()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6583680"/>
            <a:ext cx="6217920" cy="10058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2700">
            <a:solidFill>
              <a:srgbClr val="F5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D06B21"/>
                </a:solidFill>
                <a:latin typeface="Ubuntu"/>
              </a:defRPr>
            </a:pPr>
            <a:r>
              <a:t>Tip</a:t>
            </a:r>
          </a:p>
          <a:p>
            <a:pPr>
              <a:defRPr sz="1300">
                <a:solidFill>
                  <a:srgbClr val="555566"/>
                </a:solidFill>
                <a:latin typeface="Ubuntu"/>
              </a:defRPr>
            </a:pPr>
            <a:r>
              <a:t>Para formato en español/mexicano:</a:t>
            </a:r>
            <a:br/>
            <a:r>
              <a:t>prettyNum(1234567, big.mark = ".") -&gt; "1.234.567"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2743200" cy="411480"/>
          </a:xfrm>
          <a:prstGeom prst="roundRect">
            <a:avLst>
              <a:gd name="adj" fmla="val 15000"/>
            </a:avLst>
          </a:prstGeom>
          <a:solidFill>
            <a:srgbClr val="C0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Herramienta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Ubuntu"/>
              </a:defRPr>
            </a:pPr>
            <a:r>
              <a:t>Medidor de color digital (Color Picker)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325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Herramienta para obtener el código hexadecimal exacto de cualquier color en pantalla.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¿Qué es un código hexadecimal?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6400800" cy="27432"/>
          </a:xfrm>
          <a:prstGeom prst="rect">
            <a:avLst/>
          </a:prstGeom>
          <a:solidFill>
            <a:srgbClr val="C0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C0397A"/>
                </a:solidFill>
                <a:latin typeface="Ubuntu Mono"/>
              </a:defRPr>
            </a:pPr>
            <a:r>
              <a:t>Formato: #RRGGBB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Cada par de letras = intensidad de Rojo, Verde, Azul</a:t>
            </a:r>
          </a:p>
          <a:p>
            <a:pPr algn="l">
              <a:spcAft>
                <a:spcPts val="6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Rango: 00 (nada) a FF (máximo)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FF0000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54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Ubuntu Mono"/>
              </a:defRPr>
            </a:pPr>
            <a:r>
              <a:t>#FF0000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Rojo puro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21208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00AA00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212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AA00"/>
                </a:solidFill>
                <a:latin typeface="Ubuntu Mono"/>
              </a:defRPr>
            </a:pPr>
            <a:r>
              <a:t>#00AA00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212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Verde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6928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0000FF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669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CC"/>
                </a:solidFill>
                <a:latin typeface="Ubuntu Mono"/>
              </a:defRPr>
            </a:pPr>
            <a:r>
              <a:t>#0000FF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669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Azul puro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12648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003DA5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126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DA5"/>
                </a:solidFill>
                <a:latin typeface="Ubuntu Mono"/>
              </a:defRPr>
            </a:pPr>
            <a:r>
              <a:t>#003DA5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6126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Azul Tec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583680"/>
            <a:ext cx="457200" cy="365760"/>
          </a:xfrm>
          <a:prstGeom prst="roundRect">
            <a:avLst>
              <a:gd name="adj" fmla="val 10000"/>
            </a:avLst>
          </a:prstGeom>
          <a:solidFill>
            <a:srgbClr val="C0397A"/>
          </a:solidFill>
          <a:ln w="12700">
            <a:solidFill>
              <a:srgbClr val="E0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6583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7A"/>
                </a:solidFill>
                <a:latin typeface="Ubuntu Mono"/>
              </a:defRPr>
            </a:pPr>
            <a:r>
              <a:t>#C0397A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583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66"/>
                </a:solidFill>
                <a:latin typeface="Ubuntu"/>
              </a:defRPr>
            </a:pPr>
            <a:r>
              <a:t>Rosa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¿Cómo obtener colores?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C0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55448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0D7C7C"/>
                </a:solidFill>
                <a:latin typeface="Ubuntu"/>
              </a:defRPr>
            </a:pPr>
            <a:r>
              <a:t>En macOS: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Utilidades -&gt; Medidor de color digital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O buscar "Digital Color Meter" en Spotlight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0D7C7C"/>
                </a:solidFill>
                <a:latin typeface="Ubuntu"/>
              </a:defRPr>
            </a:pPr>
            <a:r>
              <a:t>En Windows: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PowerToys -&gt; Color Picker (Win+Shift+C)</a:t>
            </a:r>
          </a:p>
          <a:p>
            <a:pPr algn="l">
              <a:spcAft>
                <a:spcPts val="600"/>
              </a:spcAft>
              <a:defRPr sz="8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800" b="1">
                <a:solidFill>
                  <a:srgbClr val="0D7C7C"/>
                </a:solidFill>
                <a:latin typeface="Ubuntu"/>
              </a:defRPr>
            </a:pPr>
            <a:r>
              <a:t>En la web: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Google: buscar "color picker"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coolors.co — paletas de colores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Uso en ggplot2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4754880"/>
            <a:ext cx="5943600" cy="27432"/>
          </a:xfrm>
          <a:prstGeom prst="rect">
            <a:avLst/>
          </a:prstGeom>
          <a:solidFill>
            <a:srgbClr val="C03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772400" y="4937760"/>
            <a:ext cx="6217920" cy="256032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Usar el código hex directamente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geom_col(fill = "#003DA5")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geom_point(color = "#C0397A")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Para múltiples colores manuales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scale_fill_manual(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values = c("#003DA5", "#1B8A4A",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       "#C0397A", "#D06B21")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D0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ggplot2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D06B21"/>
                </a:solidFill>
                <a:latin typeface="Ubuntu Mono"/>
              </a:defRPr>
            </a:pPr>
            <a:r>
              <a:t>ggsave()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Guarda la última gráfica creada con ggplot2 en un archivo. Detecta el formato automáticamente por la extensión del archivo. Permite controlar tamaño, resolución y 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06B21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7472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ggsave("nombre.png", width = 10, height = 6, dpi = 300)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06B21"/>
                </a:solidFill>
                <a:latin typeface="Ubuntu"/>
              </a:defRPr>
            </a:pPr>
            <a:r>
              <a:t>Ejemplo: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937760"/>
            <a:ext cx="6400800" cy="22860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library(tidyverse)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Crear gráfica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mi_grafica &lt;- ggplot(mpg, aes(displ, hwy)) +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geom_point()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Guardar como PNG (alta resolución)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ggsave("grafica.png",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 plot = mi_grafica,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 width = 10, height = 6,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 dpi = 300)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# Guardar como SVG (vectorial)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ggsave("grafica.svg",</a:t>
            </a:r>
          </a:p>
          <a:p>
            <a:pPr>
              <a:spcAft>
                <a:spcPts val="200"/>
              </a:spcAft>
              <a:defRPr sz="1300">
                <a:solidFill>
                  <a:srgbClr val="1E293B"/>
                </a:solidFill>
                <a:latin typeface="Ubuntu Mono"/>
              </a:defRPr>
            </a:pPr>
            <a:r>
              <a:t>       width = 10, height =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Notas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D0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Si no especificas plot =, guarda la ÚLTIMA gráfica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width y height están en pulgadas por defecto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units = 'cm' o 'mm' para cambiar unidades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dpi = 300 es estándar para impresión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dpi = 72 es suficiente para pantalla/web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Formatos soportados: png, jpeg, svg, pdf, tiff, bmp</a:t>
            </a:r>
          </a:p>
          <a:p>
            <a:pPr algn="l">
              <a:spcAft>
                <a:spcPts val="1000"/>
              </a:spcAft>
              <a:defRPr sz="1600" b="0">
                <a:solidFill>
                  <a:srgbClr val="555566"/>
                </a:solidFill>
                <a:latin typeface="Ubuntu"/>
              </a:defRPr>
            </a:pPr>
            <a:r>
              <a:t>  Para guardar en carpeta:</a:t>
            </a:r>
            <a:br/>
            <a:r>
              <a:t>  ggsave("carpeta/grafica.png")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6583680"/>
            <a:ext cx="6217920" cy="1005840"/>
          </a:xfrm>
          <a:prstGeom prst="roundRect">
            <a:avLst>
              <a:gd name="adj" fmla="val 5000"/>
            </a:avLst>
          </a:prstGeom>
          <a:solidFill>
            <a:srgbClr val="FEF9E7"/>
          </a:solidFill>
          <a:ln w="12700">
            <a:solidFill>
              <a:srgbClr val="F5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D06B21"/>
                </a:solidFill>
                <a:latin typeface="Ubuntu"/>
              </a:defRPr>
            </a:pPr>
            <a:r>
              <a:t>Tip</a:t>
            </a:r>
          </a:p>
          <a:p>
            <a:pPr>
              <a:defRPr sz="1300">
                <a:solidFill>
                  <a:srgbClr val="555566"/>
                </a:solidFill>
                <a:latin typeface="Ubuntu"/>
              </a:defRPr>
            </a:pPr>
            <a:r>
              <a:t>Para presentaciones usa width=16, height=9 (16:9).</a:t>
            </a:r>
            <a:br/>
            <a:r>
              <a:t>Para redes sociales: width=10, height=10 (cuadrado).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200400" cy="411480"/>
          </a:xfrm>
          <a:prstGeom prst="roundRect">
            <a:avLst>
              <a:gd name="adj" fmla="val 15000"/>
            </a:avLst>
          </a:prstGeom>
          <a:solidFill>
            <a:srgbClr val="0D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Formatos de imagen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2E"/>
                </a:solidFill>
                <a:latin typeface="Ubuntu"/>
              </a:defRPr>
            </a:pPr>
            <a:r>
              <a:t>PNG vs JPEG vs SVG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325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Cada formato tiene ventajas y desventajas. Elegir el correcto depende del uso.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6BD4"/>
                </a:solidFill>
                <a:latin typeface="Ubuntu"/>
              </a:defRPr>
            </a:pPr>
            <a:r>
              <a:t>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  <a:latin typeface="Ubuntu"/>
              </a:defRPr>
            </a:pPr>
            <a:r>
              <a:t>Portable Network Graphics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337560"/>
            <a:ext cx="3931920" cy="27432"/>
          </a:xfrm>
          <a:prstGeom prst="rect">
            <a:avLst/>
          </a:prstGeom>
          <a:solidFill>
            <a:srgbClr val="1A6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Tipo: Raster (píxeles)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Compresión: Sin pérdida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B8A4A"/>
                </a:solidFill>
                <a:latin typeface="Ubuntu"/>
              </a:defRPr>
            </a:pPr>
            <a:r>
              <a:t>Transparencia: Sí (canal alpha)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1A6BD4"/>
                </a:solidFill>
                <a:latin typeface="Ubuntu"/>
              </a:defRPr>
            </a:pPr>
            <a:r>
              <a:t>Ventajas: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Calidad perfecta, sin artefactos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Soporta transparencia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Ideal para gráficas y diagramas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DC2626"/>
                </a:solidFill>
                <a:latin typeface="Ubuntu"/>
              </a:defRPr>
            </a:pPr>
            <a:r>
              <a:t>Desventajas: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Archivos más pesados que JPEG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Pierde calidad al escalar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1A1A2E"/>
                </a:solidFill>
                <a:latin typeface="Ubuntu"/>
              </a:defRPr>
            </a:pPr>
            <a:r>
              <a:t>Usar para: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A6BD4"/>
                </a:solidFill>
                <a:latin typeface="Ubuntu"/>
              </a:defRPr>
            </a:pPr>
            <a:r>
              <a:t>  Gráficas, capturas, logos,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06B21"/>
                </a:solidFill>
                <a:latin typeface="Ubuntu"/>
              </a:defRPr>
            </a:pPr>
            <a:r>
              <a:t>JPEG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  <a:latin typeface="Ubuntu"/>
              </a:defRPr>
            </a:pPr>
            <a:r>
              <a:t>Joint Photographic Experts Group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3337560"/>
            <a:ext cx="3931920" cy="27432"/>
          </a:xfrm>
          <a:prstGeom prst="rect">
            <a:avLst/>
          </a:prstGeom>
          <a:solidFill>
            <a:srgbClr val="D06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4747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Tipo: Raster (píxeles)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Compresión: Con pérdida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DC2626"/>
                </a:solidFill>
                <a:latin typeface="Ubuntu"/>
              </a:defRPr>
            </a:pPr>
            <a:r>
              <a:t>Transparencia: No soporta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D06B21"/>
                </a:solidFill>
                <a:latin typeface="Ubuntu"/>
              </a:defRPr>
            </a:pPr>
            <a:r>
              <a:t>Ventajas: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Archivos muy ligeros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Excelente para fotografías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Compatible con todo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DC2626"/>
                </a:solidFill>
                <a:latin typeface="Ubuntu"/>
              </a:defRPr>
            </a:pPr>
            <a:r>
              <a:t>Desventajas: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Pierde calidad (artefactos)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Sin transparencia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1A1A2E"/>
                </a:solidFill>
                <a:latin typeface="Ubuntu"/>
              </a:defRPr>
            </a:pPr>
            <a:r>
              <a:t>Usar para: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D06B21"/>
                </a:solidFill>
                <a:latin typeface="Ubuntu"/>
              </a:defRPr>
            </a:pPr>
            <a:r>
              <a:t>  Fotos, imágenes con muchos</a:t>
            </a:r>
            <a:br/>
            <a:r>
              <a:t>  colores, web si el peso importa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8A4A"/>
                </a:solidFill>
                <a:latin typeface="Ubuntu"/>
              </a:defRPr>
            </a:pPr>
            <a:r>
              <a:t>SVG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66"/>
                </a:solidFill>
                <a:latin typeface="Ubuntu"/>
              </a:defRPr>
            </a:pPr>
            <a:r>
              <a:t>Scalable Vector Graphics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3337560"/>
            <a:ext cx="3931920" cy="27432"/>
          </a:xfrm>
          <a:prstGeom prst="rect">
            <a:avLst/>
          </a:prstGeom>
          <a:solidFill>
            <a:srgbClr val="1B8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4747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Tipo: Vectorial (matemáticas)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Compresión: No aplica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1B8A4A"/>
                </a:solidFill>
                <a:latin typeface="Ubuntu"/>
              </a:defRPr>
            </a:pPr>
            <a:r>
              <a:t>Transparencia: Sí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1B8A4A"/>
                </a:solidFill>
                <a:latin typeface="Ubuntu"/>
              </a:defRPr>
            </a:pPr>
            <a:r>
              <a:t>Ventajas: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Escala infinitamente sin perder</a:t>
            </a:r>
            <a:br/>
            <a:r>
              <a:t>    calidad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Archivos pequeños para gráficas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Editable (es código XML)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DC2626"/>
                </a:solidFill>
                <a:latin typeface="Ubuntu"/>
              </a:defRPr>
            </a:pPr>
            <a:r>
              <a:t>Desventajas: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No ideal para fotos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555566"/>
                </a:solidFill>
                <a:latin typeface="Ubuntu"/>
              </a:defRPr>
            </a:pPr>
            <a:r>
              <a:t>  Puede ser pesado si es complejo</a:t>
            </a:r>
          </a:p>
          <a:p>
            <a:pPr algn="l">
              <a:spcAft>
                <a:spcPts val="600"/>
              </a:spcAft>
              <a:defRPr sz="600" b="0">
                <a:solidFill>
                  <a:srgbClr val="555566"/>
                </a:solidFill>
                <a:latin typeface="Ubuntu"/>
              </a:defRPr>
            </a:pPr>
          </a:p>
          <a:p>
            <a:pPr algn="l">
              <a:spcAft>
                <a:spcPts val="600"/>
              </a:spcAft>
              <a:defRPr sz="1500" b="1">
                <a:solidFill>
                  <a:srgbClr val="1A1A2E"/>
                </a:solidFill>
                <a:latin typeface="Ubuntu"/>
              </a:defRPr>
            </a:pPr>
            <a:r>
              <a:t>Usar para:</a:t>
            </a:r>
          </a:p>
          <a:p>
            <a:pPr algn="l">
              <a:spcAft>
                <a:spcPts val="600"/>
              </a:spcAft>
              <a:defRPr sz="1400" b="1">
                <a:solidFill>
                  <a:srgbClr val="1B8A4A"/>
                </a:solidFill>
                <a:latin typeface="Ubuntu"/>
              </a:defRPr>
            </a:pPr>
            <a:r>
              <a:t>  Gráficas para publicación,</a:t>
            </a:r>
            <a:br/>
            <a:r>
              <a:t>  logos, íconos, presentaciones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560320"/>
            <a:ext cx="18288" cy="50292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81160" y="2560320"/>
            <a:ext cx="18288" cy="502920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7315200"/>
            <a:ext cx="13716000" cy="457200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1A6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500" b="1">
                <a:solidFill>
                  <a:srgbClr val="1A6BD4"/>
                </a:solidFill>
                <a:latin typeface="Ubuntu"/>
              </a:defRPr>
            </a:pPr>
            <a:r>
              <a:t>Recomendación para gráficas en R:  PNG (uso general, dpi=300)  |  SVG (publicaciones, máxima calidad)  |  JPEG (solo si necesitas archivos muy ligeros)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863840"/>
            <a:ext cx="14630400" cy="36576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defRPr sz="1100">
                <a:solidFill>
                  <a:srgbClr val="FFFFFF"/>
                </a:solidFill>
                <a:latin typeface="Ubuntu"/>
              </a:defRPr>
            </a:pPr>
            <a:r>
              <a:t>TC2001B.601 · Ciencia de datos · Sesión 07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1828800" cy="411480"/>
          </a:xfrm>
          <a:prstGeom prst="roundRect">
            <a:avLst>
              <a:gd name="adj" fmla="val 15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Ubuntu"/>
              </a:defRPr>
            </a:pPr>
            <a:r>
              <a:t>base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Ubuntu"/>
              </a:defRPr>
            </a:pPr>
            <a:r>
              <a:t>Named Vectors (Vectores con nombre)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555566"/>
                </a:solidFill>
                <a:latin typeface="Ubuntu"/>
              </a:defRPr>
            </a:pPr>
            <a:r>
              <a:t>Un named vector es un vector donde cada elemento tiene un nombre asociado. Esto permite acceder a valores por nombre en lugar de por posición, y es clave para mapear valores en ggplot2.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A5"/>
                </a:solidFill>
                <a:latin typeface="Ubuntu"/>
              </a:defRPr>
            </a:pPr>
            <a:r>
              <a:t>Sintaxis: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80"/>
            <a:ext cx="6400800" cy="9144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mi_vector &lt;- c("nombre_1" = valor1,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             "nombre_2" = valor2,</a:t>
            </a:r>
          </a:p>
          <a:p>
            <a:pPr>
              <a:spcAft>
                <a:spcPts val="200"/>
              </a:spcAft>
              <a:defRPr sz="1400">
                <a:solidFill>
                  <a:srgbClr val="1E293B"/>
                </a:solidFill>
                <a:latin typeface="Ubuntu Mono"/>
              </a:defRPr>
            </a:pPr>
            <a:r>
              <a:t>               "nombre_3" = valor3)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3DA5"/>
                </a:solidFill>
                <a:latin typeface="Ubuntu"/>
              </a:defRPr>
            </a:pPr>
            <a:r>
              <a:t>Ejemplos: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846320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# Definir colores para categorías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colores &lt;- c("Norte"  = "#003DA5",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         "Centro" = "#1B8A4A",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         "Sur"    = "#C0397A")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# Usar en ggplot con scale_*_manual()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ggplot(datos, aes(x = region, y = valor,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                fill = region)) +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geom_col() +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scale_fill_manual(values = colores)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# Acceder por nombre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colores["Norte"]   # "#003DA5"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9144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Ubuntu"/>
              </a:defRPr>
            </a:pPr>
            <a:r>
              <a:t>¿Para qué sirven?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71600"/>
            <a:ext cx="5943600" cy="2743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155448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Asignar colores fijos a categorías en</a:t>
            </a:r>
            <a:br/>
            <a:r>
              <a:t>  scale_fill_manual() / scale_color_manual()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Renombrar o recodificar valores con</a:t>
            </a:r>
            <a:br/>
            <a:r>
              <a:t>  recode() o deframe()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Acceder a valores por nombre en vez de</a:t>
            </a:r>
            <a:br/>
            <a:r>
              <a:t>  por posición numérica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Crear etiquetas personalizadas para facetas</a:t>
            </a:r>
            <a:br/>
            <a:r>
              <a:t>  o ejes en gráficas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  Definir parámetros de configuración</a:t>
            </a:r>
            <a:br/>
            <a:r>
              <a:t>  reutilizables en tu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572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2E"/>
                </a:solidFill>
                <a:latin typeface="Ubuntu"/>
              </a:defRPr>
            </a:pPr>
            <a:r>
              <a:t>Uso típico en ggplot2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937760"/>
            <a:ext cx="5943600" cy="27432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5120640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El nombre del vector debe coincidir exactamente</a:t>
            </a:r>
          </a:p>
          <a:p>
            <a:pPr algn="l">
              <a:spcAft>
                <a:spcPts val="600"/>
              </a:spcAft>
              <a:defRPr sz="1500" b="0">
                <a:solidFill>
                  <a:srgbClr val="555566"/>
                </a:solidFill>
                <a:latin typeface="Ubuntu"/>
              </a:defRPr>
            </a:pPr>
            <a:r>
              <a:t>con los valores de la variable en los datos: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6309360"/>
            <a:ext cx="6217920" cy="1188720"/>
          </a:xfrm>
          <a:prstGeom prst="roundRect">
            <a:avLst>
              <a:gd name="adj" fmla="val 2000"/>
            </a:avLst>
          </a:prstGeom>
          <a:solidFill>
            <a:srgbClr val="F3F4F8"/>
          </a:solidFill>
          <a:ln w="12700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# Si la columna 'region' tiene: Norte, Centro, Sur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# Los nombres del vector deben ser iguales: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c("Norte" = "#003DA5", "Centro" = "#1B8A4A",</a:t>
            </a:r>
          </a:p>
          <a:p>
            <a:pPr>
              <a:spcAft>
                <a:spcPts val="200"/>
              </a:spcAft>
              <a:defRPr sz="1200">
                <a:solidFill>
                  <a:srgbClr val="1E293B"/>
                </a:solidFill>
                <a:latin typeface="Ubuntu Mono"/>
              </a:defRPr>
            </a:pPr>
            <a:r>
              <a:t>  "Sur" = "#C0397A")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