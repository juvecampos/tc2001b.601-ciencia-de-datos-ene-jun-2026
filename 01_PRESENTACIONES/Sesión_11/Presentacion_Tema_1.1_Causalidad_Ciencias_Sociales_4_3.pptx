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68580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19200"/>
            <a:ext cx="8229600" cy="304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Tema 1.1:</a:t>
            </a:r>
            <a:endParaRPr lang="en-US" sz="3600" dirty="0"/>
          </a:p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Causalidad en ciencias sociales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3D8EB9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Más allá de la correlación: entendiendo causa y efecto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096000"/>
            <a:ext cx="82296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Módulo 1: Introducción y fundamentos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4C7C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Contenido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9144000" cy="60960"/>
          </a:xfrm>
          <a:prstGeom prst="rect">
            <a:avLst/>
          </a:prstGeom>
          <a:solidFill>
            <a:srgbClr val="1E4C7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828800"/>
            <a:ext cx="4114800" cy="426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1. Correlación vs causalidad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2. Variables confusoras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3. Sesgos en análisis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4. DAGs (gráficos acíclicos)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5. Contrafactuales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828800"/>
            <a:ext cx="4114800" cy="426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6. Potencial de outcomes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7. Sesgo de selección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8. Experimentos naturales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9. Ejemplos en política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10. Inferencia causal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4C7C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5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El dilema de la evaluación de políticas públicas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9144000" cy="60960"/>
          </a:xfrm>
          <a:prstGeom prst="rect">
            <a:avLst/>
          </a:prstGeom>
          <a:solidFill>
            <a:srgbClr val="1E4C7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975360"/>
          </a:xfrm>
          <a:prstGeom prst="rect">
            <a:avLst/>
          </a:prstGeom>
          <a:solidFill>
            <a:srgbClr val="E8F4F8"/>
          </a:solidFill>
          <a:ln w="12700">
            <a:solidFill>
              <a:srgbClr val="3D8EB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50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Programa de becas: municipios beneficiarios tienen 15% más tasa de graduación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48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25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¿Pregunta central: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535680"/>
            <a:ext cx="786384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¿Causó el programa ese aumento?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¿O se graduarían de todas formas porque tienen mejor infraestructura?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¿Los municipios beneficiarios ya eran diferentes?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4C7C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Correlación vs Causalidad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9144000" cy="60960"/>
          </a:xfrm>
          <a:prstGeom prst="rect">
            <a:avLst/>
          </a:prstGeom>
          <a:solidFill>
            <a:srgbClr val="1E4C7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2255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B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2011680"/>
            <a:ext cx="411480" cy="548640"/>
          </a:xfrm>
          <a:prstGeom prst="ellipse">
            <a:avLst/>
          </a:prstGeom>
          <a:solidFill>
            <a:srgbClr val="3D8EB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Ubuntu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072640"/>
            <a:ext cx="3200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Correlación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04160"/>
            <a:ext cx="3657600" cy="1158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75" dirty="0">
                <a:solidFill>
                  <a:srgbClr val="64748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Dos variables se mueven juntas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931920" cy="2255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B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37760" y="2011680"/>
            <a:ext cx="411480" cy="548640"/>
          </a:xfrm>
          <a:prstGeom prst="ellipse">
            <a:avLst/>
          </a:prstGeom>
          <a:solidFill>
            <a:srgbClr val="3D8EB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20116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Ubuntu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2072640"/>
            <a:ext cx="3200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Causalidad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804160"/>
            <a:ext cx="3657600" cy="1158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75" dirty="0">
                <a:solidFill>
                  <a:srgbClr val="64748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Un cambio en X causa cambio en 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75" i="1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Ejemplo: tamaño de zapatos vs inteligencia (correlacionados en niños, pero causa=edad)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5730240"/>
            <a:ext cx="8229600" cy="899160"/>
          </a:xfrm>
          <a:prstGeom prst="rect">
            <a:avLst/>
          </a:prstGeom>
          <a:solidFill>
            <a:srgbClr val="E8F4F8"/>
          </a:solidFill>
          <a:ln w="12700">
            <a:solidFill>
              <a:srgbClr val="3D8EB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5852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REGLA: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Correlación no implica causación, pero causalidad requiere correlación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4C7C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Variables confusoras (confounders)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9144000" cy="60960"/>
          </a:xfrm>
          <a:prstGeom prst="rect">
            <a:avLst/>
          </a:prstGeom>
          <a:solidFill>
            <a:srgbClr val="1E4C7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853440"/>
          </a:xfrm>
          <a:prstGeom prst="rect">
            <a:avLst/>
          </a:prstGeom>
          <a:solidFill>
            <a:srgbClr val="E8F4F8"/>
          </a:solidFill>
          <a:ln w="12700">
            <a:solidFill>
              <a:srgbClr val="3D8EB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50720"/>
            <a:ext cx="7863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Una variable confusora afecta tanto a X (tratamiento) como a Y (resultado)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Ejemplo del programa de becas: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35680"/>
            <a:ext cx="8229600" cy="103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3535680"/>
            <a:ext cx="73152" cy="1036320"/>
          </a:xfrm>
          <a:prstGeom prst="rect">
            <a:avLst/>
          </a:prstGeom>
          <a:solidFill>
            <a:srgbClr val="3D8EB9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Ingreso familiar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3657600"/>
            <a:ext cx="640080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Afecta selección de municipios AND tasa de graduación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693920"/>
            <a:ext cx="8229600" cy="103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4693920"/>
            <a:ext cx="73152" cy="1036320"/>
          </a:xfrm>
          <a:prstGeom prst="rect">
            <a:avLst/>
          </a:prstGeom>
          <a:solidFill>
            <a:srgbClr val="3D8EB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4815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Infraestructura escolar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4815840"/>
            <a:ext cx="640080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Afecta dónde se implementan becas AND éxito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585216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5852160"/>
            <a:ext cx="73152" cy="777240"/>
          </a:xfrm>
          <a:prstGeom prst="rect">
            <a:avLst/>
          </a:prstGeom>
          <a:solidFill>
            <a:srgbClr val="3D8EB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5974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Experiencia docente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5974080"/>
            <a:ext cx="6400800" cy="655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Afecta ambos: asignación de recursos y resultados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4C7C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DAGs: Gráficos acíclicos dirigidos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9144000" cy="60960"/>
          </a:xfrm>
          <a:prstGeom prst="rect">
            <a:avLst/>
          </a:prstGeom>
          <a:solidFill>
            <a:srgbClr val="1E4C7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solidFill>
            <a:srgbClr val="E8F4F8"/>
          </a:solidFill>
          <a:ln w="12700">
            <a:solidFill>
              <a:srgbClr val="3D8EB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50720"/>
            <a:ext cx="7863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DAG = diagrama que muestra relaciones causales entre variables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04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Ejemplo: Programa de becas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1097280" cy="731520"/>
          </a:xfrm>
          <a:prstGeom prst="ellipse">
            <a:avLst/>
          </a:prstGeom>
          <a:solidFill>
            <a:srgbClr val="2E6B8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657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Ingreso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3048000"/>
            <a:ext cx="1371600" cy="731520"/>
          </a:xfrm>
          <a:prstGeom prst="ellipse">
            <a:avLst/>
          </a:prstGeom>
          <a:solidFill>
            <a:srgbClr val="3D8EB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00400" y="3048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Becas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3657600"/>
            <a:ext cx="1645920" cy="73152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0" y="3657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Graduación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3535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3D8EB9"/>
                </a:solidFill>
                <a:latin typeface="Ubuntu"/>
              </a:rPr>
              <a:t>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3D8EB9"/>
                </a:solidFill>
                <a:latin typeface="Ubuntu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3901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2E6B8A"/>
                </a:solidFill>
                <a:latin typeface="Ubuntu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4876800"/>
            <a:ext cx="82296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75" i="1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DAGs help identify confounders and what to control for statistically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4C7C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Contrafactuales: mundos posibles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9144000" cy="60960"/>
          </a:xfrm>
          <a:prstGeom prst="rect">
            <a:avLst/>
          </a:prstGeom>
          <a:solidFill>
            <a:srgbClr val="1E4C7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792480"/>
          </a:xfrm>
          <a:prstGeom prst="rect">
            <a:avLst/>
          </a:prstGeom>
          <a:solidFill>
            <a:srgbClr val="E8F4F8"/>
          </a:solidFill>
          <a:ln w="12700">
            <a:solidFill>
              <a:srgbClr val="3D8EB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50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Efecto causal = Resultado CON tratamiento - Resultado SIN tratamiento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04160"/>
            <a:ext cx="4114800" cy="3825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B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804160"/>
            <a:ext cx="4114800" cy="426720"/>
          </a:xfrm>
          <a:prstGeom prst="rect">
            <a:avLst/>
          </a:prstGeom>
          <a:solidFill>
            <a:srgbClr val="2E6B8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2865120"/>
            <a:ext cx="38404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Mundo factual (real)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13760"/>
            <a:ext cx="3749040" cy="304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El municipio recibe becas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Tasa de graduación: 70%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Esto observamos</a:t>
            </a:r>
            <a:endParaRPr lang="en-US" sz="1100" dirty="0"/>
          </a:p>
          <a:p>
            <a:pPr indent="0" marL="0">
              <a:buNone/>
            </a:pPr>
            <a:r>
              <a:rPr lang="en-US" sz="1375" i="1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Pero ¿qué hubiera pasado sin becas?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804160"/>
            <a:ext cx="3931920" cy="3825240"/>
          </a:xfrm>
          <a:prstGeom prst="rect">
            <a:avLst/>
          </a:prstGeom>
          <a:solidFill>
            <a:srgbClr val="F1F5F9"/>
          </a:solidFill>
          <a:ln w="25400">
            <a:solidFill>
              <a:srgbClr val="3D8EB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754880" y="2804160"/>
            <a:ext cx="3931920" cy="426720"/>
          </a:xfrm>
          <a:prstGeom prst="rect">
            <a:avLst/>
          </a:prstGeom>
          <a:solidFill>
            <a:srgbClr val="3D8EB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92040" y="2865120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Mundo contrafáctico (imaginado)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3413760"/>
            <a:ext cx="3657600" cy="304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El municipio NO recibe becas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Tasa de graduación estimada: 55%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Nunca lo observamos</a:t>
            </a:r>
            <a:endParaRPr lang="en-US" sz="1100" dirty="0"/>
          </a:p>
          <a:p>
            <a:pPr indent="0" marL="0">
              <a:buNone/>
            </a:pPr>
            <a:r>
              <a:rPr lang="en-US" sz="1375" b="1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Efecto = 70% - 55% = 15%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4C7C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5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Potencial de outcomes (potential outcomes)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9144000" cy="60960"/>
          </a:xfrm>
          <a:prstGeom prst="rect">
            <a:avLst/>
          </a:prstGeom>
          <a:solidFill>
            <a:srgbClr val="1E4C7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792480"/>
          </a:xfrm>
          <a:prstGeom prst="rect">
            <a:avLst/>
          </a:prstGeom>
          <a:solidFill>
            <a:srgbClr val="E8F4F8"/>
          </a:solidFill>
          <a:ln w="12700">
            <a:solidFill>
              <a:srgbClr val="3D8EB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50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Cada unidad (municipio, estudiante) tiene dos posibles resultados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04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Notación matemática: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52800"/>
            <a:ext cx="8229600" cy="243840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3535680"/>
            <a:ext cx="7955280" cy="2072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onsolas" pitchFamily="34" charset="-122"/>
                <a:cs typeface="Consolas" pitchFamily="34" charset="-120"/>
              </a:rPr>
              <a:t>Y(1) = resultado si recibe tratamiento</a:t>
            </a:r>
            <a:endParaRPr lang="en-US" sz="1100" dirty="0"/>
          </a:p>
          <a:p>
            <a:pPr algn="l" indent="0" marL="0">
              <a:buNone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onsolas" pitchFamily="34" charset="-122"/>
                <a:cs typeface="Consolas" pitchFamily="34" charset="-120"/>
              </a:rPr>
              <a:t>Y(0) = resultado sin tratamiento</a:t>
            </a:r>
            <a:endParaRPr lang="en-US" sz="1100" dirty="0"/>
          </a:p>
          <a:p>
            <a:pPr algn="l" indent="0" marL="0">
              <a:buNone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onsolas" pitchFamily="34" charset="-122"/>
                <a:cs typeface="Consolas" pitchFamily="34" charset="-120"/>
              </a:rPr>
              <a:t>Tratamiento Effect = Y(1) - Y(0)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onsolas" pitchFamily="34" charset="-122"/>
                <a:cs typeface="Consolas" pitchFamily="34" charset="-120"/>
              </a:rPr>
              <a:t>EL PROBLEMA FUNDAMENTAL:</a:t>
            </a:r>
            <a:endParaRPr lang="en-US" sz="1100" dirty="0"/>
          </a:p>
          <a:p>
            <a:pPr algn="l" indent="0" marL="0">
              <a:buNone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onsolas" pitchFamily="34" charset="-122"/>
                <a:cs typeface="Consolas" pitchFamily="34" charset="-120"/>
              </a:rPr>
              <a:t>Cada unidad observa solo Y(1) O Y(0), nunca ambos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75" i="1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Inferencia causal = estimar Y(1) o Y(0) que no vimos usando supuestos estadísticos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4C7C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Sesgo de selección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9144000" cy="60960"/>
          </a:xfrm>
          <a:prstGeom prst="rect">
            <a:avLst/>
          </a:prstGeom>
          <a:solidFill>
            <a:srgbClr val="1E4C7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853440"/>
          </a:xfrm>
          <a:prstGeom prst="rect">
            <a:avLst/>
          </a:prstGeom>
          <a:solidFill>
            <a:srgbClr val="E8F4F8"/>
          </a:solidFill>
          <a:ln w="12700">
            <a:solidFill>
              <a:srgbClr val="3D8EB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50720"/>
            <a:ext cx="7863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Ocurre cuando los municipios que reciben becas son sistemáticamente diferentes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¿Quién fue seleccionado para recibir becas?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35680"/>
            <a:ext cx="8229600" cy="103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B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657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2E6B8A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Opción A: Aleatorio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3657600"/>
            <a:ext cx="365760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Por sorteo (sin sesgo)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754880"/>
            <a:ext cx="8229600" cy="103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3D8EB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4876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3D8EB9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Opción B: Por necesidad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4876800"/>
            <a:ext cx="365760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Los más pobres (probable sesgo negativo)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5974080"/>
            <a:ext cx="8229600" cy="655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609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Opción C: Por capacidad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6096000"/>
            <a:ext cx="36576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Ubuntu" pitchFamily="34" charset="0"/>
                <a:ea typeface="Calibri" pitchFamily="34" charset="-122"/>
                <a:cs typeface="Calibri" pitchFamily="34" charset="-120"/>
              </a:rPr>
              <a:t>Los con mejor infraestructura (sesgo positivo)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4C7C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5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Solución 1: Experimentos aleatorizados (RCT)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9144000" cy="60960"/>
          </a:xfrm>
          <a:prstGeom prst="rect">
            <a:avLst/>
          </a:prstGeom>
          <a:solidFill>
            <a:srgbClr val="1E4C7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solidFill>
            <a:srgbClr val="E8F4F8"/>
          </a:solidFill>
          <a:ln w="12700">
            <a:solidFill>
              <a:srgbClr val="3D8EB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50720"/>
            <a:ext cx="7863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Randomized Controlled Trial: asignación por sorteo elimina sesgos de selección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04160"/>
            <a:ext cx="3931920" cy="304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B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987040"/>
            <a:ext cx="411480" cy="548640"/>
          </a:xfrm>
          <a:prstGeom prst="ellipse">
            <a:avLst/>
          </a:prstGeom>
          <a:solidFill>
            <a:srgbClr val="3D8EB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9870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Ubuntu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987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Grupo Tratamiento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18560"/>
            <a:ext cx="3657600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200 municipios reciben becas (sorteo)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804160"/>
            <a:ext cx="3931920" cy="304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B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937760" y="2987040"/>
            <a:ext cx="411480" cy="548640"/>
          </a:xfrm>
          <a:prstGeom prst="ellipse">
            <a:avLst/>
          </a:prstGeom>
          <a:solidFill>
            <a:srgbClr val="3D8EB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37760" y="29870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Ubuntu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2987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Grupo Control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718560"/>
            <a:ext cx="3657600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200 municipios no reciben (sorteo)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096000"/>
            <a:ext cx="82296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75" i="1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Ventaja: Grupos son estadísticamente idénticos (por ley de grandes números)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4C7C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Solución 2: Métodos cuasiexperimentales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9144000" cy="60960"/>
          </a:xfrm>
          <a:prstGeom prst="rect">
            <a:avLst/>
          </a:prstGeom>
          <a:solidFill>
            <a:srgbClr val="1E4C7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Cuando no puedes hacer RCT, usa métodos que imitan experimentos: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3931920" cy="158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743200"/>
            <a:ext cx="35661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Diferencias en diferencias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230880"/>
            <a:ext cx="356616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Compara cambios en municipios tratados vs control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2560320"/>
            <a:ext cx="3931920" cy="158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37760" y="2743200"/>
            <a:ext cx="35661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Regresión discontinua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3230880"/>
            <a:ext cx="356616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Explota corte en criterio de selección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511040"/>
            <a:ext cx="3931920" cy="158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4693920"/>
            <a:ext cx="35661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Matching propensity 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181600"/>
            <a:ext cx="356616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Empareja unidades similares (con vs sin tratamiento)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4511040"/>
            <a:ext cx="3931920" cy="158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37760" y="4693920"/>
            <a:ext cx="35661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Variables instrumentales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5181600"/>
            <a:ext cx="356616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Usa variable exógena que afecte tratamiento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4C7C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Experimentos naturales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9144000" cy="60960"/>
          </a:xfrm>
          <a:prstGeom prst="rect">
            <a:avLst/>
          </a:prstGeom>
          <a:solidFill>
            <a:srgbClr val="1E4C7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853440"/>
          </a:xfrm>
          <a:prstGeom prst="rect">
            <a:avLst/>
          </a:prstGeom>
          <a:solidFill>
            <a:srgbClr val="E8F4F8"/>
          </a:solidFill>
          <a:ln w="12700">
            <a:solidFill>
              <a:srgbClr val="3D8EB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50720"/>
            <a:ext cx="7863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Política pública genera variación aleatoria que podemos explotar (como RCT)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03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3048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Progresa en México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3048000"/>
            <a:ext cx="484632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Programa de transferencias: fase 1 vs fase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145280"/>
            <a:ext cx="8229600" cy="103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B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426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2E6B8A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Cambios de cortes escolares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4267200"/>
            <a:ext cx="484632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Estudiantes nacidos justo antes/después cutoff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364480"/>
            <a:ext cx="8229600" cy="103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3D8EB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75" b="1" dirty="0">
                <a:solidFill>
                  <a:srgbClr val="3D8EB9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Cambios de leyes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5486400"/>
            <a:ext cx="484632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Edad mínima de trabajo, salario mínimo por región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4C7C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Supuestos clave de inferencia causal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9144000" cy="60960"/>
          </a:xfrm>
          <a:prstGeom prst="rect">
            <a:avLst/>
          </a:prstGeom>
          <a:solidFill>
            <a:srgbClr val="1E4C7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463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1. SUTVA: tratamiento de una unidad no afecta a otras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2. Consistencia: si recibes tratamiento, tu resultado es Y(1)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3. Positividad: todos tienen probabilidad &gt; 0 de recibir tratamiento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4. No confunders: no hay variables no observadas que confundan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5. Ignorabilidad: selección no depende de resultados potenciales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4C7C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Ejemplo: Política de salario mínimo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9144000" cy="60960"/>
          </a:xfrm>
          <a:prstGeom prst="rect">
            <a:avLst/>
          </a:prstGeom>
          <a:solidFill>
            <a:srgbClr val="1E4C7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¿Aumentar salario mínimo destruye empleos?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2682240"/>
            <a:ext cx="2743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Correlación simple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66160" y="2682240"/>
            <a:ext cx="274320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Parece que sí (estados altos en min=empleo bajo)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0" y="2743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D8EB9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NO confiable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7795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3901440"/>
            <a:ext cx="2743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Regresión con controles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3901440"/>
            <a:ext cx="274320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Efecto pequeño, p=0.08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3962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B3A5C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Mejor pero inseguro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9987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5120640"/>
            <a:ext cx="2743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Diferencias en diferencias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5120640"/>
            <a:ext cx="274320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Efecto nulo (estudio Card-Krueger)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518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B3A5C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Evidencia fuerte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4C7C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Resumen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9144000" cy="60960"/>
          </a:xfrm>
          <a:prstGeom prst="rect">
            <a:avLst/>
          </a:prstGeom>
          <a:solidFill>
            <a:srgbClr val="1E4C7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463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1. Correlación no implica causación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2. Variables confusoras crean sesgo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3. Contrafactuales: qué hubiera pasado sin tratamiento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4. RCT es gold standard pero no siempre posible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5. Cuasiexperimentos y naturales aprox. RCT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375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6. Siempre declare supuestos para inferencia causal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4C7C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Próximo tema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9144000" cy="60960"/>
          </a:xfrm>
          <a:prstGeom prst="rect">
            <a:avLst/>
          </a:prstGeom>
          <a:solidFill>
            <a:srgbClr val="1E4C7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4632960"/>
          </a:xfrm>
          <a:prstGeom prst="rect">
            <a:avLst/>
          </a:prstGeom>
          <a:solidFill>
            <a:srgbClr val="E8F4F8"/>
          </a:solidFill>
          <a:ln w="25400">
            <a:solidFill>
              <a:srgbClr val="3D8EB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2072640"/>
            <a:ext cx="7863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B3A5C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Tema 1.2: Machine Learning en política pública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25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Predicción vs Inferencia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625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Supervisado vs No supervisado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625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Ciclo de vida de proyectos ML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625" dirty="0">
                <a:solidFill>
                  <a:srgbClr val="1E293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Ética y sesgo en algoritmos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82296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¿Preguntas?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8EB9"/>
                </a:solidFill>
                <a:latin typeface="Ubuntu" pitchFamily="34" charset="0"/>
                <a:ea typeface="Georgia" pitchFamily="34" charset="-122"/>
                <a:cs typeface="Georgia" pitchFamily="34" charset="-120"/>
              </a:rPr>
              <a:t>Próximas actividades: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42672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Identifica una política pública que te interese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Dibuja un DAG mostrando relaciones causales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Piensa: ¿qué método causal es más apropiado?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75" i="1" dirty="0">
                <a:solidFill>
                  <a:srgbClr val="64748B"/>
                </a:solidFill>
                <a:latin typeface="Ubuntu" pitchFamily="34" charset="0"/>
                <a:ea typeface="Calabri" pitchFamily="34" charset="-122"/>
                <a:cs typeface="Calabri" pitchFamily="34" charset="-120"/>
              </a:rPr>
              <a:t>Recurso: Pearl, J. (2009) Causality. MIT Press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1.1: Causalidad en ciencias sociales</dc:title>
  <dc:subject>PptxGenJS Presentation</dc:subject>
  <dc:creator>Curso ML CCM</dc:creator>
  <cp:lastModifiedBy>Curso ML CCM</cp:lastModifiedBy>
  <cp:revision>1</cp:revision>
  <dcterms:created xsi:type="dcterms:W3CDTF">2026-02-06T03:11:55Z</dcterms:created>
  <dcterms:modified xsi:type="dcterms:W3CDTF">2026-02-06T03:11:55Z</dcterms:modified>
</cp:coreProperties>
</file>