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058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5486400" cy="548640"/>
          </a:xfrm>
          <a:prstGeom prst="rect">
            <a:avLst/>
          </a:prstGeom>
          <a:noFill/>
        </p:spPr>
        <p:txBody>
          <a:bodyPr wrap="square" lIns="0" rIns="0" tIns="0" bIns="0" anchor="ctr">
            <a:spAutoFit/>
          </a:bodyPr>
          <a:lstStyle/>
          <a:p>
            <a:pPr algn="l"/>
            <a:r>
              <a:rPr sz="2000" b="1" i="0">
                <a:solidFill>
                  <a:srgbClr val="1E4C7D"/>
                </a:solidFill>
                <a:latin typeface="Ubuntu"/>
              </a:rPr>
              <a:t>Tecnológico de Monterrey</a:t>
            </a:r>
          </a:p>
        </p:txBody>
      </p:sp>
      <p:sp>
        <p:nvSpPr>
          <p:cNvPr id="5" name="Rectangle 4"/>
          <p:cNvSpPr/>
          <p:nvPr/>
        </p:nvSpPr>
        <p:spPr>
          <a:xfrm>
            <a:off x="0" y="1005840"/>
            <a:ext cx="9144000" cy="3291840"/>
          </a:xfrm>
          <a:prstGeom prst="rect">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8046720" cy="1828800"/>
          </a:xfrm>
          <a:prstGeom prst="rect">
            <a:avLst/>
          </a:prstGeom>
          <a:noFill/>
        </p:spPr>
        <p:txBody>
          <a:bodyPr wrap="square" lIns="0" rIns="0" tIns="0" bIns="0">
            <a:spAutoFit/>
          </a:bodyPr>
          <a:lstStyle/>
          <a:p>
            <a:pPr algn="l">
              <a:lnSpc>
                <a:spcPct val="105000"/>
              </a:lnSpc>
            </a:pPr>
            <a:r>
              <a:rPr sz="4000" b="1" i="0">
                <a:solidFill>
                  <a:srgbClr val="1E4C7D"/>
                </a:solidFill>
                <a:latin typeface="Ubuntu"/>
              </a:rPr>
              <a:t>Clases desbalanceadas</a:t>
            </a:r>
          </a:p>
          <a:p>
            <a:pPr algn="l">
              <a:lnSpc>
                <a:spcPct val="105000"/>
              </a:lnSpc>
            </a:pPr>
            <a:r>
              <a:rPr sz="4000" b="1" i="0">
                <a:solidFill>
                  <a:srgbClr val="1E4C7D"/>
                </a:solidFill>
                <a:latin typeface="Ubuntu"/>
              </a:rPr>
              <a:t>Cuando lo raro es lo que importa</a:t>
            </a:r>
          </a:p>
        </p:txBody>
      </p:sp>
      <p:sp>
        <p:nvSpPr>
          <p:cNvPr id="7" name="TextBox 6"/>
          <p:cNvSpPr txBox="1"/>
          <p:nvPr/>
        </p:nvSpPr>
        <p:spPr>
          <a:xfrm>
            <a:off x="548640" y="3611880"/>
            <a:ext cx="8046720" cy="640080"/>
          </a:xfrm>
          <a:prstGeom prst="rect">
            <a:avLst/>
          </a:prstGeom>
          <a:noFill/>
        </p:spPr>
        <p:txBody>
          <a:bodyPr wrap="square" lIns="0" rIns="0" tIns="0" bIns="0">
            <a:spAutoFit/>
          </a:bodyPr>
          <a:lstStyle/>
          <a:p>
            <a:pPr algn="l"/>
            <a:r>
              <a:rPr sz="1800" b="0" i="1">
                <a:solidFill>
                  <a:srgbClr val="1E4C7D"/>
                </a:solidFill>
                <a:latin typeface="Ubuntu"/>
              </a:rPr>
              <a:t>Sesión 19  ·  Detección de fraude y clientes de alto valor</a:t>
            </a:r>
          </a:p>
        </p:txBody>
      </p:sp>
      <p:sp>
        <p:nvSpPr>
          <p:cNvPr id="8" name="TextBox 7"/>
          <p:cNvSpPr txBox="1"/>
          <p:nvPr/>
        </p:nvSpPr>
        <p:spPr>
          <a:xfrm>
            <a:off x="548640" y="4937760"/>
            <a:ext cx="8046720" cy="914400"/>
          </a:xfrm>
          <a:prstGeom prst="rect">
            <a:avLst/>
          </a:prstGeom>
          <a:noFill/>
        </p:spPr>
        <p:txBody>
          <a:bodyPr wrap="square" lIns="0" rIns="0" tIns="0" bIns="0">
            <a:spAutoFit/>
          </a:bodyPr>
          <a:lstStyle/>
          <a:p>
            <a:pPr algn="l">
              <a:lnSpc>
                <a:spcPct val="130000"/>
              </a:lnSpc>
            </a:pPr>
            <a:r>
              <a:rPr sz="1400" b="0" i="0">
                <a:solidFill>
                  <a:srgbClr val="000000"/>
                </a:solidFill>
                <a:latin typeface="Ubuntu"/>
              </a:rPr>
              <a:t>Tecnológico de Monterrey  ·  TC2001B.601 Ciencia de datos</a:t>
            </a:r>
          </a:p>
          <a:p>
            <a:pPr algn="l">
              <a:lnSpc>
                <a:spcPct val="130000"/>
              </a:lnSpc>
            </a:pPr>
            <a:r>
              <a:rPr sz="1400" b="0" i="0">
                <a:solidFill>
                  <a:srgbClr val="000000"/>
                </a:solidFill>
                <a:latin typeface="Ubuntu"/>
              </a:rPr>
              <a:t>Prof. Jorge Juvenal Campos Ferreira</a:t>
            </a:r>
          </a:p>
        </p:txBody>
      </p:sp>
      <p:sp>
        <p:nvSpPr>
          <p:cNvPr id="9" name="Rectangle 8"/>
          <p:cNvSpPr/>
          <p:nvPr/>
        </p:nvSpPr>
        <p:spPr>
          <a:xfrm>
            <a:off x="548640" y="6126480"/>
            <a:ext cx="1828800" cy="4572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Lo que veremos hoy</a:t>
            </a:r>
          </a:p>
        </p:txBody>
      </p:sp>
      <p:sp>
        <p:nvSpPr>
          <p:cNvPr id="5" name="Oval 4"/>
          <p:cNvSpPr/>
          <p:nvPr/>
        </p:nvSpPr>
        <p:spPr>
          <a:xfrm>
            <a:off x="457200" y="132588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1</a:t>
            </a:r>
          </a:p>
        </p:txBody>
      </p:sp>
      <p:sp>
        <p:nvSpPr>
          <p:cNvPr id="6" name="TextBox 5"/>
          <p:cNvSpPr txBox="1"/>
          <p:nvPr/>
        </p:nvSpPr>
        <p:spPr>
          <a:xfrm>
            <a:off x="1078992" y="130759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El problema: cuando una clase es rarísima</a:t>
            </a:r>
          </a:p>
        </p:txBody>
      </p:sp>
      <p:sp>
        <p:nvSpPr>
          <p:cNvPr id="7" name="Oval 6"/>
          <p:cNvSpPr/>
          <p:nvPr/>
        </p:nvSpPr>
        <p:spPr>
          <a:xfrm>
            <a:off x="457200" y="219456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2</a:t>
            </a:r>
          </a:p>
        </p:txBody>
      </p:sp>
      <p:sp>
        <p:nvSpPr>
          <p:cNvPr id="8" name="TextBox 7"/>
          <p:cNvSpPr txBox="1"/>
          <p:nvPr/>
        </p:nvSpPr>
        <p:spPr>
          <a:xfrm>
            <a:off x="1078992" y="217627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La trampa del porcentaje de aciertos</a:t>
            </a:r>
          </a:p>
        </p:txBody>
      </p:sp>
      <p:sp>
        <p:nvSpPr>
          <p:cNvPr id="9" name="Oval 8"/>
          <p:cNvSpPr/>
          <p:nvPr/>
        </p:nvSpPr>
        <p:spPr>
          <a:xfrm>
            <a:off x="457200" y="3063239"/>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3</a:t>
            </a:r>
          </a:p>
        </p:txBody>
      </p:sp>
      <p:sp>
        <p:nvSpPr>
          <p:cNvPr id="10" name="TextBox 9"/>
          <p:cNvSpPr txBox="1"/>
          <p:nvPr/>
        </p:nvSpPr>
        <p:spPr>
          <a:xfrm>
            <a:off x="1078992" y="3044951"/>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La matriz de confusión revisitada</a:t>
            </a:r>
          </a:p>
        </p:txBody>
      </p:sp>
      <p:sp>
        <p:nvSpPr>
          <p:cNvPr id="11" name="Oval 10"/>
          <p:cNvSpPr/>
          <p:nvPr/>
        </p:nvSpPr>
        <p:spPr>
          <a:xfrm>
            <a:off x="457200" y="393192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4</a:t>
            </a:r>
          </a:p>
        </p:txBody>
      </p:sp>
      <p:sp>
        <p:nvSpPr>
          <p:cNvPr id="12" name="TextBox 11"/>
          <p:cNvSpPr txBox="1"/>
          <p:nvPr/>
        </p:nvSpPr>
        <p:spPr>
          <a:xfrm>
            <a:off x="1078992" y="391363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Métricas correctas: precisión, recall y F1</a:t>
            </a:r>
          </a:p>
        </p:txBody>
      </p:sp>
      <p:sp>
        <p:nvSpPr>
          <p:cNvPr id="13" name="Oval 12"/>
          <p:cNvSpPr/>
          <p:nvPr/>
        </p:nvSpPr>
        <p:spPr>
          <a:xfrm>
            <a:off x="4709160" y="132588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5</a:t>
            </a:r>
          </a:p>
        </p:txBody>
      </p:sp>
      <p:sp>
        <p:nvSpPr>
          <p:cNvPr id="14" name="TextBox 13"/>
          <p:cNvSpPr txBox="1"/>
          <p:nvPr/>
        </p:nvSpPr>
        <p:spPr>
          <a:xfrm>
            <a:off x="5330952" y="130759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Curvas ROC y Precisión-Recall</a:t>
            </a:r>
          </a:p>
        </p:txBody>
      </p:sp>
      <p:sp>
        <p:nvSpPr>
          <p:cNvPr id="15" name="Oval 14"/>
          <p:cNvSpPr/>
          <p:nvPr/>
        </p:nvSpPr>
        <p:spPr>
          <a:xfrm>
            <a:off x="4709160" y="219456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6</a:t>
            </a:r>
          </a:p>
        </p:txBody>
      </p:sp>
      <p:sp>
        <p:nvSpPr>
          <p:cNvPr id="16" name="TextBox 15"/>
          <p:cNvSpPr txBox="1"/>
          <p:nvPr/>
        </p:nvSpPr>
        <p:spPr>
          <a:xfrm>
            <a:off x="5330952" y="217627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Solución I: remuestreo (over- y undersampling)</a:t>
            </a:r>
          </a:p>
        </p:txBody>
      </p:sp>
      <p:sp>
        <p:nvSpPr>
          <p:cNvPr id="17" name="Oval 16"/>
          <p:cNvSpPr/>
          <p:nvPr/>
        </p:nvSpPr>
        <p:spPr>
          <a:xfrm>
            <a:off x="4709160" y="3063239"/>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7</a:t>
            </a:r>
          </a:p>
        </p:txBody>
      </p:sp>
      <p:sp>
        <p:nvSpPr>
          <p:cNvPr id="18" name="TextBox 17"/>
          <p:cNvSpPr txBox="1"/>
          <p:nvPr/>
        </p:nvSpPr>
        <p:spPr>
          <a:xfrm>
            <a:off x="5330952" y="3044951"/>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Solución II: SMOTE, crear ejemplos sintéticos</a:t>
            </a:r>
          </a:p>
        </p:txBody>
      </p:sp>
      <p:sp>
        <p:nvSpPr>
          <p:cNvPr id="19" name="Oval 18"/>
          <p:cNvSpPr/>
          <p:nvPr/>
        </p:nvSpPr>
        <p:spPr>
          <a:xfrm>
            <a:off x="4709160" y="393192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8</a:t>
            </a:r>
          </a:p>
        </p:txBody>
      </p:sp>
      <p:sp>
        <p:nvSpPr>
          <p:cNvPr id="20" name="TextBox 19"/>
          <p:cNvSpPr txBox="1"/>
          <p:nvPr/>
        </p:nvSpPr>
        <p:spPr>
          <a:xfrm>
            <a:off x="5330952" y="3913632"/>
            <a:ext cx="3383280" cy="822960"/>
          </a:xfrm>
          <a:prstGeom prst="rect">
            <a:avLst/>
          </a:prstGeom>
          <a:noFill/>
        </p:spPr>
        <p:txBody>
          <a:bodyPr wrap="square" lIns="0" rIns="0" tIns="0" bIns="0" anchor="ctr">
            <a:spAutoFit/>
          </a:bodyPr>
          <a:lstStyle/>
          <a:p>
            <a:pPr algn="l">
              <a:lnSpc>
                <a:spcPct val="110000"/>
              </a:lnSpc>
            </a:pPr>
            <a:r>
              <a:rPr sz="1400" b="0" i="0">
                <a:solidFill>
                  <a:srgbClr val="000000"/>
                </a:solidFill>
                <a:latin typeface="Ubuntu"/>
              </a:rPr>
              <a:t>Solución III: umbral y pesos de clase</a:t>
            </a:r>
          </a:p>
        </p:txBody>
      </p:sp>
      <p:sp>
        <p:nvSpPr>
          <p:cNvPr id="21" name="TextBox 20"/>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1</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El problema:</a:t>
            </a:r>
          </a:p>
          <a:p>
            <a:pPr algn="l">
              <a:lnSpc>
                <a:spcPct val="105000"/>
              </a:lnSpc>
            </a:pPr>
            <a:r>
              <a:rPr sz="3400" b="1" i="0">
                <a:solidFill>
                  <a:srgbClr val="FFFFFF"/>
                </a:solidFill>
                <a:latin typeface="Ubuntu"/>
              </a:rPr>
              <a:t>cuando una clase</a:t>
            </a:r>
          </a:p>
          <a:p>
            <a:pPr algn="l">
              <a:lnSpc>
                <a:spcPct val="105000"/>
              </a:lnSpc>
            </a:pPr>
            <a:r>
              <a:rPr sz="3400" b="1" i="0">
                <a:solidFill>
                  <a:srgbClr val="FFFFFF"/>
                </a:solidFill>
                <a:latin typeface="Ubuntu"/>
              </a:rPr>
              <a:t>es rarísima</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Fraude, enfermedades raras, clientes de alto valor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Una clase rarísima: el detector de metales</a:t>
            </a:r>
          </a:p>
        </p:txBody>
      </p:sp>
      <p:sp>
        <p:nvSpPr>
          <p:cNvPr id="5" name="Rectangle 4"/>
          <p:cNvSpPr/>
          <p:nvPr/>
        </p:nvSpPr>
        <p:spPr>
          <a:xfrm>
            <a:off x="274320" y="1417320"/>
            <a:ext cx="128016" cy="4206240"/>
          </a:xfrm>
          <a:prstGeom prst="rect">
            <a:avLst/>
          </a:prstGeom>
          <a:solidFill>
            <a:srgbClr val="C97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8412480" cy="4206240"/>
          </a:xfrm>
          <a:prstGeom prst="rect">
            <a:avLst/>
          </a:prstGeom>
          <a:solidFill>
            <a:srgbClr val="F7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1508760"/>
            <a:ext cx="8119872" cy="365760"/>
          </a:xfrm>
          <a:prstGeom prst="rect">
            <a:avLst/>
          </a:prstGeom>
          <a:noFill/>
        </p:spPr>
        <p:txBody>
          <a:bodyPr wrap="square" lIns="0" rIns="0" tIns="0" bIns="0">
            <a:spAutoFit/>
          </a:bodyPr>
          <a:lstStyle/>
          <a:p>
            <a:pPr algn="l"/>
            <a:r>
              <a:rPr sz="2000" b="1" i="0">
                <a:solidFill>
                  <a:srgbClr val="C97B2A"/>
                </a:solidFill>
                <a:latin typeface="Ubuntu"/>
              </a:rPr>
              <a:t>Piénsalo así</a:t>
            </a:r>
          </a:p>
        </p:txBody>
      </p:sp>
      <p:sp>
        <p:nvSpPr>
          <p:cNvPr id="8" name="TextBox 7"/>
          <p:cNvSpPr txBox="1"/>
          <p:nvPr/>
        </p:nvSpPr>
        <p:spPr>
          <a:xfrm>
            <a:off x="603504" y="1892808"/>
            <a:ext cx="8119872" cy="3639312"/>
          </a:xfrm>
          <a:prstGeom prst="rect">
            <a:avLst/>
          </a:prstGeom>
          <a:noFill/>
        </p:spPr>
        <p:txBody>
          <a:bodyPr wrap="square" lIns="0" rIns="0" tIns="0" bIns="0">
            <a:spAutoFit/>
          </a:bodyPr>
          <a:lstStyle/>
          <a:p>
            <a:pPr algn="l">
              <a:lnSpc>
                <a:spcPct val="150000"/>
              </a:lnSpc>
            </a:pPr>
            <a:r>
              <a:rPr sz="1800" b="0" i="0">
                <a:solidFill>
                  <a:srgbClr val="000000"/>
                </a:solidFill>
                <a:latin typeface="Ubuntu"/>
              </a:rPr>
              <a:t>Imagina que vas al aeropuerto y pasas por el detector de metales. La inmensa mayoría de las personas NO trae nada prohibido. El detector casi nunca suena.</a:t>
            </a:r>
          </a:p>
          <a:p>
            <a:pPr algn="l">
              <a:lnSpc>
                <a:spcPct val="150000"/>
              </a:lnSpc>
            </a:pPr>
            <a:r>
              <a:rPr sz="1800" b="0" i="0">
                <a:solidFill>
                  <a:srgbClr val="000000"/>
                </a:solidFill>
                <a:latin typeface="Ubuntu"/>
              </a:rPr>
              <a:t/>
            </a:r>
          </a:p>
          <a:p>
            <a:pPr algn="l">
              <a:lnSpc>
                <a:spcPct val="150000"/>
              </a:lnSpc>
            </a:pPr>
            <a:r>
              <a:rPr sz="1800" b="0" i="0">
                <a:solidFill>
                  <a:srgbClr val="000000"/>
                </a:solidFill>
                <a:latin typeface="Ubuntu"/>
              </a:rPr>
              <a:t>Si el detector estuviera roto y nunca sonara, 'acertaría' con casi todos los pasajeros. Pero su utilidad es detectar los pocos casos peligrosos, no confirmar que los demás son inocentes.</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¿Qué es el desbalance de clases?</a:t>
            </a:r>
          </a:p>
        </p:txBody>
      </p:sp>
      <p:sp>
        <p:nvSpPr>
          <p:cNvPr id="5" name="Rectangle 4"/>
          <p:cNvSpPr/>
          <p:nvPr/>
        </p:nvSpPr>
        <p:spPr>
          <a:xfrm>
            <a:off x="274320" y="1234440"/>
            <a:ext cx="8595360" cy="274320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325880"/>
            <a:ext cx="8302752" cy="365760"/>
          </a:xfrm>
          <a:prstGeom prst="rect">
            <a:avLst/>
          </a:prstGeom>
          <a:noFill/>
        </p:spPr>
        <p:txBody>
          <a:bodyPr wrap="square" lIns="0" rIns="0" tIns="0" bIns="0">
            <a:spAutoFit/>
          </a:bodyPr>
          <a:lstStyle/>
          <a:p>
            <a:pPr algn="l"/>
            <a:r>
              <a:rPr sz="1800" b="1" i="0">
                <a:solidFill>
                  <a:srgbClr val="1E4C7D"/>
                </a:solidFill>
                <a:latin typeface="Ubuntu"/>
              </a:rPr>
              <a:t>Definición</a:t>
            </a:r>
          </a:p>
        </p:txBody>
      </p:sp>
      <p:sp>
        <p:nvSpPr>
          <p:cNvPr id="7" name="TextBox 6"/>
          <p:cNvSpPr txBox="1"/>
          <p:nvPr/>
        </p:nvSpPr>
        <p:spPr>
          <a:xfrm>
            <a:off x="420624" y="1709928"/>
            <a:ext cx="8302752" cy="2176272"/>
          </a:xfrm>
          <a:prstGeom prst="rect">
            <a:avLst/>
          </a:prstGeom>
          <a:noFill/>
        </p:spPr>
        <p:txBody>
          <a:bodyPr wrap="square" lIns="0" rIns="0" tIns="0" bIns="0">
            <a:spAutoFit/>
          </a:bodyPr>
          <a:lstStyle/>
          <a:p>
            <a:pPr algn="l">
              <a:lnSpc>
                <a:spcPct val="140000"/>
              </a:lnSpc>
            </a:pPr>
            <a:r>
              <a:rPr sz="1800" b="0" i="0">
                <a:solidFill>
                  <a:srgbClr val="000000"/>
                </a:solidFill>
                <a:latin typeface="Ubuntu"/>
              </a:rPr>
              <a:t>Un problema de clasificación tiene clases desbalanceadas cuando una de las categorías aparece MUCHO menos que la otra. Por ejemplo: fraude bancario, diagnóstico de enfermedades raras, detección de fallas en una fábrica o clientes de alto valor en una plataforma de casino en línea.</a:t>
            </a:r>
          </a:p>
        </p:txBody>
      </p:sp>
      <p:sp>
        <p:nvSpPr>
          <p:cNvPr id="8" name="Rectangle 7"/>
          <p:cNvSpPr/>
          <p:nvPr/>
        </p:nvSpPr>
        <p:spPr>
          <a:xfrm>
            <a:off x="274320" y="4206240"/>
            <a:ext cx="8595360" cy="2011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4297680"/>
            <a:ext cx="8302752" cy="365760"/>
          </a:xfrm>
          <a:prstGeom prst="rect">
            <a:avLst/>
          </a:prstGeom>
          <a:noFill/>
        </p:spPr>
        <p:txBody>
          <a:bodyPr wrap="square" lIns="0" rIns="0" tIns="0" bIns="0">
            <a:spAutoFit/>
          </a:bodyPr>
          <a:lstStyle/>
          <a:p>
            <a:pPr algn="l"/>
            <a:r>
              <a:rPr sz="1600" b="1" i="0">
                <a:solidFill>
                  <a:srgbClr val="1A7A3A"/>
                </a:solidFill>
                <a:latin typeface="Ubuntu"/>
              </a:rPr>
              <a:t>En palabras simples</a:t>
            </a:r>
          </a:p>
        </p:txBody>
      </p:sp>
      <p:sp>
        <p:nvSpPr>
          <p:cNvPr id="10" name="TextBox 9"/>
          <p:cNvSpPr txBox="1"/>
          <p:nvPr/>
        </p:nvSpPr>
        <p:spPr>
          <a:xfrm>
            <a:off x="420624" y="4681728"/>
            <a:ext cx="8302752" cy="1444752"/>
          </a:xfrm>
          <a:prstGeom prst="rect">
            <a:avLst/>
          </a:prstGeom>
          <a:noFill/>
        </p:spPr>
        <p:txBody>
          <a:bodyPr wrap="square" lIns="0" rIns="0" tIns="0" bIns="0">
            <a:spAutoFit/>
          </a:bodyPr>
          <a:lstStyle/>
          <a:p>
            <a:pPr algn="l">
              <a:lnSpc>
                <a:spcPct val="140000"/>
              </a:lnSpc>
            </a:pPr>
            <a:r>
              <a:rPr sz="1600" b="0" i="0">
                <a:solidFill>
                  <a:srgbClr val="000000"/>
                </a:solidFill>
                <a:latin typeface="Ubuntu"/>
              </a:rPr>
              <a:t>De cada 100 transacciones, solo 4 son fraude. De cada 100 clientes del casino, solo 9 son 'prometedores'. Lo raro es lo que nos interesa, y hay muy poco.</a:t>
            </a:r>
          </a:p>
        </p:txBody>
      </p:sp>
      <p:sp>
        <p:nvSpPr>
          <p:cNvPr id="11" name="TextBox 10"/>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El desbalance en números: 96 % normal vs 4 % fraude</a:t>
            </a:r>
          </a:p>
        </p:txBody>
      </p:sp>
      <p:pic>
        <p:nvPicPr>
          <p:cNvPr id="5" name="Picture 4" descr="01_barras_desbalance.png"/>
          <p:cNvPicPr>
            <a:picLocks noChangeAspect="1"/>
          </p:cNvPicPr>
          <p:nvPr/>
        </p:nvPicPr>
        <p:blipFill>
          <a:blip r:embed="rId2"/>
          <a:stretch>
            <a:fillRect/>
          </a:stretch>
        </p:blipFill>
        <p:spPr>
          <a:xfrm>
            <a:off x="457200" y="1248755"/>
            <a:ext cx="8229600" cy="3994729"/>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Dataset de fraude (ejercicio 2): 2,498 transacciones normales vs 102 fraudulentas.</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El casino tiene un desbalance parecido: 90 % clientes 'no prometedores' vs 10 % prometedores. El fraude es aún más extremo.</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¿Por qué este problema es tan común?</a:t>
            </a:r>
          </a:p>
        </p:txBody>
      </p:sp>
      <p:sp>
        <p:nvSpPr>
          <p:cNvPr id="5" name="TextBox 4"/>
          <p:cNvSpPr txBox="1"/>
          <p:nvPr/>
        </p:nvSpPr>
        <p:spPr>
          <a:xfrm>
            <a:off x="365760" y="1097280"/>
            <a:ext cx="8412480" cy="548640"/>
          </a:xfrm>
          <a:prstGeom prst="rect">
            <a:avLst/>
          </a:prstGeom>
          <a:noFill/>
        </p:spPr>
        <p:txBody>
          <a:bodyPr wrap="square" lIns="0" rIns="0" tIns="0" bIns="0">
            <a:spAutoFit/>
          </a:bodyPr>
          <a:lstStyle/>
          <a:p>
            <a:pPr algn="l">
              <a:lnSpc>
                <a:spcPct val="120000"/>
              </a:lnSpc>
            </a:pPr>
            <a:r>
              <a:rPr sz="1400" b="0" i="1">
                <a:solidFill>
                  <a:srgbClr val="1E4C7D"/>
                </a:solidFill>
                <a:latin typeface="Ubuntu"/>
              </a:rPr>
              <a:t>El desbalance no es un accidente; refleja la realidad del problema.</a:t>
            </a:r>
          </a:p>
        </p:txBody>
      </p:sp>
      <p:sp>
        <p:nvSpPr>
          <p:cNvPr id="6" name="Oval 5"/>
          <p:cNvSpPr/>
          <p:nvPr/>
        </p:nvSpPr>
        <p:spPr>
          <a:xfrm>
            <a:off x="411480" y="178308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1</a:t>
            </a:r>
          </a:p>
        </p:txBody>
      </p:sp>
      <p:sp>
        <p:nvSpPr>
          <p:cNvPr id="7" name="TextBox 6"/>
          <p:cNvSpPr txBox="1"/>
          <p:nvPr/>
        </p:nvSpPr>
        <p:spPr>
          <a:xfrm>
            <a:off x="1051560" y="1746504"/>
            <a:ext cx="7406640" cy="365760"/>
          </a:xfrm>
          <a:prstGeom prst="rect">
            <a:avLst/>
          </a:prstGeom>
          <a:noFill/>
        </p:spPr>
        <p:txBody>
          <a:bodyPr wrap="square" lIns="0" rIns="0" tIns="0" bIns="0">
            <a:spAutoFit/>
          </a:bodyPr>
          <a:lstStyle/>
          <a:p>
            <a:pPr algn="l"/>
            <a:r>
              <a:rPr sz="1400" b="1" i="0">
                <a:solidFill>
                  <a:srgbClr val="1E4C7D"/>
                </a:solidFill>
                <a:latin typeface="Ubuntu"/>
              </a:rPr>
              <a:t>El fraude es raro por diseño</a:t>
            </a:r>
          </a:p>
        </p:txBody>
      </p:sp>
      <p:sp>
        <p:nvSpPr>
          <p:cNvPr id="8" name="TextBox 7"/>
          <p:cNvSpPr txBox="1"/>
          <p:nvPr/>
        </p:nvSpPr>
        <p:spPr>
          <a:xfrm>
            <a:off x="1051560" y="2075688"/>
            <a:ext cx="7406640" cy="74066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Los bancos tienen mecanismos de prevención; solo pasa una fracción.</a:t>
            </a:r>
          </a:p>
        </p:txBody>
      </p:sp>
      <p:sp>
        <p:nvSpPr>
          <p:cNvPr id="9" name="Oval 8"/>
          <p:cNvSpPr/>
          <p:nvPr/>
        </p:nvSpPr>
        <p:spPr>
          <a:xfrm>
            <a:off x="411480" y="2834639"/>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2</a:t>
            </a:r>
          </a:p>
        </p:txBody>
      </p:sp>
      <p:sp>
        <p:nvSpPr>
          <p:cNvPr id="10" name="TextBox 9"/>
          <p:cNvSpPr txBox="1"/>
          <p:nvPr/>
        </p:nvSpPr>
        <p:spPr>
          <a:xfrm>
            <a:off x="1051560" y="2798063"/>
            <a:ext cx="7406640" cy="365760"/>
          </a:xfrm>
          <a:prstGeom prst="rect">
            <a:avLst/>
          </a:prstGeom>
          <a:noFill/>
        </p:spPr>
        <p:txBody>
          <a:bodyPr wrap="square" lIns="0" rIns="0" tIns="0" bIns="0">
            <a:spAutoFit/>
          </a:bodyPr>
          <a:lstStyle/>
          <a:p>
            <a:pPr algn="l"/>
            <a:r>
              <a:rPr sz="1400" b="1" i="0">
                <a:solidFill>
                  <a:srgbClr val="1E4C7D"/>
                </a:solidFill>
                <a:latin typeface="Ubuntu"/>
              </a:rPr>
              <a:t>Las enfermedades graves son raras</a:t>
            </a:r>
          </a:p>
        </p:txBody>
      </p:sp>
      <p:sp>
        <p:nvSpPr>
          <p:cNvPr id="11" name="TextBox 10"/>
          <p:cNvSpPr txBox="1"/>
          <p:nvPr/>
        </p:nvSpPr>
        <p:spPr>
          <a:xfrm>
            <a:off x="1051560" y="3127247"/>
            <a:ext cx="7406640" cy="74066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La mayoría de las personas sanas satura la base de datos.</a:t>
            </a:r>
          </a:p>
        </p:txBody>
      </p:sp>
      <p:sp>
        <p:nvSpPr>
          <p:cNvPr id="12" name="Oval 11"/>
          <p:cNvSpPr/>
          <p:nvPr/>
        </p:nvSpPr>
        <p:spPr>
          <a:xfrm>
            <a:off x="411480" y="388620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3</a:t>
            </a:r>
          </a:p>
        </p:txBody>
      </p:sp>
      <p:sp>
        <p:nvSpPr>
          <p:cNvPr id="13" name="TextBox 12"/>
          <p:cNvSpPr txBox="1"/>
          <p:nvPr/>
        </p:nvSpPr>
        <p:spPr>
          <a:xfrm>
            <a:off x="1051560" y="3849624"/>
            <a:ext cx="7406640" cy="365760"/>
          </a:xfrm>
          <a:prstGeom prst="rect">
            <a:avLst/>
          </a:prstGeom>
          <a:noFill/>
        </p:spPr>
        <p:txBody>
          <a:bodyPr wrap="square" lIns="0" rIns="0" tIns="0" bIns="0">
            <a:spAutoFit/>
          </a:bodyPr>
          <a:lstStyle/>
          <a:p>
            <a:pPr algn="l"/>
            <a:r>
              <a:rPr sz="1400" b="1" i="0">
                <a:solidFill>
                  <a:srgbClr val="1E4C7D"/>
                </a:solidFill>
                <a:latin typeface="Ubuntu"/>
              </a:rPr>
              <a:t>Los clientes valiosos son escasos</a:t>
            </a:r>
          </a:p>
        </p:txBody>
      </p:sp>
      <p:sp>
        <p:nvSpPr>
          <p:cNvPr id="14" name="TextBox 13"/>
          <p:cNvSpPr txBox="1"/>
          <p:nvPr/>
        </p:nvSpPr>
        <p:spPr>
          <a:xfrm>
            <a:off x="1051560" y="4178808"/>
            <a:ext cx="7406640" cy="74066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En un casino, el 10 % de clientes genera la mayor parte del ingreso.</a:t>
            </a:r>
          </a:p>
        </p:txBody>
      </p:sp>
      <p:sp>
        <p:nvSpPr>
          <p:cNvPr id="15" name="Oval 14"/>
          <p:cNvSpPr/>
          <p:nvPr/>
        </p:nvSpPr>
        <p:spPr>
          <a:xfrm>
            <a:off x="411480" y="4937759"/>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4</a:t>
            </a:r>
          </a:p>
        </p:txBody>
      </p:sp>
      <p:sp>
        <p:nvSpPr>
          <p:cNvPr id="16" name="TextBox 15"/>
          <p:cNvSpPr txBox="1"/>
          <p:nvPr/>
        </p:nvSpPr>
        <p:spPr>
          <a:xfrm>
            <a:off x="1051560" y="4901183"/>
            <a:ext cx="7406640" cy="365760"/>
          </a:xfrm>
          <a:prstGeom prst="rect">
            <a:avLst/>
          </a:prstGeom>
          <a:noFill/>
        </p:spPr>
        <p:txBody>
          <a:bodyPr wrap="square" lIns="0" rIns="0" tIns="0" bIns="0">
            <a:spAutoFit/>
          </a:bodyPr>
          <a:lstStyle/>
          <a:p>
            <a:pPr algn="l"/>
            <a:r>
              <a:rPr sz="1400" b="1" i="0">
                <a:solidFill>
                  <a:srgbClr val="1E4C7D"/>
                </a:solidFill>
                <a:latin typeface="Ubuntu"/>
              </a:rPr>
              <a:t>Las fallas de fábrica son excepcionales</a:t>
            </a:r>
          </a:p>
        </p:txBody>
      </p:sp>
      <p:sp>
        <p:nvSpPr>
          <p:cNvPr id="17" name="TextBox 16"/>
          <p:cNvSpPr txBox="1"/>
          <p:nvPr/>
        </p:nvSpPr>
        <p:spPr>
          <a:xfrm>
            <a:off x="1051560" y="5230367"/>
            <a:ext cx="7406640" cy="74066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Una máquina falla el 1 % del tiempo; el 99 % funciona bien.</a:t>
            </a:r>
          </a:p>
        </p:txBody>
      </p:sp>
      <p:sp>
        <p:nvSpPr>
          <p:cNvPr id="18" name="TextBox 17"/>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2</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La trampa del</a:t>
            </a:r>
          </a:p>
          <a:p>
            <a:pPr algn="l">
              <a:lnSpc>
                <a:spcPct val="105000"/>
              </a:lnSpc>
            </a:pPr>
            <a:r>
              <a:rPr sz="3400" b="1" i="0">
                <a:solidFill>
                  <a:srgbClr val="FFFFFF"/>
                </a:solidFill>
                <a:latin typeface="Ubuntu"/>
              </a:rPr>
              <a:t>porcentaje de aciertos</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La paradoja del accuracy: un modelo flojo que parece excelente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La paradoja del examen más fácil del mundo</a:t>
            </a:r>
          </a:p>
        </p:txBody>
      </p:sp>
      <p:sp>
        <p:nvSpPr>
          <p:cNvPr id="5" name="Rectangle 4"/>
          <p:cNvSpPr/>
          <p:nvPr/>
        </p:nvSpPr>
        <p:spPr>
          <a:xfrm>
            <a:off x="274320" y="1417320"/>
            <a:ext cx="128016" cy="4206240"/>
          </a:xfrm>
          <a:prstGeom prst="rect">
            <a:avLst/>
          </a:prstGeom>
          <a:solidFill>
            <a:srgbClr val="2D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8412480" cy="4206240"/>
          </a:xfrm>
          <a:prstGeom prst="rect">
            <a:avLst/>
          </a:prstGeom>
          <a:solidFill>
            <a:srgbClr val="D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1508760"/>
            <a:ext cx="8119872" cy="365760"/>
          </a:xfrm>
          <a:prstGeom prst="rect">
            <a:avLst/>
          </a:prstGeom>
          <a:noFill/>
        </p:spPr>
        <p:txBody>
          <a:bodyPr wrap="square" lIns="0" rIns="0" tIns="0" bIns="0">
            <a:spAutoFit/>
          </a:bodyPr>
          <a:lstStyle/>
          <a:p>
            <a:pPr algn="l"/>
            <a:r>
              <a:rPr sz="2000" b="1" i="0">
                <a:solidFill>
                  <a:srgbClr val="2D7A7A"/>
                </a:solidFill>
                <a:latin typeface="Ubuntu"/>
              </a:rPr>
              <a:t>La trampa</a:t>
            </a:r>
          </a:p>
        </p:txBody>
      </p:sp>
      <p:sp>
        <p:nvSpPr>
          <p:cNvPr id="8" name="TextBox 7"/>
          <p:cNvSpPr txBox="1"/>
          <p:nvPr/>
        </p:nvSpPr>
        <p:spPr>
          <a:xfrm>
            <a:off x="603504" y="1892808"/>
            <a:ext cx="8119872" cy="3639312"/>
          </a:xfrm>
          <a:prstGeom prst="rect">
            <a:avLst/>
          </a:prstGeom>
          <a:noFill/>
        </p:spPr>
        <p:txBody>
          <a:bodyPr wrap="square" lIns="0" rIns="0" tIns="0" bIns="0">
            <a:spAutoFit/>
          </a:bodyPr>
          <a:lstStyle/>
          <a:p>
            <a:pPr algn="l">
              <a:lnSpc>
                <a:spcPct val="150000"/>
              </a:lnSpc>
            </a:pPr>
            <a:r>
              <a:rPr sz="1800" b="0" i="0">
                <a:solidFill>
                  <a:srgbClr val="000000"/>
                </a:solidFill>
                <a:latin typeface="Ubuntu"/>
              </a:rPr>
              <a:t>Imagina un examen donde el 96 % de las preguntas tiene respuesta 'Verdadero' y el resto 'Falso'.</a:t>
            </a:r>
          </a:p>
          <a:p>
            <a:pPr algn="l">
              <a:lnSpc>
                <a:spcPct val="150000"/>
              </a:lnSpc>
            </a:pPr>
            <a:r>
              <a:rPr sz="1800" b="0" i="0">
                <a:solidFill>
                  <a:srgbClr val="000000"/>
                </a:solidFill>
                <a:latin typeface="Ubuntu"/>
              </a:rPr>
              <a:t/>
            </a:r>
          </a:p>
          <a:p>
            <a:pPr algn="l">
              <a:lnSpc>
                <a:spcPct val="150000"/>
              </a:lnSpc>
            </a:pPr>
            <a:r>
              <a:rPr sz="1800" b="0" i="0">
                <a:solidFill>
                  <a:srgbClr val="000000"/>
                </a:solidFill>
                <a:latin typeface="Ubuntu"/>
              </a:rPr>
              <a:t>Si escribes 'Verdadero' en TODAS las respuestas sin leer nada, sacas 96 de 100. Parece un 10. Pero en realidad no aprendiste nada: fallaste todas las preguntas que realmente importaban (las falsas).</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Un modelo 'perezoso' consigue 96 % de aciertos: la paradoja</a:t>
            </a:r>
          </a:p>
        </p:txBody>
      </p:sp>
      <p:pic>
        <p:nvPicPr>
          <p:cNvPr id="5" name="Picture 4" descr="02_trampa_accuracy.png"/>
          <p:cNvPicPr>
            <a:picLocks noChangeAspect="1"/>
          </p:cNvPicPr>
          <p:nvPr/>
        </p:nvPicPr>
        <p:blipFill>
          <a:blip r:embed="rId2"/>
          <a:stretch>
            <a:fillRect/>
          </a:stretch>
        </p:blipFill>
        <p:spPr>
          <a:xfrm>
            <a:off x="1519846" y="1234440"/>
            <a:ext cx="6104307"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Un modelo que siempre dice 'no es fraude' acierta el 96 % del tiempo... y no detecta ningún fraude.</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Recall = 0: todos los fraudes pasan sin ser detectados. Este modelo es perfectamente inútil para el banco.</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Las métricas reales del modelo perezoso</a:t>
            </a:r>
          </a:p>
        </p:txBody>
      </p:sp>
      <p:pic>
        <p:nvPicPr>
          <p:cNvPr id="5" name="Picture 4" descr="11_comparacion_metricas.png"/>
          <p:cNvPicPr>
            <a:picLocks noChangeAspect="1"/>
          </p:cNvPicPr>
          <p:nvPr/>
        </p:nvPicPr>
        <p:blipFill>
          <a:blip r:embed="rId2"/>
          <a:stretch>
            <a:fillRect/>
          </a:stretch>
        </p:blipFill>
        <p:spPr>
          <a:xfrm>
            <a:off x="955589" y="1234440"/>
            <a:ext cx="7232822"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Accuracy alta, pero Precisión = 0, Recall = 0, F1 = 0.</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La accuracy engaña porque la mayoría de los datos son de la clase dominante. Necesitamos métricas que midan solo la clase rara.</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La enseñanza: accuracy no es suficiente con desbalance</a:t>
            </a:r>
          </a:p>
        </p:txBody>
      </p:sp>
      <p:sp>
        <p:nvSpPr>
          <p:cNvPr id="5" name="Rectangle 4"/>
          <p:cNvSpPr/>
          <p:nvPr/>
        </p:nvSpPr>
        <p:spPr>
          <a:xfrm>
            <a:off x="274320" y="1234440"/>
            <a:ext cx="8595360" cy="274320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325880"/>
            <a:ext cx="8302752" cy="365760"/>
          </a:xfrm>
          <a:prstGeom prst="rect">
            <a:avLst/>
          </a:prstGeom>
          <a:noFill/>
        </p:spPr>
        <p:txBody>
          <a:bodyPr wrap="square" lIns="0" rIns="0" tIns="0" bIns="0">
            <a:spAutoFit/>
          </a:bodyPr>
          <a:lstStyle/>
          <a:p>
            <a:pPr algn="l"/>
            <a:r>
              <a:rPr sz="1800" b="1" i="0">
                <a:solidFill>
                  <a:srgbClr val="1E4C7D"/>
                </a:solidFill>
                <a:latin typeface="Ubuntu"/>
              </a:rPr>
              <a:t>Definición</a:t>
            </a:r>
          </a:p>
        </p:txBody>
      </p:sp>
      <p:sp>
        <p:nvSpPr>
          <p:cNvPr id="7" name="TextBox 6"/>
          <p:cNvSpPr txBox="1"/>
          <p:nvPr/>
        </p:nvSpPr>
        <p:spPr>
          <a:xfrm>
            <a:off x="420624" y="1709928"/>
            <a:ext cx="8302752" cy="2176272"/>
          </a:xfrm>
          <a:prstGeom prst="rect">
            <a:avLst/>
          </a:prstGeom>
          <a:noFill/>
        </p:spPr>
        <p:txBody>
          <a:bodyPr wrap="square" lIns="0" rIns="0" tIns="0" bIns="0">
            <a:spAutoFit/>
          </a:bodyPr>
          <a:lstStyle/>
          <a:p>
            <a:pPr algn="l">
              <a:lnSpc>
                <a:spcPct val="140000"/>
              </a:lnSpc>
            </a:pPr>
            <a:r>
              <a:rPr sz="1800" b="0" i="0">
                <a:solidFill>
                  <a:srgbClr val="000000"/>
                </a:solidFill>
                <a:latin typeface="Ubuntu"/>
              </a:rPr>
              <a:t>Cuando las clases están muy desbalanceadas, un modelo puede tener accuracy muy alta simplemente prediciendo SIEMPRE la clase mayoritaria. Por eso necesitamos otras métricas que midan qué tan bien detectamos la clase rara, que es la que nos interesa.</a:t>
            </a:r>
          </a:p>
        </p:txBody>
      </p:sp>
      <p:sp>
        <p:nvSpPr>
          <p:cNvPr id="8" name="Rectangle 7"/>
          <p:cNvSpPr/>
          <p:nvPr/>
        </p:nvSpPr>
        <p:spPr>
          <a:xfrm>
            <a:off x="274320" y="4206240"/>
            <a:ext cx="8595360" cy="2011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4297680"/>
            <a:ext cx="8302752" cy="365760"/>
          </a:xfrm>
          <a:prstGeom prst="rect">
            <a:avLst/>
          </a:prstGeom>
          <a:noFill/>
        </p:spPr>
        <p:txBody>
          <a:bodyPr wrap="square" lIns="0" rIns="0" tIns="0" bIns="0">
            <a:spAutoFit/>
          </a:bodyPr>
          <a:lstStyle/>
          <a:p>
            <a:pPr algn="l"/>
            <a:r>
              <a:rPr sz="1600" b="1" i="0">
                <a:solidFill>
                  <a:srgbClr val="1A7A3A"/>
                </a:solidFill>
                <a:latin typeface="Ubuntu"/>
              </a:rPr>
              <a:t>En palabras simples</a:t>
            </a:r>
          </a:p>
        </p:txBody>
      </p:sp>
      <p:sp>
        <p:nvSpPr>
          <p:cNvPr id="10" name="TextBox 9"/>
          <p:cNvSpPr txBox="1"/>
          <p:nvPr/>
        </p:nvSpPr>
        <p:spPr>
          <a:xfrm>
            <a:off x="420624" y="4681728"/>
            <a:ext cx="8302752" cy="1444752"/>
          </a:xfrm>
          <a:prstGeom prst="rect">
            <a:avLst/>
          </a:prstGeom>
          <a:noFill/>
        </p:spPr>
        <p:txBody>
          <a:bodyPr wrap="square" lIns="0" rIns="0" tIns="0" bIns="0">
            <a:spAutoFit/>
          </a:bodyPr>
          <a:lstStyle/>
          <a:p>
            <a:pPr algn="l">
              <a:lnSpc>
                <a:spcPct val="140000"/>
              </a:lnSpc>
            </a:pPr>
            <a:r>
              <a:rPr sz="1600" b="0" i="0">
                <a:solidFill>
                  <a:srgbClr val="000000"/>
                </a:solidFill>
                <a:latin typeface="Ubuntu"/>
              </a:rPr>
              <a:t>Calificar con accuracy en un problema desbalanceado es como poner 10 a un alumno que copió solo las respuestas 'Verdadero'. El número no dice nada útil.</a:t>
            </a:r>
          </a:p>
        </p:txBody>
      </p:sp>
      <p:sp>
        <p:nvSpPr>
          <p:cNvPr id="11" name="TextBox 10"/>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3</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La matriz</a:t>
            </a:r>
          </a:p>
          <a:p>
            <a:pPr algn="l">
              <a:lnSpc>
                <a:spcPct val="105000"/>
              </a:lnSpc>
            </a:pPr>
            <a:r>
              <a:rPr sz="3400" b="1" i="0">
                <a:solidFill>
                  <a:srgbClr val="FFFFFF"/>
                </a:solidFill>
                <a:latin typeface="Ubuntu"/>
              </a:rPr>
              <a:t>de confusión</a:t>
            </a:r>
          </a:p>
          <a:p>
            <a:pPr algn="l">
              <a:lnSpc>
                <a:spcPct val="105000"/>
              </a:lnSpc>
            </a:pPr>
            <a:r>
              <a:rPr sz="3400" b="1" i="0">
                <a:solidFill>
                  <a:srgbClr val="FFFFFF"/>
                </a:solidFill>
                <a:latin typeface="Ubuntu"/>
              </a:rPr>
              <a:t>revisitada</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Los dos tipos de error y cuál duele más aquí</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La matriz de confusión: 4 resultados posibles</a:t>
            </a:r>
          </a:p>
        </p:txBody>
      </p:sp>
      <p:pic>
        <p:nvPicPr>
          <p:cNvPr id="5" name="Picture 4" descr="03_matriz_confusion.png"/>
          <p:cNvPicPr>
            <a:picLocks noChangeAspect="1"/>
          </p:cNvPicPr>
          <p:nvPr/>
        </p:nvPicPr>
        <p:blipFill>
          <a:blip r:embed="rId2"/>
          <a:stretch>
            <a:fillRect/>
          </a:stretch>
        </p:blipFill>
        <p:spPr>
          <a:xfrm>
            <a:off x="1909898" y="1234440"/>
            <a:ext cx="5324204"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Las cuatro combinaciones de lo real vs. lo predicho por el modelo.</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VP = Verdadero Positivo (fraude detectado). FN = Falso Negativo (fraude que se escapó). FP = Falso Positivo (alarma falsa). VN = Verdadero Negativo (transacción legítima identificada como tal).</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Dos tipos de error, costos muy distintos</a:t>
            </a:r>
          </a:p>
        </p:txBody>
      </p:sp>
      <p:sp>
        <p:nvSpPr>
          <p:cNvPr id="5" name="TextBox 4"/>
          <p:cNvSpPr txBox="1"/>
          <p:nvPr/>
        </p:nvSpPr>
        <p:spPr>
          <a:xfrm>
            <a:off x="365760" y="1078992"/>
            <a:ext cx="8412480" cy="502920"/>
          </a:xfrm>
          <a:prstGeom prst="rect">
            <a:avLst/>
          </a:prstGeom>
          <a:noFill/>
        </p:spPr>
        <p:txBody>
          <a:bodyPr wrap="square" lIns="0" rIns="0" tIns="0" bIns="0">
            <a:spAutoFit/>
          </a:bodyPr>
          <a:lstStyle/>
          <a:p>
            <a:pPr algn="l">
              <a:lnSpc>
                <a:spcPct val="115000"/>
              </a:lnSpc>
            </a:pPr>
            <a:r>
              <a:rPr sz="1400" b="0" i="1">
                <a:solidFill>
                  <a:srgbClr val="1E4C7D"/>
                </a:solidFill>
                <a:latin typeface="Ubuntu"/>
              </a:rPr>
              <a:t>No todos los errores cuestan igual. En detección de fraude, el falso negativo es mucho más grave.</a:t>
            </a:r>
          </a:p>
        </p:txBody>
      </p:sp>
      <p:sp>
        <p:nvSpPr>
          <p:cNvPr id="6" name="Rectangle 5"/>
          <p:cNvSpPr/>
          <p:nvPr/>
        </p:nvSpPr>
        <p:spPr>
          <a:xfrm>
            <a:off x="274320" y="1691640"/>
            <a:ext cx="4251960" cy="502920"/>
          </a:xfrm>
          <a:prstGeom prst="rect">
            <a:avLst/>
          </a:prstGeom>
          <a:solidFill>
            <a:srgbClr val="C97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691640"/>
            <a:ext cx="4251960" cy="502920"/>
          </a:xfrm>
          <a:prstGeom prst="rect">
            <a:avLst/>
          </a:prstGeom>
          <a:noFill/>
        </p:spPr>
        <p:txBody>
          <a:bodyPr wrap="square" lIns="0" rIns="0" tIns="0" bIns="0" anchor="ctr">
            <a:spAutoFit/>
          </a:bodyPr>
          <a:lstStyle/>
          <a:p>
            <a:pPr algn="ctr"/>
            <a:r>
              <a:rPr sz="1500" b="1" i="0">
                <a:solidFill>
                  <a:srgbClr val="FFFFFF"/>
                </a:solidFill>
                <a:latin typeface="Ubuntu"/>
              </a:rPr>
              <a:t>Falso Positivo (FP): alarma falsa</a:t>
            </a:r>
          </a:p>
        </p:txBody>
      </p:sp>
      <p:sp>
        <p:nvSpPr>
          <p:cNvPr id="8" name="Rectangle 7"/>
          <p:cNvSpPr/>
          <p:nvPr/>
        </p:nvSpPr>
        <p:spPr>
          <a:xfrm>
            <a:off x="274320" y="2194560"/>
            <a:ext cx="4251960" cy="3794759"/>
          </a:xfrm>
          <a:prstGeom prst="rect">
            <a:avLst/>
          </a:prstGeom>
          <a:solidFill>
            <a:srgbClr val="F7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2304288"/>
            <a:ext cx="3959352" cy="365760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El modelo dice FRAUDE pero la transacción era legítima.</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 El banco bloquea la tarjeta del cliente</a:t>
            </a:r>
          </a:p>
          <a:p>
            <a:pPr algn="l">
              <a:lnSpc>
                <a:spcPct val="130000"/>
              </a:lnSpc>
            </a:pPr>
            <a:r>
              <a:rPr sz="1300" b="0" i="0">
                <a:solidFill>
                  <a:srgbClr val="000000"/>
                </a:solidFill>
                <a:latin typeface="Ubuntu"/>
              </a:rPr>
              <a:t>- El cliente se molesta, llama al banco</a:t>
            </a:r>
          </a:p>
          <a:p>
            <a:pPr algn="l">
              <a:lnSpc>
                <a:spcPct val="130000"/>
              </a:lnSpc>
            </a:pPr>
            <a:r>
              <a:rPr sz="1300" b="0" i="0">
                <a:solidFill>
                  <a:srgbClr val="000000"/>
                </a:solidFill>
                <a:latin typeface="Ubuntu"/>
              </a:rPr>
              <a:t>- Costo: incomodidad, llamada de soporte</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Costo BAJO: resoluble en minutos.</a:t>
            </a:r>
          </a:p>
        </p:txBody>
      </p:sp>
      <p:sp>
        <p:nvSpPr>
          <p:cNvPr id="10" name="Rectangle 9"/>
          <p:cNvSpPr/>
          <p:nvPr/>
        </p:nvSpPr>
        <p:spPr>
          <a:xfrm>
            <a:off x="4617720" y="1691640"/>
            <a:ext cx="4251960"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91640"/>
            <a:ext cx="4251960" cy="502920"/>
          </a:xfrm>
          <a:prstGeom prst="rect">
            <a:avLst/>
          </a:prstGeom>
          <a:noFill/>
        </p:spPr>
        <p:txBody>
          <a:bodyPr wrap="square" lIns="0" rIns="0" tIns="0" bIns="0" anchor="ctr">
            <a:spAutoFit/>
          </a:bodyPr>
          <a:lstStyle/>
          <a:p>
            <a:pPr algn="ctr"/>
            <a:r>
              <a:rPr sz="1500" b="1" i="0">
                <a:solidFill>
                  <a:srgbClr val="FFFFFF"/>
                </a:solidFill>
                <a:latin typeface="Ubuntu"/>
              </a:rPr>
              <a:t>Falso Negativo (FN): fraude que se escapa</a:t>
            </a:r>
          </a:p>
        </p:txBody>
      </p:sp>
      <p:sp>
        <p:nvSpPr>
          <p:cNvPr id="12" name="Rectangle 11"/>
          <p:cNvSpPr/>
          <p:nvPr/>
        </p:nvSpPr>
        <p:spPr>
          <a:xfrm>
            <a:off x="4617720" y="2194560"/>
            <a:ext cx="4251960" cy="3794759"/>
          </a:xfrm>
          <a:prstGeom prst="rect">
            <a:avLst/>
          </a:prstGeom>
          <a:solidFill>
            <a:srgbClr val="FAD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64024" y="2304288"/>
            <a:ext cx="3959352" cy="365760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El modelo dice LEGÍTIMO pero era un fraude.</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 El banco paga la transacción fraudulenta</a:t>
            </a:r>
          </a:p>
          <a:p>
            <a:pPr algn="l">
              <a:lnSpc>
                <a:spcPct val="130000"/>
              </a:lnSpc>
            </a:pPr>
            <a:r>
              <a:rPr sz="1300" b="0" i="0">
                <a:solidFill>
                  <a:srgbClr val="000000"/>
                </a:solidFill>
                <a:latin typeface="Ubuntu"/>
              </a:rPr>
              <a:t>- El titular pierde su dinero</a:t>
            </a:r>
          </a:p>
          <a:p>
            <a:pPr algn="l">
              <a:lnSpc>
                <a:spcPct val="130000"/>
              </a:lnSpc>
            </a:pPr>
            <a:r>
              <a:rPr sz="1300" b="0" i="0">
                <a:solidFill>
                  <a:srgbClr val="000000"/>
                </a:solidFill>
                <a:latin typeface="Ubuntu"/>
              </a:rPr>
              <a:t>- El banco tiene que reembolsar y absorber la pérdida</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Costo ALTO: pérdida económica real.</a:t>
            </a:r>
          </a:p>
        </p:txBody>
      </p:sp>
      <p:sp>
        <p:nvSpPr>
          <p:cNvPr id="14" name="TextBox 13"/>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El objetivo del modelo antifraude</a:t>
            </a:r>
          </a:p>
        </p:txBody>
      </p:sp>
      <p:sp>
        <p:nvSpPr>
          <p:cNvPr id="5" name="Rectangle 4"/>
          <p:cNvSpPr/>
          <p:nvPr/>
        </p:nvSpPr>
        <p:spPr>
          <a:xfrm>
            <a:off x="274320" y="1234440"/>
            <a:ext cx="8595360" cy="274320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325880"/>
            <a:ext cx="8302752" cy="365760"/>
          </a:xfrm>
          <a:prstGeom prst="rect">
            <a:avLst/>
          </a:prstGeom>
          <a:noFill/>
        </p:spPr>
        <p:txBody>
          <a:bodyPr wrap="square" lIns="0" rIns="0" tIns="0" bIns="0">
            <a:spAutoFit/>
          </a:bodyPr>
          <a:lstStyle/>
          <a:p>
            <a:pPr algn="l"/>
            <a:r>
              <a:rPr sz="1800" b="1" i="0">
                <a:solidFill>
                  <a:srgbClr val="1E4C7D"/>
                </a:solidFill>
                <a:latin typeface="Ubuntu"/>
              </a:rPr>
              <a:t>Definición</a:t>
            </a:r>
          </a:p>
        </p:txBody>
      </p:sp>
      <p:sp>
        <p:nvSpPr>
          <p:cNvPr id="7" name="TextBox 6"/>
          <p:cNvSpPr txBox="1"/>
          <p:nvPr/>
        </p:nvSpPr>
        <p:spPr>
          <a:xfrm>
            <a:off x="420624" y="1709928"/>
            <a:ext cx="8302752" cy="2176272"/>
          </a:xfrm>
          <a:prstGeom prst="rect">
            <a:avLst/>
          </a:prstGeom>
          <a:noFill/>
        </p:spPr>
        <p:txBody>
          <a:bodyPr wrap="square" lIns="0" rIns="0" tIns="0" bIns="0">
            <a:spAutoFit/>
          </a:bodyPr>
          <a:lstStyle/>
          <a:p>
            <a:pPr algn="l">
              <a:lnSpc>
                <a:spcPct val="140000"/>
              </a:lnSpc>
            </a:pPr>
            <a:r>
              <a:rPr sz="1800" b="0" i="0">
                <a:solidFill>
                  <a:srgbClr val="000000"/>
                </a:solidFill>
                <a:latin typeface="Ubuntu"/>
              </a:rPr>
              <a:t>En un sistema antifraude, el objetivo NO es minimizar todos los errores por igual. Es MAXIMIZAR la detección de fraude (capturar la mayoría de los FN) aunque eso genere algunas alarmas falsas (FP) adicionales.</a:t>
            </a:r>
          </a:p>
          <a:p>
            <a:pPr algn="l">
              <a:lnSpc>
                <a:spcPct val="140000"/>
              </a:lnSpc>
            </a:pPr>
            <a:r>
              <a:rPr sz="1800" b="0" i="0">
                <a:solidFill>
                  <a:srgbClr val="000000"/>
                </a:solidFill>
                <a:latin typeface="Ubuntu"/>
              </a:rPr>
              <a:t/>
            </a:r>
          </a:p>
          <a:p>
            <a:pPr algn="l">
              <a:lnSpc>
                <a:spcPct val="140000"/>
              </a:lnSpc>
            </a:pPr>
            <a:r>
              <a:rPr sz="1800" b="0" i="0">
                <a:solidFill>
                  <a:srgbClr val="000000"/>
                </a:solidFill>
                <a:latin typeface="Ubuntu"/>
              </a:rPr>
              <a:t>Cuanto más desbalanceado el dataset, más crítico es el FN.</a:t>
            </a:r>
          </a:p>
        </p:txBody>
      </p:sp>
      <p:sp>
        <p:nvSpPr>
          <p:cNvPr id="8" name="Rectangle 7"/>
          <p:cNvSpPr/>
          <p:nvPr/>
        </p:nvSpPr>
        <p:spPr>
          <a:xfrm>
            <a:off x="274320" y="4206240"/>
            <a:ext cx="8595360" cy="2011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4297680"/>
            <a:ext cx="8302752" cy="365760"/>
          </a:xfrm>
          <a:prstGeom prst="rect">
            <a:avLst/>
          </a:prstGeom>
          <a:noFill/>
        </p:spPr>
        <p:txBody>
          <a:bodyPr wrap="square" lIns="0" rIns="0" tIns="0" bIns="0">
            <a:spAutoFit/>
          </a:bodyPr>
          <a:lstStyle/>
          <a:p>
            <a:pPr algn="l"/>
            <a:r>
              <a:rPr sz="1600" b="1" i="0">
                <a:solidFill>
                  <a:srgbClr val="1A7A3A"/>
                </a:solidFill>
                <a:latin typeface="Ubuntu"/>
              </a:rPr>
              <a:t>En palabras simples</a:t>
            </a:r>
          </a:p>
        </p:txBody>
      </p:sp>
      <p:sp>
        <p:nvSpPr>
          <p:cNvPr id="10" name="TextBox 9"/>
          <p:cNvSpPr txBox="1"/>
          <p:nvPr/>
        </p:nvSpPr>
        <p:spPr>
          <a:xfrm>
            <a:off x="420624" y="4681728"/>
            <a:ext cx="8302752" cy="1444752"/>
          </a:xfrm>
          <a:prstGeom prst="rect">
            <a:avLst/>
          </a:prstGeom>
          <a:noFill/>
        </p:spPr>
        <p:txBody>
          <a:bodyPr wrap="square" lIns="0" rIns="0" tIns="0" bIns="0">
            <a:spAutoFit/>
          </a:bodyPr>
          <a:lstStyle/>
          <a:p>
            <a:pPr algn="l">
              <a:lnSpc>
                <a:spcPct val="140000"/>
              </a:lnSpc>
            </a:pPr>
            <a:r>
              <a:rPr sz="1600" b="0" i="0">
                <a:solidFill>
                  <a:srgbClr val="000000"/>
                </a:solidFill>
                <a:latin typeface="Ubuntu"/>
              </a:rPr>
              <a:t>Prefiero que el detector de metales suene de más y revisar algunas maletas inocentes, a que no suene cuando alguien trae algo peligroso.</a:t>
            </a:r>
          </a:p>
        </p:txBody>
      </p:sp>
      <p:sp>
        <p:nvSpPr>
          <p:cNvPr id="11" name="TextBox 10"/>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4</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Métricas correctas:</a:t>
            </a:r>
          </a:p>
          <a:p>
            <a:pPr algn="l">
              <a:lnSpc>
                <a:spcPct val="105000"/>
              </a:lnSpc>
            </a:pPr>
            <a:r>
              <a:rPr sz="3400" b="1" i="0">
                <a:solidFill>
                  <a:srgbClr val="FFFFFF"/>
                </a:solidFill>
                <a:latin typeface="Ubuntu"/>
              </a:rPr>
              <a:t>Precisión,</a:t>
            </a:r>
          </a:p>
          <a:p>
            <a:pPr algn="l">
              <a:lnSpc>
                <a:spcPct val="105000"/>
              </a:lnSpc>
            </a:pPr>
            <a:r>
              <a:rPr sz="3400" b="1" i="0">
                <a:solidFill>
                  <a:srgbClr val="FFFFFF"/>
                </a:solidFill>
                <a:latin typeface="Ubuntu"/>
              </a:rPr>
              <a:t>Recall y F1</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Qué mide cada una y cuándo importa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Precisión y Recall: dos preguntas distintas sobre la clase rara</a:t>
            </a:r>
          </a:p>
        </p:txBody>
      </p:sp>
      <p:pic>
        <p:nvPicPr>
          <p:cNvPr id="5" name="Picture 4" descr="04_precision_recall.png"/>
          <p:cNvPicPr>
            <a:picLocks noChangeAspect="1"/>
          </p:cNvPicPr>
          <p:nvPr/>
        </p:nvPicPr>
        <p:blipFill>
          <a:blip r:embed="rId2"/>
          <a:stretch>
            <a:fillRect/>
          </a:stretch>
        </p:blipFill>
        <p:spPr>
          <a:xfrm>
            <a:off x="1427798" y="1234440"/>
            <a:ext cx="6288404"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Precisión: de los que MARQUÉ como fraude, ¿cuántos eran fraude?   |  Recall: de todos los fraudes reales, ¿cuántos ATRAPÉ?</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Las dos preguntas son complementarias y a menudo están en tensión: mejorar una puede empeorar la otra.</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13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Resumen: precisión, recall, F1 y accuracy</a:t>
            </a:r>
          </a:p>
        </p:txBody>
      </p:sp>
      <p:sp>
        <p:nvSpPr>
          <p:cNvPr id="5" name="TextBox 4"/>
          <p:cNvSpPr txBox="1"/>
          <p:nvPr/>
        </p:nvSpPr>
        <p:spPr>
          <a:xfrm>
            <a:off x="365760" y="1097280"/>
            <a:ext cx="8412480" cy="548640"/>
          </a:xfrm>
          <a:prstGeom prst="rect">
            <a:avLst/>
          </a:prstGeom>
          <a:noFill/>
        </p:spPr>
        <p:txBody>
          <a:bodyPr wrap="square" lIns="0" rIns="0" tIns="0" bIns="0">
            <a:spAutoFit/>
          </a:bodyPr>
          <a:lstStyle/>
          <a:p>
            <a:pPr algn="l">
              <a:lnSpc>
                <a:spcPct val="120000"/>
              </a:lnSpc>
            </a:pPr>
            <a:r>
              <a:rPr sz="1400" b="0" i="1">
                <a:solidFill>
                  <a:srgbClr val="1E4C7D"/>
                </a:solidFill>
                <a:latin typeface="Ubuntu"/>
              </a:rPr>
              <a:t>Cada métrica responde una pregunta diferente. Con desbalance: priorizar recall, precisión y F1 sobre accuracy.</a:t>
            </a:r>
          </a:p>
        </p:txBody>
      </p:sp>
      <p:graphicFrame>
        <p:nvGraphicFramePr>
          <p:cNvPr id="6" name="Table 5"/>
          <p:cNvGraphicFramePr>
            <a:graphicFrameLocks noGrp="1"/>
          </p:cNvGraphicFramePr>
          <p:nvPr/>
        </p:nvGraphicFramePr>
        <p:xfrm>
          <a:off x="274320" y="1828800"/>
          <a:ext cx="8595360" cy="2697480"/>
        </p:xfrm>
        <a:graphic>
          <a:graphicData uri="http://schemas.openxmlformats.org/drawingml/2006/table">
            <a:tbl>
              <a:tblPr firstRow="1" bandRow="1">
                <a:tableStyleId>{5C22544A-7EE6-4342-B048-85BDC9FD1C3A}</a:tableStyleId>
              </a:tblPr>
              <a:tblGrid>
                <a:gridCol w="2148840"/>
                <a:gridCol w="2148840"/>
                <a:gridCol w="2148840"/>
                <a:gridCol w="2148840"/>
              </a:tblGrid>
              <a:tr h="539496">
                <a:tc>
                  <a:txBody>
                    <a:bodyPr wrap="square"/>
                    <a:lstStyle/>
                    <a:p>
                      <a:pPr algn="l"/>
                      <a:r>
                        <a:rPr sz="1300" b="1">
                          <a:solidFill>
                            <a:srgbClr val="FFFFFF"/>
                          </a:solidFill>
                          <a:latin typeface="Ubuntu"/>
                        </a:rPr>
                        <a:t>Métrica</a:t>
                      </a:r>
                    </a:p>
                  </a:txBody>
                  <a:tcPr anchor="ctr" marL="73152" marR="73152" marT="18288" marB="18288">
                    <a:solidFill>
                      <a:srgbClr val="1E4C7D"/>
                    </a:solidFill>
                  </a:tcPr>
                </a:tc>
                <a:tc>
                  <a:txBody>
                    <a:bodyPr wrap="square"/>
                    <a:lstStyle/>
                    <a:p>
                      <a:pPr algn="l"/>
                      <a:r>
                        <a:rPr sz="1300" b="1">
                          <a:solidFill>
                            <a:srgbClr val="FFFFFF"/>
                          </a:solidFill>
                          <a:latin typeface="Ubuntu"/>
                        </a:rPr>
                        <a:t>Fórmula</a:t>
                      </a:r>
                    </a:p>
                  </a:txBody>
                  <a:tcPr anchor="ctr" marL="73152" marR="73152" marT="18288" marB="18288">
                    <a:solidFill>
                      <a:srgbClr val="1E4C7D"/>
                    </a:solidFill>
                  </a:tcPr>
                </a:tc>
                <a:tc>
                  <a:txBody>
                    <a:bodyPr wrap="square"/>
                    <a:lstStyle/>
                    <a:p>
                      <a:pPr algn="l"/>
                      <a:r>
                        <a:rPr sz="1300" b="1">
                          <a:solidFill>
                            <a:srgbClr val="FFFFFF"/>
                          </a:solidFill>
                          <a:latin typeface="Ubuntu"/>
                        </a:rPr>
                        <a:t>Pregunta que responde</a:t>
                      </a:r>
                    </a:p>
                  </a:txBody>
                  <a:tcPr anchor="ctr" marL="73152" marR="73152" marT="18288" marB="18288">
                    <a:solidFill>
                      <a:srgbClr val="1E4C7D"/>
                    </a:solidFill>
                  </a:tcPr>
                </a:tc>
                <a:tc>
                  <a:txBody>
                    <a:bodyPr wrap="square"/>
                    <a:lstStyle/>
                    <a:p>
                      <a:pPr algn="l"/>
                      <a:r>
                        <a:rPr sz="1300" b="1">
                          <a:solidFill>
                            <a:srgbClr val="FFFFFF"/>
                          </a:solidFill>
                          <a:latin typeface="Ubuntu"/>
                        </a:rPr>
                        <a:t>Cuándo usarla</a:t>
                      </a:r>
                    </a:p>
                  </a:txBody>
                  <a:tcPr anchor="ctr" marL="73152" marR="73152" marT="18288" marB="18288">
                    <a:solidFill>
                      <a:srgbClr val="1E4C7D"/>
                    </a:solidFill>
                  </a:tcPr>
                </a:tc>
              </a:tr>
              <a:tr h="539496">
                <a:tc>
                  <a:txBody>
                    <a:bodyPr wrap="square"/>
                    <a:lstStyle/>
                    <a:p>
                      <a:pPr algn="l"/>
                      <a:r>
                        <a:rPr sz="1200" b="0">
                          <a:solidFill>
                            <a:srgbClr val="000000"/>
                          </a:solidFill>
                          <a:latin typeface="Ubuntu"/>
                        </a:rPr>
                        <a:t>Accuracy</a:t>
                      </a:r>
                    </a:p>
                  </a:txBody>
                  <a:tcPr anchor="ctr" marL="73152" marR="73152" marT="18288" marB="18288">
                    <a:solidFill>
                      <a:srgbClr val="EAF2FA"/>
                    </a:solidFill>
                  </a:tcPr>
                </a:tc>
                <a:tc>
                  <a:txBody>
                    <a:bodyPr wrap="square"/>
                    <a:lstStyle/>
                    <a:p>
                      <a:pPr algn="l"/>
                      <a:r>
                        <a:rPr sz="1200" b="0">
                          <a:solidFill>
                            <a:srgbClr val="000000"/>
                          </a:solidFill>
                          <a:latin typeface="Ubuntu"/>
                        </a:rPr>
                        <a:t>( VP + VN ) / Total</a:t>
                      </a:r>
                    </a:p>
                  </a:txBody>
                  <a:tcPr anchor="ctr" marL="73152" marR="73152" marT="18288" marB="18288">
                    <a:solidFill>
                      <a:srgbClr val="EAF2FA"/>
                    </a:solidFill>
                  </a:tcPr>
                </a:tc>
                <a:tc>
                  <a:txBody>
                    <a:bodyPr wrap="square"/>
                    <a:lstStyle/>
                    <a:p>
                      <a:pPr algn="l"/>
                      <a:r>
                        <a:rPr sz="1200" b="0">
                          <a:solidFill>
                            <a:srgbClr val="000000"/>
                          </a:solidFill>
                          <a:latin typeface="Ubuntu"/>
                        </a:rPr>
                        <a:t>De todo, ¿cuántos aciertos hubo?</a:t>
                      </a:r>
                    </a:p>
                  </a:txBody>
                  <a:tcPr anchor="ctr" marL="73152" marR="73152" marT="18288" marB="18288">
                    <a:solidFill>
                      <a:srgbClr val="EAF2FA"/>
                    </a:solidFill>
                  </a:tcPr>
                </a:tc>
                <a:tc>
                  <a:txBody>
                    <a:bodyPr wrap="square"/>
                    <a:lstStyle/>
                    <a:p>
                      <a:pPr algn="l"/>
                      <a:r>
                        <a:rPr sz="1200" b="0">
                          <a:solidFill>
                            <a:srgbClr val="000000"/>
                          </a:solidFill>
                          <a:latin typeface="Ubuntu"/>
                        </a:rPr>
                        <a:t>Solo si las clases están BALANCEADAS</a:t>
                      </a:r>
                    </a:p>
                  </a:txBody>
                  <a:tcPr anchor="ctr" marL="73152" marR="73152" marT="18288" marB="18288">
                    <a:solidFill>
                      <a:srgbClr val="EAF2FA"/>
                    </a:solidFill>
                  </a:tcPr>
                </a:tc>
              </a:tr>
              <a:tr h="539496">
                <a:tc>
                  <a:txBody>
                    <a:bodyPr wrap="square"/>
                    <a:lstStyle/>
                    <a:p>
                      <a:pPr algn="l"/>
                      <a:r>
                        <a:rPr sz="1200" b="0">
                          <a:solidFill>
                            <a:srgbClr val="000000"/>
                          </a:solidFill>
                          <a:latin typeface="Ubuntu"/>
                        </a:rPr>
                        <a:t>Precisión</a:t>
                      </a:r>
                    </a:p>
                  </a:txBody>
                  <a:tcPr anchor="ctr" marL="73152" marR="73152" marT="18288" marB="18288">
                    <a:solidFill>
                      <a:srgbClr val="FFFFFF"/>
                    </a:solidFill>
                  </a:tcPr>
                </a:tc>
                <a:tc>
                  <a:txBody>
                    <a:bodyPr wrap="square"/>
                    <a:lstStyle/>
                    <a:p>
                      <a:pPr algn="l"/>
                      <a:r>
                        <a:rPr sz="1200" b="0">
                          <a:solidFill>
                            <a:srgbClr val="000000"/>
                          </a:solidFill>
                          <a:latin typeface="Ubuntu"/>
                        </a:rPr>
                        <a:t>VP / ( VP + FP )</a:t>
                      </a:r>
                    </a:p>
                  </a:txBody>
                  <a:tcPr anchor="ctr" marL="73152" marR="73152" marT="18288" marB="18288">
                    <a:solidFill>
                      <a:srgbClr val="FFFFFF"/>
                    </a:solidFill>
                  </a:tcPr>
                </a:tc>
                <a:tc>
                  <a:txBody>
                    <a:bodyPr wrap="square"/>
                    <a:lstStyle/>
                    <a:p>
                      <a:pPr algn="l"/>
                      <a:r>
                        <a:rPr sz="1200" b="0">
                          <a:solidFill>
                            <a:srgbClr val="000000"/>
                          </a:solidFill>
                          <a:latin typeface="Ubuntu"/>
                        </a:rPr>
                        <a:t>De los que marqué como positivos, ¿cuántos lo eran?</a:t>
                      </a:r>
                    </a:p>
                  </a:txBody>
                  <a:tcPr anchor="ctr" marL="73152" marR="73152" marT="18288" marB="18288">
                    <a:solidFill>
                      <a:srgbClr val="FFFFFF"/>
                    </a:solidFill>
                  </a:tcPr>
                </a:tc>
                <a:tc>
                  <a:txBody>
                    <a:bodyPr wrap="square"/>
                    <a:lstStyle/>
                    <a:p>
                      <a:pPr algn="l"/>
                      <a:r>
                        <a:rPr sz="1200" b="0">
                          <a:solidFill>
                            <a:srgbClr val="000000"/>
                          </a:solidFill>
                          <a:latin typeface="Ubuntu"/>
                        </a:rPr>
                        <a:t>Si las falsas alarmas son costosas</a:t>
                      </a:r>
                    </a:p>
                  </a:txBody>
                  <a:tcPr anchor="ctr" marL="73152" marR="73152" marT="18288" marB="18288">
                    <a:solidFill>
                      <a:srgbClr val="FFFFFF"/>
                    </a:solidFill>
                  </a:tcPr>
                </a:tc>
              </a:tr>
              <a:tr h="539496">
                <a:tc>
                  <a:txBody>
                    <a:bodyPr wrap="square"/>
                    <a:lstStyle/>
                    <a:p>
                      <a:pPr algn="l"/>
                      <a:r>
                        <a:rPr sz="1200" b="0">
                          <a:solidFill>
                            <a:srgbClr val="000000"/>
                          </a:solidFill>
                          <a:latin typeface="Ubuntu"/>
                        </a:rPr>
                        <a:t>Recall</a:t>
                      </a:r>
                    </a:p>
                  </a:txBody>
                  <a:tcPr anchor="ctr" marL="73152" marR="73152" marT="18288" marB="18288">
                    <a:solidFill>
                      <a:srgbClr val="EAF2FA"/>
                    </a:solidFill>
                  </a:tcPr>
                </a:tc>
                <a:tc>
                  <a:txBody>
                    <a:bodyPr wrap="square"/>
                    <a:lstStyle/>
                    <a:p>
                      <a:pPr algn="l"/>
                      <a:r>
                        <a:rPr sz="1200" b="0">
                          <a:solidFill>
                            <a:srgbClr val="000000"/>
                          </a:solidFill>
                          <a:latin typeface="Ubuntu"/>
                        </a:rPr>
                        <a:t>VP / ( VP + FN )</a:t>
                      </a:r>
                    </a:p>
                  </a:txBody>
                  <a:tcPr anchor="ctr" marL="73152" marR="73152" marT="18288" marB="18288">
                    <a:solidFill>
                      <a:srgbClr val="EAF2FA"/>
                    </a:solidFill>
                  </a:tcPr>
                </a:tc>
                <a:tc>
                  <a:txBody>
                    <a:bodyPr wrap="square"/>
                    <a:lstStyle/>
                    <a:p>
                      <a:pPr algn="l"/>
                      <a:r>
                        <a:rPr sz="1200" b="0">
                          <a:solidFill>
                            <a:srgbClr val="000000"/>
                          </a:solidFill>
                          <a:latin typeface="Ubuntu"/>
                        </a:rPr>
                        <a:t>De todos los positivos reales, ¿cuántos detecté?</a:t>
                      </a:r>
                    </a:p>
                  </a:txBody>
                  <a:tcPr anchor="ctr" marL="73152" marR="73152" marT="18288" marB="18288">
                    <a:solidFill>
                      <a:srgbClr val="EAF2FA"/>
                    </a:solidFill>
                  </a:tcPr>
                </a:tc>
                <a:tc>
                  <a:txBody>
                    <a:bodyPr wrap="square"/>
                    <a:lstStyle/>
                    <a:p>
                      <a:pPr algn="l"/>
                      <a:r>
                        <a:rPr sz="1200" b="0">
                          <a:solidFill>
                            <a:srgbClr val="000000"/>
                          </a:solidFill>
                          <a:latin typeface="Ubuntu"/>
                        </a:rPr>
                        <a:t>Si dejar pasar un positivo es muy costoso</a:t>
                      </a:r>
                    </a:p>
                  </a:txBody>
                  <a:tcPr anchor="ctr" marL="73152" marR="73152" marT="18288" marB="18288">
                    <a:solidFill>
                      <a:srgbClr val="EAF2FA"/>
                    </a:solidFill>
                  </a:tcPr>
                </a:tc>
              </a:tr>
              <a:tr h="539496">
                <a:tc>
                  <a:txBody>
                    <a:bodyPr wrap="square"/>
                    <a:lstStyle/>
                    <a:p>
                      <a:pPr algn="l"/>
                      <a:r>
                        <a:rPr sz="1200" b="0">
                          <a:solidFill>
                            <a:srgbClr val="000000"/>
                          </a:solidFill>
                          <a:latin typeface="Ubuntu"/>
                        </a:rPr>
                        <a:t>F1</a:t>
                      </a:r>
                    </a:p>
                  </a:txBody>
                  <a:tcPr anchor="ctr" marL="73152" marR="73152" marT="18288" marB="18288">
                    <a:solidFill>
                      <a:srgbClr val="FFFFFF"/>
                    </a:solidFill>
                  </a:tcPr>
                </a:tc>
                <a:tc>
                  <a:txBody>
                    <a:bodyPr wrap="square"/>
                    <a:lstStyle/>
                    <a:p>
                      <a:pPr algn="l"/>
                      <a:r>
                        <a:rPr sz="1200" b="0">
                          <a:solidFill>
                            <a:srgbClr val="000000"/>
                          </a:solidFill>
                          <a:latin typeface="Ubuntu"/>
                        </a:rPr>
                        <a:t>2 * P * R / ( P + R )</a:t>
                      </a:r>
                    </a:p>
                  </a:txBody>
                  <a:tcPr anchor="ctr" marL="73152" marR="73152" marT="18288" marB="18288">
                    <a:solidFill>
                      <a:srgbClr val="FFFFFF"/>
                    </a:solidFill>
                  </a:tcPr>
                </a:tc>
                <a:tc>
                  <a:txBody>
                    <a:bodyPr wrap="square"/>
                    <a:lstStyle/>
                    <a:p>
                      <a:pPr algn="l"/>
                      <a:r>
                        <a:rPr sz="1200" b="0">
                          <a:solidFill>
                            <a:srgbClr val="000000"/>
                          </a:solidFill>
                          <a:latin typeface="Ubuntu"/>
                        </a:rPr>
                        <a:t>Equilibrio entre precisión y recall</a:t>
                      </a:r>
                    </a:p>
                  </a:txBody>
                  <a:tcPr anchor="ctr" marL="73152" marR="73152" marT="18288" marB="18288">
                    <a:solidFill>
                      <a:srgbClr val="FFFFFF"/>
                    </a:solidFill>
                  </a:tcPr>
                </a:tc>
                <a:tc>
                  <a:txBody>
                    <a:bodyPr wrap="square"/>
                    <a:lstStyle/>
                    <a:p>
                      <a:pPr algn="l"/>
                      <a:r>
                        <a:rPr sz="1200" b="0">
                          <a:solidFill>
                            <a:srgbClr val="000000"/>
                          </a:solidFill>
                          <a:latin typeface="Ubuntu"/>
                        </a:rPr>
                        <a:t>Con desbalance: combina ambas métricas</a:t>
                      </a:r>
                    </a:p>
                  </a:txBody>
                  <a:tcPr anchor="ctr" marL="73152" marR="73152" marT="18288" marB="18288">
                    <a:solidFill>
                      <a:srgbClr val="FFFFFF"/>
                    </a:solidFill>
                  </a:tcPr>
                </a:tc>
              </a:tr>
            </a:tbl>
          </a:graphicData>
        </a:graphic>
      </p:graphicFrame>
      <p:sp>
        <p:nvSpPr>
          <p:cNvPr id="7" name="TextBox 6"/>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F1: el balance entre precisión y recall</a:t>
            </a:r>
          </a:p>
        </p:txBody>
      </p:sp>
      <p:pic>
        <p:nvPicPr>
          <p:cNvPr id="5" name="Picture 4" descr="05_f1.png"/>
          <p:cNvPicPr>
            <a:picLocks noChangeAspect="1"/>
          </p:cNvPicPr>
          <p:nvPr/>
        </p:nvPicPr>
        <p:blipFill>
          <a:blip r:embed="rId2"/>
          <a:stretch>
            <a:fillRect/>
          </a:stretch>
        </p:blipFill>
        <p:spPr>
          <a:xfrm>
            <a:off x="1240695" y="1234440"/>
            <a:ext cx="6662609"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F1 es la media armónica: alta solo cuando AMBAS son altas.</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Si precisión = 1.0 y recall = 0.0, F1 = 0. No hay trampa: F1 exige un buen desempeño en los dos frentes.</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15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Precisión y recall con un ejemplo cotidiano</a:t>
            </a:r>
          </a:p>
        </p:txBody>
      </p:sp>
      <p:sp>
        <p:nvSpPr>
          <p:cNvPr id="5" name="Rectangle 4"/>
          <p:cNvSpPr/>
          <p:nvPr/>
        </p:nvSpPr>
        <p:spPr>
          <a:xfrm>
            <a:off x="274320" y="1417320"/>
            <a:ext cx="128016" cy="4206240"/>
          </a:xfrm>
          <a:prstGeom prst="rect">
            <a:avLst/>
          </a:prstGeom>
          <a:solidFill>
            <a:srgbClr val="2D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8412480" cy="4206240"/>
          </a:xfrm>
          <a:prstGeom prst="rect">
            <a:avLst/>
          </a:prstGeom>
          <a:solidFill>
            <a:srgbClr val="D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1508760"/>
            <a:ext cx="8119872" cy="365760"/>
          </a:xfrm>
          <a:prstGeom prst="rect">
            <a:avLst/>
          </a:prstGeom>
          <a:noFill/>
        </p:spPr>
        <p:txBody>
          <a:bodyPr wrap="square" lIns="0" rIns="0" tIns="0" bIns="0">
            <a:spAutoFit/>
          </a:bodyPr>
          <a:lstStyle/>
          <a:p>
            <a:pPr algn="l"/>
            <a:r>
              <a:rPr sz="2000" b="1" i="0">
                <a:solidFill>
                  <a:srgbClr val="2D7A7A"/>
                </a:solidFill>
                <a:latin typeface="Ubuntu"/>
              </a:rPr>
              <a:t>Analogía de la red de pesca</a:t>
            </a:r>
          </a:p>
        </p:txBody>
      </p:sp>
      <p:sp>
        <p:nvSpPr>
          <p:cNvPr id="8" name="TextBox 7"/>
          <p:cNvSpPr txBox="1"/>
          <p:nvPr/>
        </p:nvSpPr>
        <p:spPr>
          <a:xfrm>
            <a:off x="603504" y="1892808"/>
            <a:ext cx="8119872" cy="3639312"/>
          </a:xfrm>
          <a:prstGeom prst="rect">
            <a:avLst/>
          </a:prstGeom>
          <a:noFill/>
        </p:spPr>
        <p:txBody>
          <a:bodyPr wrap="square" lIns="0" rIns="0" tIns="0" bIns="0">
            <a:spAutoFit/>
          </a:bodyPr>
          <a:lstStyle/>
          <a:p>
            <a:pPr algn="l">
              <a:lnSpc>
                <a:spcPct val="150000"/>
              </a:lnSpc>
            </a:pPr>
            <a:r>
              <a:rPr sz="1800" b="0" i="0">
                <a:solidFill>
                  <a:srgbClr val="000000"/>
                </a:solidFill>
                <a:latin typeface="Ubuntu"/>
              </a:rPr>
              <a:t>Imagina una red para pescar truchas en un lago con 10 truchas y 100 carpas.</a:t>
            </a:r>
          </a:p>
          <a:p>
            <a:pPr algn="l">
              <a:lnSpc>
                <a:spcPct val="150000"/>
              </a:lnSpc>
            </a:pPr>
            <a:r>
              <a:rPr sz="1800" b="0" i="0">
                <a:solidFill>
                  <a:srgbClr val="000000"/>
                </a:solidFill>
                <a:latin typeface="Ubuntu"/>
              </a:rPr>
              <a:t/>
            </a:r>
          </a:p>
          <a:p>
            <a:pPr algn="l">
              <a:lnSpc>
                <a:spcPct val="150000"/>
              </a:lnSpc>
            </a:pPr>
            <a:r>
              <a:rPr sz="1800" b="0" i="0">
                <a:solidFill>
                  <a:srgbClr val="000000"/>
                </a:solidFill>
                <a:latin typeface="Ubuntu"/>
              </a:rPr>
              <a:t>- PRECISIÓN: de todos los peces que caen en la red, ¿qué fracción son truchas? (Si capturo 5 truchas y 20 carpas: precisión = 5/25 = 20 %)</a:t>
            </a:r>
          </a:p>
          <a:p>
            <a:pPr algn="l">
              <a:lnSpc>
                <a:spcPct val="150000"/>
              </a:lnSpc>
            </a:pPr>
            <a:r>
              <a:rPr sz="1800" b="0" i="0">
                <a:solidFill>
                  <a:srgbClr val="000000"/>
                </a:solidFill>
                <a:latin typeface="Ubuntu"/>
              </a:rPr>
              <a:t/>
            </a:r>
          </a:p>
          <a:p>
            <a:pPr algn="l">
              <a:lnSpc>
                <a:spcPct val="150000"/>
              </a:lnSpc>
            </a:pPr>
            <a:r>
              <a:rPr sz="1800" b="0" i="0">
                <a:solidFill>
                  <a:srgbClr val="000000"/>
                </a:solidFill>
                <a:latin typeface="Ubuntu"/>
              </a:rPr>
              <a:t>- RECALL: de las 10 truchas del lago, ¿cuántas caigo? (Si cazo 5 de 10: recall = 50 %)</a:t>
            </a:r>
          </a:p>
          <a:p>
            <a:pPr algn="l">
              <a:lnSpc>
                <a:spcPct val="150000"/>
              </a:lnSpc>
            </a:pPr>
            <a:r>
              <a:rPr sz="1800" b="0" i="0">
                <a:solidFill>
                  <a:srgbClr val="000000"/>
                </a:solidFill>
                <a:latin typeface="Ubuntu"/>
              </a:rPr>
              <a:t/>
            </a:r>
          </a:p>
          <a:p>
            <a:pPr algn="l">
              <a:lnSpc>
                <a:spcPct val="150000"/>
              </a:lnSpc>
            </a:pPr>
            <a:r>
              <a:rPr sz="1800" b="0" i="0">
                <a:solidFill>
                  <a:srgbClr val="000000"/>
                </a:solidFill>
                <a:latin typeface="Ubuntu"/>
              </a:rPr>
              <a:t>Quiero una red que capture MUCHAS truchas (recall alto) y que NO esté llena de carpas (precisión alta).</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5</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Curvas ROC</a:t>
            </a:r>
          </a:p>
          <a:p>
            <a:pPr algn="l">
              <a:lnSpc>
                <a:spcPct val="105000"/>
              </a:lnSpc>
            </a:pPr>
            <a:r>
              <a:rPr sz="3400" b="1" i="0">
                <a:solidFill>
                  <a:srgbClr val="FFFFFF"/>
                </a:solidFill>
                <a:latin typeface="Ubuntu"/>
              </a:rPr>
              <a:t>y Precisión-Recall</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Por qué con desbalance la curva PR es más informativa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ROC vs Precisión-Recall: dos curvas, dos historias</a:t>
            </a:r>
          </a:p>
        </p:txBody>
      </p:sp>
      <p:pic>
        <p:nvPicPr>
          <p:cNvPr id="5" name="Picture 4" descr="06_roc_vs_pr.png"/>
          <p:cNvPicPr>
            <a:picLocks noChangeAspect="1"/>
          </p:cNvPicPr>
          <p:nvPr/>
        </p:nvPicPr>
        <p:blipFill>
          <a:blip r:embed="rId2"/>
          <a:stretch>
            <a:fillRect/>
          </a:stretch>
        </p:blipFill>
        <p:spPr>
          <a:xfrm>
            <a:off x="863926" y="1234440"/>
            <a:ext cx="7416148"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Con clases desbalanceadas, la curva ROC puede verse optimista; la curva Precisión-Recall es más honesta.</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La curva ROC compara tasa de verdaderos positivos vs falsos positivos. La curva PR compara precisión vs recall directamente sobre la clase rara.</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17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ROC vs Precisión-Recall: diferencias clave</a:t>
            </a:r>
          </a:p>
        </p:txBody>
      </p:sp>
      <p:sp>
        <p:nvSpPr>
          <p:cNvPr id="5" name="TextBox 4"/>
          <p:cNvSpPr txBox="1"/>
          <p:nvPr/>
        </p:nvSpPr>
        <p:spPr>
          <a:xfrm>
            <a:off x="365760" y="1078992"/>
            <a:ext cx="8412480" cy="502920"/>
          </a:xfrm>
          <a:prstGeom prst="rect">
            <a:avLst/>
          </a:prstGeom>
          <a:noFill/>
        </p:spPr>
        <p:txBody>
          <a:bodyPr wrap="square" lIns="0" rIns="0" tIns="0" bIns="0">
            <a:spAutoFit/>
          </a:bodyPr>
          <a:lstStyle/>
          <a:p>
            <a:pPr algn="l">
              <a:lnSpc>
                <a:spcPct val="115000"/>
              </a:lnSpc>
            </a:pPr>
            <a:r>
              <a:rPr sz="1400" b="0" i="1">
                <a:solidFill>
                  <a:srgbClr val="1E4C7D"/>
                </a:solidFill>
                <a:latin typeface="Ubuntu"/>
              </a:rPr>
              <a:t>Con solo 4 % de fraudes, la curva PR revela problemas que la ROC esconde.</a:t>
            </a:r>
          </a:p>
        </p:txBody>
      </p:sp>
      <p:sp>
        <p:nvSpPr>
          <p:cNvPr id="6" name="Rectangle 5"/>
          <p:cNvSpPr/>
          <p:nvPr/>
        </p:nvSpPr>
        <p:spPr>
          <a:xfrm>
            <a:off x="274320" y="1691640"/>
            <a:ext cx="4251960" cy="50292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691640"/>
            <a:ext cx="4251960" cy="502920"/>
          </a:xfrm>
          <a:prstGeom prst="rect">
            <a:avLst/>
          </a:prstGeom>
          <a:noFill/>
        </p:spPr>
        <p:txBody>
          <a:bodyPr wrap="square" lIns="0" rIns="0" tIns="0" bIns="0" anchor="ctr">
            <a:spAutoFit/>
          </a:bodyPr>
          <a:lstStyle/>
          <a:p>
            <a:pPr algn="ctr"/>
            <a:r>
              <a:rPr sz="1500" b="1" i="0">
                <a:solidFill>
                  <a:srgbClr val="FFFFFF"/>
                </a:solidFill>
                <a:latin typeface="Ubuntu"/>
              </a:rPr>
              <a:t>Curva ROC + AUC</a:t>
            </a:r>
          </a:p>
        </p:txBody>
      </p:sp>
      <p:sp>
        <p:nvSpPr>
          <p:cNvPr id="8" name="Rectangle 7"/>
          <p:cNvSpPr/>
          <p:nvPr/>
        </p:nvSpPr>
        <p:spPr>
          <a:xfrm>
            <a:off x="274320" y="2194560"/>
            <a:ext cx="4251960" cy="3794759"/>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2304288"/>
            <a:ext cx="3959352" cy="365760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 Eje X: tasa de FP (de los no-fraude, ¿cuántos marcamos mal?)</a:t>
            </a:r>
          </a:p>
          <a:p>
            <a:pPr algn="l">
              <a:lnSpc>
                <a:spcPct val="130000"/>
              </a:lnSpc>
            </a:pPr>
            <a:r>
              <a:rPr sz="1300" b="0" i="0">
                <a:solidFill>
                  <a:srgbClr val="000000"/>
                </a:solidFill>
                <a:latin typeface="Ubuntu"/>
              </a:rPr>
              <a:t>- Eje Y: recall (sensibilidad)</a:t>
            </a:r>
          </a:p>
          <a:p>
            <a:pPr algn="l">
              <a:lnSpc>
                <a:spcPct val="130000"/>
              </a:lnSpc>
            </a:pPr>
            <a:r>
              <a:rPr sz="1300" b="0" i="0">
                <a:solidFill>
                  <a:srgbClr val="000000"/>
                </a:solidFill>
                <a:latin typeface="Ubuntu"/>
              </a:rPr>
              <a:t>- AUC entre 0.5 (azar) y 1 (perfecto)</a:t>
            </a:r>
          </a:p>
          <a:p>
            <a:pPr algn="l">
              <a:lnSpc>
                <a:spcPct val="130000"/>
              </a:lnSpc>
            </a:pPr>
            <a:r>
              <a:rPr sz="1300" b="0" i="0">
                <a:solidFill>
                  <a:srgbClr val="000000"/>
                </a:solidFill>
                <a:latin typeface="Ubuntu"/>
              </a:rPr>
              <a:t>- Puede verse optimista cuando hay muy pocos positivos</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Útil para comparar modelos en general.</a:t>
            </a:r>
          </a:p>
        </p:txBody>
      </p:sp>
      <p:sp>
        <p:nvSpPr>
          <p:cNvPr id="10" name="Rectangle 9"/>
          <p:cNvSpPr/>
          <p:nvPr/>
        </p:nvSpPr>
        <p:spPr>
          <a:xfrm>
            <a:off x="4617720" y="1691640"/>
            <a:ext cx="4251960" cy="502920"/>
          </a:xfrm>
          <a:prstGeom prst="rect">
            <a:avLst/>
          </a:prstGeom>
          <a:solidFill>
            <a:srgbClr val="2D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91640"/>
            <a:ext cx="4251960" cy="502920"/>
          </a:xfrm>
          <a:prstGeom prst="rect">
            <a:avLst/>
          </a:prstGeom>
          <a:noFill/>
        </p:spPr>
        <p:txBody>
          <a:bodyPr wrap="square" lIns="0" rIns="0" tIns="0" bIns="0" anchor="ctr">
            <a:spAutoFit/>
          </a:bodyPr>
          <a:lstStyle/>
          <a:p>
            <a:pPr algn="ctr"/>
            <a:r>
              <a:rPr sz="1500" b="1" i="0">
                <a:solidFill>
                  <a:srgbClr val="FFFFFF"/>
                </a:solidFill>
                <a:latin typeface="Ubuntu"/>
              </a:rPr>
              <a:t>Curva Precisión-Recall + AP</a:t>
            </a:r>
          </a:p>
        </p:txBody>
      </p:sp>
      <p:sp>
        <p:nvSpPr>
          <p:cNvPr id="12" name="Rectangle 11"/>
          <p:cNvSpPr/>
          <p:nvPr/>
        </p:nvSpPr>
        <p:spPr>
          <a:xfrm>
            <a:off x="4617720" y="2194560"/>
            <a:ext cx="4251960" cy="3794759"/>
          </a:xfrm>
          <a:prstGeom prst="rect">
            <a:avLst/>
          </a:prstGeom>
          <a:solidFill>
            <a:srgbClr val="D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64024" y="2304288"/>
            <a:ext cx="3959352" cy="365760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 Eje X: recall</a:t>
            </a:r>
          </a:p>
          <a:p>
            <a:pPr algn="l">
              <a:lnSpc>
                <a:spcPct val="130000"/>
              </a:lnSpc>
            </a:pPr>
            <a:r>
              <a:rPr sz="1300" b="0" i="0">
                <a:solidFill>
                  <a:srgbClr val="000000"/>
                </a:solidFill>
                <a:latin typeface="Ubuntu"/>
              </a:rPr>
              <a:t>- Eje Y: precisión</a:t>
            </a:r>
          </a:p>
          <a:p>
            <a:pPr algn="l">
              <a:lnSpc>
                <a:spcPct val="130000"/>
              </a:lnSpc>
            </a:pPr>
            <a:r>
              <a:rPr sz="1300" b="0" i="0">
                <a:solidFill>
                  <a:srgbClr val="000000"/>
                </a:solidFill>
                <a:latin typeface="Ubuntu"/>
              </a:rPr>
              <a:t>- AP: área promedio bajo la curva PR</a:t>
            </a:r>
          </a:p>
          <a:p>
            <a:pPr algn="l">
              <a:lnSpc>
                <a:spcPct val="130000"/>
              </a:lnSpc>
            </a:pPr>
            <a:r>
              <a:rPr sz="1300" b="0" i="0">
                <a:solidFill>
                  <a:srgbClr val="000000"/>
                </a:solidFill>
                <a:latin typeface="Ubuntu"/>
              </a:rPr>
              <a:t>- Muy sensible al desbalance: baja línea base</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Preferida cuando la clase positiva es muy rara (fraude, enfermedades, fallas).</a:t>
            </a:r>
          </a:p>
        </p:txBody>
      </p:sp>
      <p:sp>
        <p:nvSpPr>
          <p:cNvPr id="14" name="TextBox 13"/>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18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6</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Solución I:</a:t>
            </a:r>
          </a:p>
          <a:p>
            <a:pPr algn="l">
              <a:lnSpc>
                <a:spcPct val="105000"/>
              </a:lnSpc>
            </a:pPr>
            <a:r>
              <a:rPr sz="3400" b="1" i="0">
                <a:solidFill>
                  <a:srgbClr val="FFFFFF"/>
                </a:solidFill>
                <a:latin typeface="Ubuntu"/>
              </a:rPr>
              <a:t>Remuestreo</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Oversampling y undersampling: rebalancear los datos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El problema de estudiar con un libro desbalanceado</a:t>
            </a:r>
          </a:p>
        </p:txBody>
      </p:sp>
      <p:sp>
        <p:nvSpPr>
          <p:cNvPr id="5" name="Rectangle 4"/>
          <p:cNvSpPr/>
          <p:nvPr/>
        </p:nvSpPr>
        <p:spPr>
          <a:xfrm>
            <a:off x="274320" y="1417320"/>
            <a:ext cx="128016" cy="4206240"/>
          </a:xfrm>
          <a:prstGeom prst="rect">
            <a:avLst/>
          </a:prstGeom>
          <a:solidFill>
            <a:srgbClr val="7D3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8412480" cy="4206240"/>
          </a:xfrm>
          <a:prstGeom prst="rect">
            <a:avLst/>
          </a:prstGeom>
          <a:solidFill>
            <a:srgbClr val="F7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1508760"/>
            <a:ext cx="8119872" cy="365760"/>
          </a:xfrm>
          <a:prstGeom prst="rect">
            <a:avLst/>
          </a:prstGeom>
          <a:noFill/>
        </p:spPr>
        <p:txBody>
          <a:bodyPr wrap="square" lIns="0" rIns="0" tIns="0" bIns="0">
            <a:spAutoFit/>
          </a:bodyPr>
          <a:lstStyle/>
          <a:p>
            <a:pPr algn="l"/>
            <a:r>
              <a:rPr sz="2000" b="1" i="0">
                <a:solidFill>
                  <a:srgbClr val="7D3C66"/>
                </a:solidFill>
                <a:latin typeface="Ubuntu"/>
              </a:rPr>
              <a:t>Analogía del libro de ejercicios</a:t>
            </a:r>
          </a:p>
        </p:txBody>
      </p:sp>
      <p:sp>
        <p:nvSpPr>
          <p:cNvPr id="8" name="TextBox 7"/>
          <p:cNvSpPr txBox="1"/>
          <p:nvPr/>
        </p:nvSpPr>
        <p:spPr>
          <a:xfrm>
            <a:off x="603504" y="1892808"/>
            <a:ext cx="8119872" cy="3639312"/>
          </a:xfrm>
          <a:prstGeom prst="rect">
            <a:avLst/>
          </a:prstGeom>
          <a:noFill/>
        </p:spPr>
        <p:txBody>
          <a:bodyPr wrap="square" lIns="0" rIns="0" tIns="0" bIns="0">
            <a:spAutoFit/>
          </a:bodyPr>
          <a:lstStyle/>
          <a:p>
            <a:pPr algn="l">
              <a:lnSpc>
                <a:spcPct val="150000"/>
              </a:lnSpc>
            </a:pPr>
            <a:r>
              <a:rPr sz="1800" b="0" i="0">
                <a:solidFill>
                  <a:srgbClr val="000000"/>
                </a:solidFill>
                <a:latin typeface="Ubuntu"/>
              </a:rPr>
              <a:t>Imagina que estudias para un examen con un libro donde el 96 % de los ejercicios son sumas y solo el 4 % son divisiones. El modelo (tu cerebro) aprenderá a sumar muy bien y casi ignorará las divisiones.</a:t>
            </a:r>
          </a:p>
          <a:p>
            <a:pPr algn="l">
              <a:lnSpc>
                <a:spcPct val="150000"/>
              </a:lnSpc>
            </a:pPr>
            <a:r>
              <a:rPr sz="1800" b="0" i="0">
                <a:solidFill>
                  <a:srgbClr val="000000"/>
                </a:solidFill>
                <a:latin typeface="Ubuntu"/>
              </a:rPr>
              <a:t/>
            </a:r>
          </a:p>
          <a:p>
            <a:pPr algn="l">
              <a:lnSpc>
                <a:spcPct val="150000"/>
              </a:lnSpc>
            </a:pPr>
            <a:r>
              <a:rPr sz="1800" b="0" i="0">
                <a:solidFill>
                  <a:srgbClr val="000000"/>
                </a:solidFill>
                <a:latin typeface="Ubuntu"/>
              </a:rPr>
              <a:t>Solución: estudiar MÁS divisiones (oversampling) o MÁS POCAS sumas (undersampling) para que el cerebro les dé igual atención a ambas.</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19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Oversampling vs undersampling: antes y después</a:t>
            </a:r>
          </a:p>
        </p:txBody>
      </p:sp>
      <p:pic>
        <p:nvPicPr>
          <p:cNvPr id="5" name="Picture 4" descr="07_remuestreo.png"/>
          <p:cNvPicPr>
            <a:picLocks noChangeAspect="1"/>
          </p:cNvPicPr>
          <p:nvPr/>
        </p:nvPicPr>
        <p:blipFill>
          <a:blip r:embed="rId2"/>
          <a:stretch>
            <a:fillRect/>
          </a:stretch>
        </p:blipFill>
        <p:spPr>
          <a:xfrm>
            <a:off x="982781" y="1234440"/>
            <a:ext cx="7178438"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Original: 2,498 normales vs 102 fraudes. Oversampling: ambas llegan a 2,498. Undersampling: ambas bajan a 102.</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El remuestreo SOLO se aplica al conjunto de entrenamiento, NUNCA a la prueba. La prueba debe reflejar la realidad.</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20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Oversampling vs undersampling: ventajas y costos</a:t>
            </a:r>
          </a:p>
        </p:txBody>
      </p:sp>
      <p:sp>
        <p:nvSpPr>
          <p:cNvPr id="5" name="TextBox 4"/>
          <p:cNvSpPr txBox="1"/>
          <p:nvPr/>
        </p:nvSpPr>
        <p:spPr>
          <a:xfrm>
            <a:off x="365760" y="1078992"/>
            <a:ext cx="8412480" cy="502920"/>
          </a:xfrm>
          <a:prstGeom prst="rect">
            <a:avLst/>
          </a:prstGeom>
          <a:noFill/>
        </p:spPr>
        <p:txBody>
          <a:bodyPr wrap="square" lIns="0" rIns="0" tIns="0" bIns="0">
            <a:spAutoFit/>
          </a:bodyPr>
          <a:lstStyle/>
          <a:p>
            <a:pPr algn="l">
              <a:lnSpc>
                <a:spcPct val="115000"/>
              </a:lnSpc>
            </a:pPr>
            <a:r>
              <a:rPr sz="1400" b="0" i="1">
                <a:solidFill>
                  <a:srgbClr val="1E4C7D"/>
                </a:solidFill>
                <a:latin typeface="Ubuntu"/>
              </a:rPr>
              <a:t>Ninguno es perfecto; SMOTE ofrece una alternativa intermedia.</a:t>
            </a:r>
          </a:p>
        </p:txBody>
      </p:sp>
      <p:sp>
        <p:nvSpPr>
          <p:cNvPr id="6" name="Rectangle 5"/>
          <p:cNvSpPr/>
          <p:nvPr/>
        </p:nvSpPr>
        <p:spPr>
          <a:xfrm>
            <a:off x="274320" y="1691640"/>
            <a:ext cx="4251960" cy="502920"/>
          </a:xfrm>
          <a:prstGeom prst="rect">
            <a:avLst/>
          </a:prstGeom>
          <a:solidFill>
            <a:srgbClr val="1A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691640"/>
            <a:ext cx="4251960" cy="502920"/>
          </a:xfrm>
          <a:prstGeom prst="rect">
            <a:avLst/>
          </a:prstGeom>
          <a:noFill/>
        </p:spPr>
        <p:txBody>
          <a:bodyPr wrap="square" lIns="0" rIns="0" tIns="0" bIns="0" anchor="ctr">
            <a:spAutoFit/>
          </a:bodyPr>
          <a:lstStyle/>
          <a:p>
            <a:pPr algn="ctr"/>
            <a:r>
              <a:rPr sz="1500" b="1" i="0">
                <a:solidFill>
                  <a:srgbClr val="FFFFFF"/>
                </a:solidFill>
                <a:latin typeface="Ubuntu"/>
              </a:rPr>
              <a:t>Oversampling: ampliar la minoría</a:t>
            </a:r>
          </a:p>
        </p:txBody>
      </p:sp>
      <p:sp>
        <p:nvSpPr>
          <p:cNvPr id="8" name="Rectangle 7"/>
          <p:cNvSpPr/>
          <p:nvPr/>
        </p:nvSpPr>
        <p:spPr>
          <a:xfrm>
            <a:off x="274320" y="2194560"/>
            <a:ext cx="4251960" cy="3794759"/>
          </a:xfrm>
          <a:prstGeom prst="rect">
            <a:avLst/>
          </a:prstGeom>
          <a:solidFill>
            <a:srgbClr val="D5F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2304288"/>
            <a:ext cx="3959352" cy="365760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Ventajas:</a:t>
            </a:r>
          </a:p>
          <a:p>
            <a:pPr algn="l">
              <a:lnSpc>
                <a:spcPct val="130000"/>
              </a:lnSpc>
            </a:pPr>
            <a:r>
              <a:rPr sz="1300" b="0" i="0">
                <a:solidFill>
                  <a:srgbClr val="000000"/>
                </a:solidFill>
                <a:latin typeface="Ubuntu"/>
              </a:rPr>
              <a:t>- No pierde información de la mayoría</a:t>
            </a:r>
          </a:p>
          <a:p>
            <a:pPr algn="l">
              <a:lnSpc>
                <a:spcPct val="130000"/>
              </a:lnSpc>
            </a:pPr>
            <a:r>
              <a:rPr sz="1300" b="0" i="0">
                <a:solidFill>
                  <a:srgbClr val="000000"/>
                </a:solidFill>
                <a:latin typeface="Ubuntu"/>
              </a:rPr>
              <a:t>- El modelo ve más ejemplos de la clase rara</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Desventajas:</a:t>
            </a:r>
          </a:p>
          <a:p>
            <a:pPr algn="l">
              <a:lnSpc>
                <a:spcPct val="130000"/>
              </a:lnSpc>
            </a:pPr>
            <a:r>
              <a:rPr sz="1300" b="0" i="0">
                <a:solidFill>
                  <a:srgbClr val="000000"/>
                </a:solidFill>
                <a:latin typeface="Ubuntu"/>
              </a:rPr>
              <a:t>- El simple oversampling REPITE exactamente los mismos ejemplos: el modelo puede memorizar</a:t>
            </a:r>
          </a:p>
          <a:p>
            <a:pPr algn="l">
              <a:lnSpc>
                <a:spcPct val="130000"/>
              </a:lnSpc>
            </a:pPr>
            <a:r>
              <a:rPr sz="1300" b="0" i="0">
                <a:solidFill>
                  <a:srgbClr val="000000"/>
                </a:solidFill>
                <a:latin typeface="Ubuntu"/>
              </a:rPr>
              <a:t>- El conjunto crece; entrena más lento</a:t>
            </a:r>
          </a:p>
        </p:txBody>
      </p:sp>
      <p:sp>
        <p:nvSpPr>
          <p:cNvPr id="10" name="Rectangle 9"/>
          <p:cNvSpPr/>
          <p:nvPr/>
        </p:nvSpPr>
        <p:spPr>
          <a:xfrm>
            <a:off x="4617720" y="1691640"/>
            <a:ext cx="4251960" cy="502920"/>
          </a:xfrm>
          <a:prstGeom prst="rect">
            <a:avLst/>
          </a:prstGeom>
          <a:solidFill>
            <a:srgbClr val="C97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91640"/>
            <a:ext cx="4251960" cy="502920"/>
          </a:xfrm>
          <a:prstGeom prst="rect">
            <a:avLst/>
          </a:prstGeom>
          <a:noFill/>
        </p:spPr>
        <p:txBody>
          <a:bodyPr wrap="square" lIns="0" rIns="0" tIns="0" bIns="0" anchor="ctr">
            <a:spAutoFit/>
          </a:bodyPr>
          <a:lstStyle/>
          <a:p>
            <a:pPr algn="ctr"/>
            <a:r>
              <a:rPr sz="1500" b="1" i="0">
                <a:solidFill>
                  <a:srgbClr val="FFFFFF"/>
                </a:solidFill>
                <a:latin typeface="Ubuntu"/>
              </a:rPr>
              <a:t>Undersampling: recortar la mayoría</a:t>
            </a:r>
          </a:p>
        </p:txBody>
      </p:sp>
      <p:sp>
        <p:nvSpPr>
          <p:cNvPr id="12" name="Rectangle 11"/>
          <p:cNvSpPr/>
          <p:nvPr/>
        </p:nvSpPr>
        <p:spPr>
          <a:xfrm>
            <a:off x="4617720" y="2194560"/>
            <a:ext cx="4251960" cy="3794759"/>
          </a:xfrm>
          <a:prstGeom prst="rect">
            <a:avLst/>
          </a:prstGeom>
          <a:solidFill>
            <a:srgbClr val="F7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64024" y="2304288"/>
            <a:ext cx="3959352" cy="365760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Ventajas:</a:t>
            </a:r>
          </a:p>
          <a:p>
            <a:pPr algn="l">
              <a:lnSpc>
                <a:spcPct val="130000"/>
              </a:lnSpc>
            </a:pPr>
            <a:r>
              <a:rPr sz="1300" b="0" i="0">
                <a:solidFill>
                  <a:srgbClr val="000000"/>
                </a:solidFill>
                <a:latin typeface="Ubuntu"/>
              </a:rPr>
              <a:t>- Entrena rápido: conjunto más pequeño</a:t>
            </a:r>
          </a:p>
          <a:p>
            <a:pPr algn="l">
              <a:lnSpc>
                <a:spcPct val="130000"/>
              </a:lnSpc>
            </a:pPr>
            <a:r>
              <a:rPr sz="1300" b="0" i="0">
                <a:solidFill>
                  <a:srgbClr val="000000"/>
                </a:solidFill>
                <a:latin typeface="Ubuntu"/>
              </a:rPr>
              <a:t>- Obliga al modelo a aprender de ambas clases</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Desventajas:</a:t>
            </a:r>
          </a:p>
          <a:p>
            <a:pPr algn="l">
              <a:lnSpc>
                <a:spcPct val="130000"/>
              </a:lnSpc>
            </a:pPr>
            <a:r>
              <a:rPr sz="1300" b="0" i="0">
                <a:solidFill>
                  <a:srgbClr val="000000"/>
                </a:solidFill>
                <a:latin typeface="Ubuntu"/>
              </a:rPr>
              <a:t>- Descarta datos reales de la mayoría: pierde información</a:t>
            </a:r>
          </a:p>
          <a:p>
            <a:pPr algn="l">
              <a:lnSpc>
                <a:spcPct val="130000"/>
              </a:lnSpc>
            </a:pPr>
            <a:r>
              <a:rPr sz="1300" b="0" i="0">
                <a:solidFill>
                  <a:srgbClr val="000000"/>
                </a:solidFill>
                <a:latin typeface="Ubuntu"/>
              </a:rPr>
              <a:t>- Si la mayoría tenía patrones importantes, se pierden</a:t>
            </a:r>
          </a:p>
        </p:txBody>
      </p:sp>
      <p:sp>
        <p:nvSpPr>
          <p:cNvPr id="14" name="TextBox 13"/>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21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7</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Solución II:</a:t>
            </a:r>
          </a:p>
          <a:p>
            <a:pPr algn="l">
              <a:lnSpc>
                <a:spcPct val="105000"/>
              </a:lnSpc>
            </a:pPr>
            <a:r>
              <a:rPr sz="3400" b="1" i="0">
                <a:solidFill>
                  <a:srgbClr val="FFFFFF"/>
                </a:solidFill>
                <a:latin typeface="Ubuntu"/>
              </a:rPr>
              <a:t>SMOTE</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Crear ejemplos sintéticos de la clase rara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SMOTE: Synthetic Minority Over-sampling TEchnique</a:t>
            </a:r>
          </a:p>
        </p:txBody>
      </p:sp>
      <p:sp>
        <p:nvSpPr>
          <p:cNvPr id="5" name="Rectangle 4"/>
          <p:cNvSpPr/>
          <p:nvPr/>
        </p:nvSpPr>
        <p:spPr>
          <a:xfrm>
            <a:off x="274320" y="1234440"/>
            <a:ext cx="8595360" cy="274320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325880"/>
            <a:ext cx="8302752" cy="365760"/>
          </a:xfrm>
          <a:prstGeom prst="rect">
            <a:avLst/>
          </a:prstGeom>
          <a:noFill/>
        </p:spPr>
        <p:txBody>
          <a:bodyPr wrap="square" lIns="0" rIns="0" tIns="0" bIns="0">
            <a:spAutoFit/>
          </a:bodyPr>
          <a:lstStyle/>
          <a:p>
            <a:pPr algn="l"/>
            <a:r>
              <a:rPr sz="1800" b="1" i="0">
                <a:solidFill>
                  <a:srgbClr val="1E4C7D"/>
                </a:solidFill>
                <a:latin typeface="Ubuntu"/>
              </a:rPr>
              <a:t>Definición</a:t>
            </a:r>
          </a:p>
        </p:txBody>
      </p:sp>
      <p:sp>
        <p:nvSpPr>
          <p:cNvPr id="7" name="TextBox 6"/>
          <p:cNvSpPr txBox="1"/>
          <p:nvPr/>
        </p:nvSpPr>
        <p:spPr>
          <a:xfrm>
            <a:off x="420624" y="1709928"/>
            <a:ext cx="8302752" cy="2176272"/>
          </a:xfrm>
          <a:prstGeom prst="rect">
            <a:avLst/>
          </a:prstGeom>
          <a:noFill/>
        </p:spPr>
        <p:txBody>
          <a:bodyPr wrap="square" lIns="0" rIns="0" tIns="0" bIns="0">
            <a:spAutoFit/>
          </a:bodyPr>
          <a:lstStyle/>
          <a:p>
            <a:pPr algn="l">
              <a:lnSpc>
                <a:spcPct val="140000"/>
              </a:lnSpc>
            </a:pPr>
            <a:r>
              <a:rPr sz="1800" b="0" i="0">
                <a:solidFill>
                  <a:srgbClr val="000000"/>
                </a:solidFill>
                <a:latin typeface="Ubuntu"/>
              </a:rPr>
              <a:t>SMOTE no repite ejemplos existentes: CREA nuevos ejemplos de la clase minoritaria interpolando entre casos reales. Toma un punto de la clase rara y uno de sus vecinos más cercanos, y 'dibuja' un punto nuevo en algún lugar de la línea que los une.</a:t>
            </a:r>
          </a:p>
        </p:txBody>
      </p:sp>
      <p:sp>
        <p:nvSpPr>
          <p:cNvPr id="8" name="Rectangle 7"/>
          <p:cNvSpPr/>
          <p:nvPr/>
        </p:nvSpPr>
        <p:spPr>
          <a:xfrm>
            <a:off x="274320" y="4206240"/>
            <a:ext cx="8595360" cy="2011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4297680"/>
            <a:ext cx="8302752" cy="365760"/>
          </a:xfrm>
          <a:prstGeom prst="rect">
            <a:avLst/>
          </a:prstGeom>
          <a:noFill/>
        </p:spPr>
        <p:txBody>
          <a:bodyPr wrap="square" lIns="0" rIns="0" tIns="0" bIns="0">
            <a:spAutoFit/>
          </a:bodyPr>
          <a:lstStyle/>
          <a:p>
            <a:pPr algn="l"/>
            <a:r>
              <a:rPr sz="1600" b="1" i="0">
                <a:solidFill>
                  <a:srgbClr val="1A7A3A"/>
                </a:solidFill>
                <a:latin typeface="Ubuntu"/>
              </a:rPr>
              <a:t>En palabras simples</a:t>
            </a:r>
          </a:p>
        </p:txBody>
      </p:sp>
      <p:sp>
        <p:nvSpPr>
          <p:cNvPr id="10" name="TextBox 9"/>
          <p:cNvSpPr txBox="1"/>
          <p:nvPr/>
        </p:nvSpPr>
        <p:spPr>
          <a:xfrm>
            <a:off x="420624" y="4681728"/>
            <a:ext cx="8302752" cy="1444752"/>
          </a:xfrm>
          <a:prstGeom prst="rect">
            <a:avLst/>
          </a:prstGeom>
          <a:noFill/>
        </p:spPr>
        <p:txBody>
          <a:bodyPr wrap="square" lIns="0" rIns="0" tIns="0" bIns="0">
            <a:spAutoFit/>
          </a:bodyPr>
          <a:lstStyle/>
          <a:p>
            <a:pPr algn="l">
              <a:lnSpc>
                <a:spcPct val="140000"/>
              </a:lnSpc>
            </a:pPr>
            <a:r>
              <a:rPr sz="1600" b="0" i="0">
                <a:solidFill>
                  <a:srgbClr val="000000"/>
                </a:solidFill>
                <a:latin typeface="Ubuntu"/>
              </a:rPr>
              <a:t>Es como si, en lugar de fotocopiar los 102 casos de fraude varias veces, los mezclaras entre sí para generar variantes nuevas y plausibles. Más variedad, menos memorización.</a:t>
            </a:r>
          </a:p>
        </p:txBody>
      </p:sp>
      <p:sp>
        <p:nvSpPr>
          <p:cNvPr id="11" name="TextBox 10"/>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22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SMOTE: los puntos sintéticos nacen entre vecinos reales</a:t>
            </a:r>
          </a:p>
        </p:txBody>
      </p:sp>
      <p:pic>
        <p:nvPicPr>
          <p:cNvPr id="5" name="Picture 4" descr="08_smote.png"/>
          <p:cNvPicPr>
            <a:picLocks noChangeAspect="1"/>
          </p:cNvPicPr>
          <p:nvPr/>
        </p:nvPicPr>
        <p:blipFill>
          <a:blip r:embed="rId2"/>
          <a:stretch>
            <a:fillRect/>
          </a:stretch>
        </p:blipFill>
        <p:spPr>
          <a:xfrm>
            <a:off x="1565053" y="1234440"/>
            <a:ext cx="6013894"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Los puntos naranjas (SMOTE) se crean sobre la línea entre dos casos reales de la clase minoritaria (roja).</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Los sintéticos no son iguales a ningún caso real: son interpolaciones que dan más variedad al modelo para aprender la clase rara.</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23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¿Cómo funciona SMOTE, paso a paso?</a:t>
            </a:r>
          </a:p>
        </p:txBody>
      </p:sp>
      <p:sp>
        <p:nvSpPr>
          <p:cNvPr id="5" name="TextBox 4"/>
          <p:cNvSpPr txBox="1"/>
          <p:nvPr/>
        </p:nvSpPr>
        <p:spPr>
          <a:xfrm>
            <a:off x="365760" y="1097280"/>
            <a:ext cx="8412480" cy="548640"/>
          </a:xfrm>
          <a:prstGeom prst="rect">
            <a:avLst/>
          </a:prstGeom>
          <a:noFill/>
        </p:spPr>
        <p:txBody>
          <a:bodyPr wrap="square" lIns="0" rIns="0" tIns="0" bIns="0">
            <a:spAutoFit/>
          </a:bodyPr>
          <a:lstStyle/>
          <a:p>
            <a:pPr algn="l">
              <a:lnSpc>
                <a:spcPct val="120000"/>
              </a:lnSpc>
            </a:pPr>
            <a:r>
              <a:rPr sz="1400" b="0" i="1">
                <a:solidFill>
                  <a:srgbClr val="1E4C7D"/>
                </a:solidFill>
                <a:latin typeface="Ubuntu"/>
              </a:rPr>
              <a:t>El resultado: más casos de fraude, pero no repetidos: son variantes nuevas y plausibles.</a:t>
            </a:r>
          </a:p>
        </p:txBody>
      </p:sp>
      <p:sp>
        <p:nvSpPr>
          <p:cNvPr id="6" name="Oval 5"/>
          <p:cNvSpPr/>
          <p:nvPr/>
        </p:nvSpPr>
        <p:spPr>
          <a:xfrm>
            <a:off x="411480" y="178308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1</a:t>
            </a:r>
          </a:p>
        </p:txBody>
      </p:sp>
      <p:sp>
        <p:nvSpPr>
          <p:cNvPr id="7" name="TextBox 6"/>
          <p:cNvSpPr txBox="1"/>
          <p:nvPr/>
        </p:nvSpPr>
        <p:spPr>
          <a:xfrm>
            <a:off x="1051560" y="1746504"/>
            <a:ext cx="7406640" cy="365760"/>
          </a:xfrm>
          <a:prstGeom prst="rect">
            <a:avLst/>
          </a:prstGeom>
          <a:noFill/>
        </p:spPr>
        <p:txBody>
          <a:bodyPr wrap="square" lIns="0" rIns="0" tIns="0" bIns="0">
            <a:spAutoFit/>
          </a:bodyPr>
          <a:lstStyle/>
          <a:p>
            <a:pPr algn="l"/>
            <a:r>
              <a:rPr sz="1400" b="1" i="0">
                <a:solidFill>
                  <a:srgbClr val="1E4C7D"/>
                </a:solidFill>
                <a:latin typeface="Ubuntu"/>
              </a:rPr>
              <a:t>Tomar un caso de la clase rara</a:t>
            </a:r>
          </a:p>
        </p:txBody>
      </p:sp>
      <p:sp>
        <p:nvSpPr>
          <p:cNvPr id="8" name="TextBox 7"/>
          <p:cNvSpPr txBox="1"/>
          <p:nvPr/>
        </p:nvSpPr>
        <p:spPr>
          <a:xfrm>
            <a:off x="1051560" y="2075688"/>
            <a:ext cx="7406640" cy="55778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Por ejemplo, una transacción fraudulenta.</a:t>
            </a:r>
          </a:p>
        </p:txBody>
      </p:sp>
      <p:sp>
        <p:nvSpPr>
          <p:cNvPr id="9" name="Oval 8"/>
          <p:cNvSpPr/>
          <p:nvPr/>
        </p:nvSpPr>
        <p:spPr>
          <a:xfrm>
            <a:off x="411480" y="265176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2</a:t>
            </a:r>
          </a:p>
        </p:txBody>
      </p:sp>
      <p:sp>
        <p:nvSpPr>
          <p:cNvPr id="10" name="TextBox 9"/>
          <p:cNvSpPr txBox="1"/>
          <p:nvPr/>
        </p:nvSpPr>
        <p:spPr>
          <a:xfrm>
            <a:off x="1051560" y="2615184"/>
            <a:ext cx="7406640" cy="365760"/>
          </a:xfrm>
          <a:prstGeom prst="rect">
            <a:avLst/>
          </a:prstGeom>
          <a:noFill/>
        </p:spPr>
        <p:txBody>
          <a:bodyPr wrap="square" lIns="0" rIns="0" tIns="0" bIns="0">
            <a:spAutoFit/>
          </a:bodyPr>
          <a:lstStyle/>
          <a:p>
            <a:pPr algn="l"/>
            <a:r>
              <a:rPr sz="1400" b="1" i="0">
                <a:solidFill>
                  <a:srgbClr val="1E4C7D"/>
                </a:solidFill>
                <a:latin typeface="Ubuntu"/>
              </a:rPr>
              <a:t>Encontrar sus k vecinos más cercanos</a:t>
            </a:r>
          </a:p>
        </p:txBody>
      </p:sp>
      <p:sp>
        <p:nvSpPr>
          <p:cNvPr id="11" name="TextBox 10"/>
          <p:cNvSpPr txBox="1"/>
          <p:nvPr/>
        </p:nvSpPr>
        <p:spPr>
          <a:xfrm>
            <a:off x="1051560" y="2944368"/>
            <a:ext cx="7406640" cy="55778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Otros casos de fraude que sean parecidos en sus variables.</a:t>
            </a:r>
          </a:p>
        </p:txBody>
      </p:sp>
      <p:sp>
        <p:nvSpPr>
          <p:cNvPr id="12" name="Oval 11"/>
          <p:cNvSpPr/>
          <p:nvPr/>
        </p:nvSpPr>
        <p:spPr>
          <a:xfrm>
            <a:off x="411480" y="3520439"/>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3</a:t>
            </a:r>
          </a:p>
        </p:txBody>
      </p:sp>
      <p:sp>
        <p:nvSpPr>
          <p:cNvPr id="13" name="TextBox 12"/>
          <p:cNvSpPr txBox="1"/>
          <p:nvPr/>
        </p:nvSpPr>
        <p:spPr>
          <a:xfrm>
            <a:off x="1051560" y="3483863"/>
            <a:ext cx="7406640" cy="365760"/>
          </a:xfrm>
          <a:prstGeom prst="rect">
            <a:avLst/>
          </a:prstGeom>
          <a:noFill/>
        </p:spPr>
        <p:txBody>
          <a:bodyPr wrap="square" lIns="0" rIns="0" tIns="0" bIns="0">
            <a:spAutoFit/>
          </a:bodyPr>
          <a:lstStyle/>
          <a:p>
            <a:pPr algn="l"/>
            <a:r>
              <a:rPr sz="1400" b="1" i="0">
                <a:solidFill>
                  <a:srgbClr val="1E4C7D"/>
                </a:solidFill>
                <a:latin typeface="Ubuntu"/>
              </a:rPr>
              <a:t>Elegir uno de esos vecinos al azar</a:t>
            </a:r>
          </a:p>
        </p:txBody>
      </p:sp>
      <p:sp>
        <p:nvSpPr>
          <p:cNvPr id="14" name="TextBox 13"/>
          <p:cNvSpPr txBox="1"/>
          <p:nvPr/>
        </p:nvSpPr>
        <p:spPr>
          <a:xfrm>
            <a:off x="1051560" y="3813047"/>
            <a:ext cx="7406640" cy="55778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Seleccionamos un 'compañero' del caso original.</a:t>
            </a:r>
          </a:p>
        </p:txBody>
      </p:sp>
      <p:sp>
        <p:nvSpPr>
          <p:cNvPr id="15" name="Oval 14"/>
          <p:cNvSpPr/>
          <p:nvPr/>
        </p:nvSpPr>
        <p:spPr>
          <a:xfrm>
            <a:off x="411480" y="438912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4</a:t>
            </a:r>
          </a:p>
        </p:txBody>
      </p:sp>
      <p:sp>
        <p:nvSpPr>
          <p:cNvPr id="16" name="TextBox 15"/>
          <p:cNvSpPr txBox="1"/>
          <p:nvPr/>
        </p:nvSpPr>
        <p:spPr>
          <a:xfrm>
            <a:off x="1051560" y="4352544"/>
            <a:ext cx="7406640" cy="365760"/>
          </a:xfrm>
          <a:prstGeom prst="rect">
            <a:avLst/>
          </a:prstGeom>
          <a:noFill/>
        </p:spPr>
        <p:txBody>
          <a:bodyPr wrap="square" lIns="0" rIns="0" tIns="0" bIns="0">
            <a:spAutoFit/>
          </a:bodyPr>
          <a:lstStyle/>
          <a:p>
            <a:pPr algn="l"/>
            <a:r>
              <a:rPr sz="1400" b="1" i="0">
                <a:solidFill>
                  <a:srgbClr val="1E4C7D"/>
                </a:solidFill>
                <a:latin typeface="Ubuntu"/>
              </a:rPr>
              <a:t>Interpolar en una proporción aleatoria</a:t>
            </a:r>
          </a:p>
        </p:txBody>
      </p:sp>
      <p:sp>
        <p:nvSpPr>
          <p:cNvPr id="17" name="TextBox 16"/>
          <p:cNvSpPr txBox="1"/>
          <p:nvPr/>
        </p:nvSpPr>
        <p:spPr>
          <a:xfrm>
            <a:off x="1051560" y="4681728"/>
            <a:ext cx="7406640" cy="55778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Nuevo punto = original + r * (vecino - original), donde r es un número aleatorio entre 0 y 1.</a:t>
            </a:r>
          </a:p>
        </p:txBody>
      </p:sp>
      <p:sp>
        <p:nvSpPr>
          <p:cNvPr id="18" name="Oval 17"/>
          <p:cNvSpPr/>
          <p:nvPr/>
        </p:nvSpPr>
        <p:spPr>
          <a:xfrm>
            <a:off x="411480" y="5257800"/>
            <a:ext cx="457200" cy="457200"/>
          </a:xfrm>
          <a:prstGeom prst="ellipse">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latin typeface="Ubuntu"/>
              </a:rPr>
              <a:t>5</a:t>
            </a:r>
          </a:p>
        </p:txBody>
      </p:sp>
      <p:sp>
        <p:nvSpPr>
          <p:cNvPr id="19" name="TextBox 18"/>
          <p:cNvSpPr txBox="1"/>
          <p:nvPr/>
        </p:nvSpPr>
        <p:spPr>
          <a:xfrm>
            <a:off x="1051560" y="5221224"/>
            <a:ext cx="7406640" cy="365760"/>
          </a:xfrm>
          <a:prstGeom prst="rect">
            <a:avLst/>
          </a:prstGeom>
          <a:noFill/>
        </p:spPr>
        <p:txBody>
          <a:bodyPr wrap="square" lIns="0" rIns="0" tIns="0" bIns="0">
            <a:spAutoFit/>
          </a:bodyPr>
          <a:lstStyle/>
          <a:p>
            <a:pPr algn="l"/>
            <a:r>
              <a:rPr sz="1400" b="1" i="0">
                <a:solidFill>
                  <a:srgbClr val="1E4C7D"/>
                </a:solidFill>
                <a:latin typeface="Ubuntu"/>
              </a:rPr>
              <a:t>Repetir hasta alcanzar el balance deseado</a:t>
            </a:r>
          </a:p>
        </p:txBody>
      </p:sp>
      <p:sp>
        <p:nvSpPr>
          <p:cNvPr id="20" name="TextBox 19"/>
          <p:cNvSpPr txBox="1"/>
          <p:nvPr/>
        </p:nvSpPr>
        <p:spPr>
          <a:xfrm>
            <a:off x="1051560" y="5550408"/>
            <a:ext cx="7406640" cy="557783"/>
          </a:xfrm>
          <a:prstGeom prst="rect">
            <a:avLst/>
          </a:prstGeom>
          <a:noFill/>
        </p:spPr>
        <p:txBody>
          <a:bodyPr wrap="square" lIns="0" rIns="0" tIns="0" bIns="0">
            <a:spAutoFit/>
          </a:bodyPr>
          <a:lstStyle/>
          <a:p>
            <a:pPr algn="l">
              <a:lnSpc>
                <a:spcPct val="115000"/>
              </a:lnSpc>
            </a:pPr>
            <a:r>
              <a:rPr sz="1200" b="0" i="0">
                <a:solidFill>
                  <a:srgbClr val="000000"/>
                </a:solidFill>
                <a:latin typeface="Ubuntu"/>
              </a:rPr>
              <a:t>Se crean tantos sintéticos como sean necesarios.</a:t>
            </a:r>
          </a:p>
        </p:txBody>
      </p:sp>
      <p:sp>
        <p:nvSpPr>
          <p:cNvPr id="21" name="TextBox 20"/>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24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Cuidado con SMOTE: el orden importa</a:t>
            </a:r>
          </a:p>
        </p:txBody>
      </p:sp>
      <p:sp>
        <p:nvSpPr>
          <p:cNvPr id="5" name="Rectangle 4"/>
          <p:cNvSpPr/>
          <p:nvPr/>
        </p:nvSpPr>
        <p:spPr>
          <a:xfrm>
            <a:off x="274320" y="1371600"/>
            <a:ext cx="8595360" cy="4297680"/>
          </a:xfrm>
          <a:prstGeom prst="rect">
            <a:avLst/>
          </a:prstGeom>
          <a:solidFill>
            <a:srgbClr val="FAD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463040"/>
            <a:ext cx="8302752" cy="365760"/>
          </a:xfrm>
          <a:prstGeom prst="rect">
            <a:avLst/>
          </a:prstGeom>
          <a:noFill/>
        </p:spPr>
        <p:txBody>
          <a:bodyPr wrap="square" lIns="0" rIns="0" tIns="0" bIns="0">
            <a:spAutoFit/>
          </a:bodyPr>
          <a:lstStyle/>
          <a:p>
            <a:pPr algn="l"/>
            <a:r>
              <a:rPr sz="1800" b="1" i="0">
                <a:solidFill>
                  <a:srgbClr val="C0392B"/>
                </a:solidFill>
                <a:latin typeface="Ubuntu"/>
              </a:rPr>
              <a:t>Orden obligatorio en la receta</a:t>
            </a:r>
          </a:p>
        </p:txBody>
      </p:sp>
      <p:sp>
        <p:nvSpPr>
          <p:cNvPr id="7" name="TextBox 6"/>
          <p:cNvSpPr txBox="1"/>
          <p:nvPr/>
        </p:nvSpPr>
        <p:spPr>
          <a:xfrm>
            <a:off x="420624" y="1847088"/>
            <a:ext cx="8302752" cy="3730752"/>
          </a:xfrm>
          <a:prstGeom prst="rect">
            <a:avLst/>
          </a:prstGeom>
          <a:noFill/>
        </p:spPr>
        <p:txBody>
          <a:bodyPr wrap="square" lIns="0" rIns="0" tIns="0" bIns="0">
            <a:spAutoFit/>
          </a:bodyPr>
          <a:lstStyle/>
          <a:p>
            <a:pPr algn="l">
              <a:lnSpc>
                <a:spcPct val="150000"/>
              </a:lnSpc>
            </a:pPr>
            <a:r>
              <a:rPr sz="1700" b="0" i="0">
                <a:solidFill>
                  <a:srgbClr val="000000"/>
                </a:solidFill>
                <a:latin typeface="Ubuntu"/>
              </a:rPr>
              <a:t>SMOTE exige que TODOS los predictores sean numéricos. Por eso step_dummy (convertir categóricas a dummies) debe ejecutarse ANTES de step_smote en la receta.</a:t>
            </a:r>
          </a:p>
          <a:p>
            <a:pPr algn="l">
              <a:lnSpc>
                <a:spcPct val="150000"/>
              </a:lnSpc>
            </a:pPr>
            <a:r>
              <a:rPr sz="1700" b="0" i="0">
                <a:solidFill>
                  <a:srgbClr val="000000"/>
                </a:solidFill>
                <a:latin typeface="Ubuntu"/>
              </a:rPr>
              <a:t/>
            </a:r>
          </a:p>
          <a:p>
            <a:pPr algn="l">
              <a:lnSpc>
                <a:spcPct val="150000"/>
              </a:lnSpc>
            </a:pPr>
            <a:r>
              <a:rPr sz="1700" b="0" i="0">
                <a:solidFill>
                  <a:srgbClr val="000000"/>
                </a:solidFill>
                <a:latin typeface="Ubuntu"/>
              </a:rPr>
              <a:t>Además, SMOTE tiene un hiperparámetro (número de vecinos, k) que también se puede afinar.</a:t>
            </a:r>
          </a:p>
          <a:p>
            <a:pPr algn="l">
              <a:lnSpc>
                <a:spcPct val="150000"/>
              </a:lnSpc>
            </a:pPr>
            <a:r>
              <a:rPr sz="1700" b="0" i="0">
                <a:solidFill>
                  <a:srgbClr val="000000"/>
                </a:solidFill>
                <a:latin typeface="Ubuntu"/>
              </a:rPr>
              <a:t/>
            </a:r>
          </a:p>
          <a:p>
            <a:pPr algn="l">
              <a:lnSpc>
                <a:spcPct val="150000"/>
              </a:lnSpc>
            </a:pPr>
            <a:r>
              <a:rPr sz="1700" b="0" i="0">
                <a:solidFill>
                  <a:srgbClr val="000000"/>
                </a:solidFill>
                <a:latin typeface="Ubuntu"/>
              </a:rPr>
              <a:t>Finalmente: como todo remuestreo, SMOTE solo se aplica al entrenamiento, NUNCA a la prueba.</a:t>
            </a:r>
          </a:p>
        </p:txBody>
      </p:sp>
      <p:sp>
        <p:nvSpPr>
          <p:cNvPr id="8" name="TextBox 7"/>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25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2926080" cy="2743200"/>
          </a:xfrm>
          <a:prstGeom prst="rect">
            <a:avLst/>
          </a:prstGeom>
          <a:noFill/>
        </p:spPr>
        <p:txBody>
          <a:bodyPr wrap="square" lIns="0" rIns="0" tIns="0" bIns="0">
            <a:spAutoFit/>
          </a:bodyPr>
          <a:lstStyle/>
          <a:p>
            <a:pPr algn="l"/>
            <a:r>
              <a:rPr sz="16000" b="1" i="0">
                <a:solidFill>
                  <a:srgbClr val="336395"/>
                </a:solidFill>
                <a:latin typeface="Ubuntu"/>
              </a:rPr>
              <a:t>8</a:t>
            </a:r>
          </a:p>
        </p:txBody>
      </p:sp>
      <p:sp>
        <p:nvSpPr>
          <p:cNvPr id="4" name="Rectangle 3"/>
          <p:cNvSpPr/>
          <p:nvPr/>
        </p:nvSpPr>
        <p:spPr>
          <a:xfrm>
            <a:off x="3383280" y="2194560"/>
            <a:ext cx="73152" cy="2011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0" y="2286000"/>
            <a:ext cx="5120640" cy="1645920"/>
          </a:xfrm>
          <a:prstGeom prst="rect">
            <a:avLst/>
          </a:prstGeom>
          <a:noFill/>
        </p:spPr>
        <p:txBody>
          <a:bodyPr wrap="square" lIns="0" rIns="0" tIns="0" bIns="0" anchor="ctr">
            <a:spAutoFit/>
          </a:bodyPr>
          <a:lstStyle/>
          <a:p>
            <a:pPr algn="l">
              <a:lnSpc>
                <a:spcPct val="105000"/>
              </a:lnSpc>
            </a:pPr>
            <a:r>
              <a:rPr sz="3400" b="1" i="0">
                <a:solidFill>
                  <a:srgbClr val="FFFFFF"/>
                </a:solidFill>
                <a:latin typeface="Ubuntu"/>
              </a:rPr>
              <a:t>Solución III:</a:t>
            </a:r>
          </a:p>
          <a:p>
            <a:pPr algn="l">
              <a:lnSpc>
                <a:spcPct val="105000"/>
              </a:lnSpc>
            </a:pPr>
            <a:r>
              <a:rPr sz="3400" b="1" i="0">
                <a:solidFill>
                  <a:srgbClr val="FFFFFF"/>
                </a:solidFill>
                <a:latin typeface="Ubuntu"/>
              </a:rPr>
              <a:t>Umbral</a:t>
            </a:r>
          </a:p>
          <a:p>
            <a:pPr algn="l">
              <a:lnSpc>
                <a:spcPct val="105000"/>
              </a:lnSpc>
            </a:pPr>
            <a:r>
              <a:rPr sz="3400" b="1" i="0">
                <a:solidFill>
                  <a:srgbClr val="FFFFFF"/>
                </a:solidFill>
                <a:latin typeface="Ubuntu"/>
              </a:rPr>
              <a:t>y pesos de clase</a:t>
            </a:r>
          </a:p>
        </p:txBody>
      </p:sp>
      <p:sp>
        <p:nvSpPr>
          <p:cNvPr id="6" name="TextBox 5"/>
          <p:cNvSpPr txBox="1"/>
          <p:nvPr/>
        </p:nvSpPr>
        <p:spPr>
          <a:xfrm>
            <a:off x="3657600" y="4069080"/>
            <a:ext cx="5120640" cy="822960"/>
          </a:xfrm>
          <a:prstGeom prst="rect">
            <a:avLst/>
          </a:prstGeom>
          <a:noFill/>
        </p:spPr>
        <p:txBody>
          <a:bodyPr wrap="square" lIns="0" rIns="0" tIns="0" bIns="0">
            <a:spAutoFit/>
          </a:bodyPr>
          <a:lstStyle/>
          <a:p>
            <a:pPr algn="l">
              <a:lnSpc>
                <a:spcPct val="120000"/>
              </a:lnSpc>
            </a:pPr>
            <a:r>
              <a:rPr sz="1500" b="0" i="1">
                <a:solidFill>
                  <a:srgbClr val="C7D7E6"/>
                </a:solidFill>
                <a:latin typeface="Ubuntu"/>
              </a:rPr>
              <a:t>Ajustar el modelo sin tocar los datos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El umbral de decisión: no siempre es 0.5</a:t>
            </a:r>
          </a:p>
        </p:txBody>
      </p:sp>
      <p:sp>
        <p:nvSpPr>
          <p:cNvPr id="5" name="Rectangle 4"/>
          <p:cNvSpPr/>
          <p:nvPr/>
        </p:nvSpPr>
        <p:spPr>
          <a:xfrm>
            <a:off x="274320" y="1234440"/>
            <a:ext cx="8595360" cy="2743200"/>
          </a:xfrm>
          <a:prstGeom prst="rect">
            <a:avLst/>
          </a:prstGeom>
          <a:solidFill>
            <a:srgbClr val="EA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325880"/>
            <a:ext cx="8302752" cy="365760"/>
          </a:xfrm>
          <a:prstGeom prst="rect">
            <a:avLst/>
          </a:prstGeom>
          <a:noFill/>
        </p:spPr>
        <p:txBody>
          <a:bodyPr wrap="square" lIns="0" rIns="0" tIns="0" bIns="0">
            <a:spAutoFit/>
          </a:bodyPr>
          <a:lstStyle/>
          <a:p>
            <a:pPr algn="l"/>
            <a:r>
              <a:rPr sz="1800" b="1" i="0">
                <a:solidFill>
                  <a:srgbClr val="1E4C7D"/>
                </a:solidFill>
                <a:latin typeface="Ubuntu"/>
              </a:rPr>
              <a:t>Definición</a:t>
            </a:r>
          </a:p>
        </p:txBody>
      </p:sp>
      <p:sp>
        <p:nvSpPr>
          <p:cNvPr id="7" name="TextBox 6"/>
          <p:cNvSpPr txBox="1"/>
          <p:nvPr/>
        </p:nvSpPr>
        <p:spPr>
          <a:xfrm>
            <a:off x="420624" y="1709928"/>
            <a:ext cx="8302752" cy="2176272"/>
          </a:xfrm>
          <a:prstGeom prst="rect">
            <a:avLst/>
          </a:prstGeom>
          <a:noFill/>
        </p:spPr>
        <p:txBody>
          <a:bodyPr wrap="square" lIns="0" rIns="0" tIns="0" bIns="0">
            <a:spAutoFit/>
          </a:bodyPr>
          <a:lstStyle/>
          <a:p>
            <a:pPr algn="l">
              <a:lnSpc>
                <a:spcPct val="140000"/>
              </a:lnSpc>
            </a:pPr>
            <a:r>
              <a:rPr sz="1800" b="0" i="0">
                <a:solidFill>
                  <a:srgbClr val="000000"/>
                </a:solidFill>
                <a:latin typeface="Ubuntu"/>
              </a:rPr>
              <a:t>La mayoría de los clasificadores producen una PROBABILIDAD (0 a 1) antes de decidir la clase. Por default, si la probabilidad &gt; 0.5, predice POSITIVO. Pero ese umbral lo podemos mover.</a:t>
            </a:r>
          </a:p>
          <a:p>
            <a:pPr algn="l">
              <a:lnSpc>
                <a:spcPct val="140000"/>
              </a:lnSpc>
            </a:pPr>
            <a:r>
              <a:rPr sz="1800" b="0" i="0">
                <a:solidFill>
                  <a:srgbClr val="000000"/>
                </a:solidFill>
                <a:latin typeface="Ubuntu"/>
              </a:rPr>
              <a:t/>
            </a:r>
          </a:p>
          <a:p>
            <a:pPr algn="l">
              <a:lnSpc>
                <a:spcPct val="140000"/>
              </a:lnSpc>
            </a:pPr>
            <a:r>
              <a:rPr sz="1800" b="0" i="0">
                <a:solidFill>
                  <a:srgbClr val="000000"/>
                </a:solidFill>
                <a:latin typeface="Ubuntu"/>
              </a:rPr>
              <a:t>Bajar el umbral (p. ej. a 0.2) hace al modelo más 'alarmanero': detecta más fraudes, pero también lanza más alarmas falsas.</a:t>
            </a:r>
          </a:p>
        </p:txBody>
      </p:sp>
      <p:sp>
        <p:nvSpPr>
          <p:cNvPr id="8" name="Rectangle 7"/>
          <p:cNvSpPr/>
          <p:nvPr/>
        </p:nvSpPr>
        <p:spPr>
          <a:xfrm>
            <a:off x="274320" y="4206240"/>
            <a:ext cx="8595360" cy="2011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4297680"/>
            <a:ext cx="8302752" cy="365760"/>
          </a:xfrm>
          <a:prstGeom prst="rect">
            <a:avLst/>
          </a:prstGeom>
          <a:noFill/>
        </p:spPr>
        <p:txBody>
          <a:bodyPr wrap="square" lIns="0" rIns="0" tIns="0" bIns="0">
            <a:spAutoFit/>
          </a:bodyPr>
          <a:lstStyle/>
          <a:p>
            <a:pPr algn="l"/>
            <a:r>
              <a:rPr sz="1600" b="1" i="0">
                <a:solidFill>
                  <a:srgbClr val="1A7A3A"/>
                </a:solidFill>
                <a:latin typeface="Ubuntu"/>
              </a:rPr>
              <a:t>En palabras simples</a:t>
            </a:r>
          </a:p>
        </p:txBody>
      </p:sp>
      <p:sp>
        <p:nvSpPr>
          <p:cNvPr id="10" name="TextBox 9"/>
          <p:cNvSpPr txBox="1"/>
          <p:nvPr/>
        </p:nvSpPr>
        <p:spPr>
          <a:xfrm>
            <a:off x="420624" y="4681728"/>
            <a:ext cx="8302752" cy="1444752"/>
          </a:xfrm>
          <a:prstGeom prst="rect">
            <a:avLst/>
          </a:prstGeom>
          <a:noFill/>
        </p:spPr>
        <p:txBody>
          <a:bodyPr wrap="square" lIns="0" rIns="0" tIns="0" bIns="0">
            <a:spAutoFit/>
          </a:bodyPr>
          <a:lstStyle/>
          <a:p>
            <a:pPr algn="l">
              <a:lnSpc>
                <a:spcPct val="140000"/>
              </a:lnSpc>
            </a:pPr>
            <a:r>
              <a:rPr sz="1600" b="0" i="0">
                <a:solidFill>
                  <a:srgbClr val="000000"/>
                </a:solidFill>
                <a:latin typeface="Ubuntu"/>
              </a:rPr>
              <a:t>Como ajustar la sensibilidad del detector de metales: si lo ponemos muy sensible, suena con llaves; si muy tolerante, deja pasar cosas peligrosas.</a:t>
            </a:r>
          </a:p>
        </p:txBody>
      </p:sp>
      <p:sp>
        <p:nvSpPr>
          <p:cNvPr id="11" name="TextBox 10"/>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Mover el umbral cambia el equilibrio precisión-recall</a:t>
            </a:r>
          </a:p>
        </p:txBody>
      </p:sp>
      <p:pic>
        <p:nvPicPr>
          <p:cNvPr id="5" name="Picture 4" descr="09_umbral.png"/>
          <p:cNvPicPr>
            <a:picLocks noChangeAspect="1"/>
          </p:cNvPicPr>
          <p:nvPr/>
        </p:nvPicPr>
        <p:blipFill>
          <a:blip r:embed="rId2"/>
          <a:stretch>
            <a:fillRect/>
          </a:stretch>
        </p:blipFill>
        <p:spPr>
          <a:xfrm>
            <a:off x="1323900" y="1234440"/>
            <a:ext cx="6496199"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Con umbral bajo: recall alto (detectamos más fraudes), precisión baja (más falsas alarmas). Con umbral alto: lo opuesto.</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Elegir el umbral óptimo depende del costo relativo del FP vs el FN en el negocio específico.</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27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Pesos de clase: penalizar más el error en la clase rara</a:t>
            </a:r>
          </a:p>
        </p:txBody>
      </p:sp>
      <p:pic>
        <p:nvPicPr>
          <p:cNvPr id="5" name="Picture 4" descr="12_pesos_clase.png"/>
          <p:cNvPicPr>
            <a:picLocks noChangeAspect="1"/>
          </p:cNvPicPr>
          <p:nvPr/>
        </p:nvPicPr>
        <p:blipFill>
          <a:blip r:embed="rId2"/>
          <a:stretch>
            <a:fillRect/>
          </a:stretch>
        </p:blipFill>
        <p:spPr>
          <a:xfrm>
            <a:off x="1168250" y="1234440"/>
            <a:ext cx="6807499"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class_weight='balanced' multiplica el costo de cada error por el inverso de la frecuencia de esa clase.</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Con 96 % normales y 4 % fraudes, el peso del fraude es 96/4 = 24: equivocarse en un fraude 'duele' 24 veces más en el entrenamiento. El modelo aprende a evitar ese error.</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28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Las tres soluciones: cuándo usar cada una</a:t>
            </a:r>
          </a:p>
        </p:txBody>
      </p:sp>
      <p:sp>
        <p:nvSpPr>
          <p:cNvPr id="5" name="TextBox 4"/>
          <p:cNvSpPr txBox="1"/>
          <p:nvPr/>
        </p:nvSpPr>
        <p:spPr>
          <a:xfrm>
            <a:off x="365760" y="1078992"/>
            <a:ext cx="8412480" cy="502920"/>
          </a:xfrm>
          <a:prstGeom prst="rect">
            <a:avLst/>
          </a:prstGeom>
          <a:noFill/>
        </p:spPr>
        <p:txBody>
          <a:bodyPr wrap="square" lIns="0" rIns="0" tIns="0" bIns="0">
            <a:spAutoFit/>
          </a:bodyPr>
          <a:lstStyle/>
          <a:p>
            <a:pPr algn="l">
              <a:lnSpc>
                <a:spcPct val="115000"/>
              </a:lnSpc>
            </a:pPr>
            <a:r>
              <a:rPr sz="1400" b="0" i="1">
                <a:solidFill>
                  <a:srgbClr val="1E4C7D"/>
                </a:solidFill>
                <a:latin typeface="Ubuntu"/>
              </a:rPr>
              <a:t>Las soluciones se pueden combinar: pesos de clase + SMOTE, o SMOTE + ajuste de umbral.</a:t>
            </a:r>
          </a:p>
        </p:txBody>
      </p:sp>
      <p:sp>
        <p:nvSpPr>
          <p:cNvPr id="6" name="Rectangle 5"/>
          <p:cNvSpPr/>
          <p:nvPr/>
        </p:nvSpPr>
        <p:spPr>
          <a:xfrm>
            <a:off x="274320" y="1691640"/>
            <a:ext cx="4251960" cy="502920"/>
          </a:xfrm>
          <a:prstGeom prst="rect">
            <a:avLst/>
          </a:prstGeom>
          <a:solidFill>
            <a:srgbClr val="1A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691640"/>
            <a:ext cx="4251960" cy="502920"/>
          </a:xfrm>
          <a:prstGeom prst="rect">
            <a:avLst/>
          </a:prstGeom>
          <a:noFill/>
        </p:spPr>
        <p:txBody>
          <a:bodyPr wrap="square" lIns="0" rIns="0" tIns="0" bIns="0" anchor="ctr">
            <a:spAutoFit/>
          </a:bodyPr>
          <a:lstStyle/>
          <a:p>
            <a:pPr algn="ctr"/>
            <a:r>
              <a:rPr sz="1500" b="1" i="0">
                <a:solidFill>
                  <a:srgbClr val="FFFFFF"/>
                </a:solidFill>
                <a:latin typeface="Ubuntu"/>
              </a:rPr>
              <a:t>Remuestreo + SMOTE</a:t>
            </a:r>
          </a:p>
        </p:txBody>
      </p:sp>
      <p:sp>
        <p:nvSpPr>
          <p:cNvPr id="8" name="Rectangle 7"/>
          <p:cNvSpPr/>
          <p:nvPr/>
        </p:nvSpPr>
        <p:spPr>
          <a:xfrm>
            <a:off x="274320" y="2194560"/>
            <a:ext cx="4251960" cy="3794759"/>
          </a:xfrm>
          <a:prstGeom prst="rect">
            <a:avLst/>
          </a:prstGeom>
          <a:solidFill>
            <a:srgbClr val="D5F5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 y="2304288"/>
            <a:ext cx="3959352" cy="365760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Cuándo usar:</a:t>
            </a:r>
          </a:p>
          <a:p>
            <a:pPr algn="l">
              <a:lnSpc>
                <a:spcPct val="130000"/>
              </a:lnSpc>
            </a:pPr>
            <a:r>
              <a:rPr sz="1300" b="0" i="0">
                <a:solidFill>
                  <a:srgbClr val="000000"/>
                </a:solidFill>
                <a:latin typeface="Ubuntu"/>
              </a:rPr>
              <a:t>- Desbalance severo (&gt; 10:1)</a:t>
            </a:r>
          </a:p>
          <a:p>
            <a:pPr algn="l">
              <a:lnSpc>
                <a:spcPct val="130000"/>
              </a:lnSpc>
            </a:pPr>
            <a:r>
              <a:rPr sz="1300" b="0" i="0">
                <a:solidFill>
                  <a:srgbClr val="000000"/>
                </a:solidFill>
                <a:latin typeface="Ubuntu"/>
              </a:rPr>
              <a:t>- El modelo es sensible a la distribución de clases</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Cuidado:</a:t>
            </a:r>
          </a:p>
          <a:p>
            <a:pPr algn="l">
              <a:lnSpc>
                <a:spcPct val="130000"/>
              </a:lnSpc>
            </a:pPr>
            <a:r>
              <a:rPr sz="1300" b="0" i="0">
                <a:solidFill>
                  <a:srgbClr val="000000"/>
                </a:solidFill>
                <a:latin typeface="Ubuntu"/>
              </a:rPr>
              <a:t>- Solo en entrenamiento, NUNCA en prueba</a:t>
            </a:r>
          </a:p>
          <a:p>
            <a:pPr algn="l">
              <a:lnSpc>
                <a:spcPct val="130000"/>
              </a:lnSpc>
            </a:pPr>
            <a:r>
              <a:rPr sz="1300" b="0" i="0">
                <a:solidFill>
                  <a:srgbClr val="000000"/>
                </a:solidFill>
                <a:latin typeface="Ubuntu"/>
              </a:rPr>
              <a:t>- step_dummy ANTES de step_smote</a:t>
            </a:r>
          </a:p>
        </p:txBody>
      </p:sp>
      <p:sp>
        <p:nvSpPr>
          <p:cNvPr id="10" name="Rectangle 9"/>
          <p:cNvSpPr/>
          <p:nvPr/>
        </p:nvSpPr>
        <p:spPr>
          <a:xfrm>
            <a:off x="4617720" y="1691640"/>
            <a:ext cx="4251960" cy="502920"/>
          </a:xfrm>
          <a:prstGeom prst="rect">
            <a:avLst/>
          </a:prstGeom>
          <a:solidFill>
            <a:srgbClr val="2D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691640"/>
            <a:ext cx="4251960" cy="502920"/>
          </a:xfrm>
          <a:prstGeom prst="rect">
            <a:avLst/>
          </a:prstGeom>
          <a:noFill/>
        </p:spPr>
        <p:txBody>
          <a:bodyPr wrap="square" lIns="0" rIns="0" tIns="0" bIns="0" anchor="ctr">
            <a:spAutoFit/>
          </a:bodyPr>
          <a:lstStyle/>
          <a:p>
            <a:pPr algn="ctr"/>
            <a:r>
              <a:rPr sz="1500" b="1" i="0">
                <a:solidFill>
                  <a:srgbClr val="FFFFFF"/>
                </a:solidFill>
                <a:latin typeface="Ubuntu"/>
              </a:rPr>
              <a:t>Umbral + Pesos de clase</a:t>
            </a:r>
          </a:p>
        </p:txBody>
      </p:sp>
      <p:sp>
        <p:nvSpPr>
          <p:cNvPr id="12" name="Rectangle 11"/>
          <p:cNvSpPr/>
          <p:nvPr/>
        </p:nvSpPr>
        <p:spPr>
          <a:xfrm>
            <a:off x="4617720" y="2194560"/>
            <a:ext cx="4251960" cy="3794759"/>
          </a:xfrm>
          <a:prstGeom prst="rect">
            <a:avLst/>
          </a:prstGeom>
          <a:solidFill>
            <a:srgbClr val="D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64024" y="2304288"/>
            <a:ext cx="3959352" cy="3657600"/>
          </a:xfrm>
          <a:prstGeom prst="rect">
            <a:avLst/>
          </a:prstGeom>
          <a:noFill/>
        </p:spPr>
        <p:txBody>
          <a:bodyPr wrap="square" lIns="0" rIns="0" tIns="0" bIns="0">
            <a:spAutoFit/>
          </a:bodyPr>
          <a:lstStyle/>
          <a:p>
            <a:pPr algn="l">
              <a:lnSpc>
                <a:spcPct val="130000"/>
              </a:lnSpc>
            </a:pPr>
            <a:r>
              <a:rPr sz="1300" b="0" i="0">
                <a:solidFill>
                  <a:srgbClr val="000000"/>
                </a:solidFill>
                <a:latin typeface="Ubuntu"/>
              </a:rPr>
              <a:t>Cuándo usar:</a:t>
            </a:r>
          </a:p>
          <a:p>
            <a:pPr algn="l">
              <a:lnSpc>
                <a:spcPct val="130000"/>
              </a:lnSpc>
            </a:pPr>
            <a:r>
              <a:rPr sz="1300" b="0" i="0">
                <a:solidFill>
                  <a:srgbClr val="000000"/>
                </a:solidFill>
                <a:latin typeface="Ubuntu"/>
              </a:rPr>
              <a:t>- Queremos incorporar el costo del negocio</a:t>
            </a:r>
          </a:p>
          <a:p>
            <a:pPr algn="l">
              <a:lnSpc>
                <a:spcPct val="130000"/>
              </a:lnSpc>
            </a:pPr>
            <a:r>
              <a:rPr sz="1300" b="0" i="0">
                <a:solidFill>
                  <a:srgbClr val="000000"/>
                </a:solidFill>
                <a:latin typeface="Ubuntu"/>
              </a:rPr>
              <a:t>- No queremos alterar los datos</a:t>
            </a:r>
          </a:p>
          <a:p>
            <a:pPr algn="l">
              <a:lnSpc>
                <a:spcPct val="130000"/>
              </a:lnSpc>
            </a:pPr>
            <a:r>
              <a:rPr sz="1300" b="0" i="0">
                <a:solidFill>
                  <a:srgbClr val="000000"/>
                </a:solidFill>
                <a:latin typeface="Ubuntu"/>
              </a:rPr>
              <a:t/>
            </a:r>
          </a:p>
          <a:p>
            <a:pPr algn="l">
              <a:lnSpc>
                <a:spcPct val="130000"/>
              </a:lnSpc>
            </a:pPr>
            <a:r>
              <a:rPr sz="1300" b="0" i="0">
                <a:solidFill>
                  <a:srgbClr val="000000"/>
                </a:solidFill>
                <a:latin typeface="Ubuntu"/>
              </a:rPr>
              <a:t>Ventajas:</a:t>
            </a:r>
          </a:p>
          <a:p>
            <a:pPr algn="l">
              <a:lnSpc>
                <a:spcPct val="130000"/>
              </a:lnSpc>
            </a:pPr>
            <a:r>
              <a:rPr sz="1300" b="0" i="0">
                <a:solidFill>
                  <a:srgbClr val="000000"/>
                </a:solidFill>
                <a:latin typeface="Ubuntu"/>
              </a:rPr>
              <a:t>- Simple: un parámetro en el modelo</a:t>
            </a:r>
          </a:p>
          <a:p>
            <a:pPr algn="l">
              <a:lnSpc>
                <a:spcPct val="130000"/>
              </a:lnSpc>
            </a:pPr>
            <a:r>
              <a:rPr sz="1300" b="0" i="0">
                <a:solidFill>
                  <a:srgbClr val="000000"/>
                </a:solidFill>
                <a:latin typeface="Ubuntu"/>
              </a:rPr>
              <a:t>- No crea datos artificiales</a:t>
            </a:r>
          </a:p>
          <a:p>
            <a:pPr algn="l">
              <a:lnSpc>
                <a:spcPct val="130000"/>
              </a:lnSpc>
            </a:pPr>
            <a:r>
              <a:rPr sz="1300" b="0" i="0">
                <a:solidFill>
                  <a:srgbClr val="000000"/>
                </a:solidFill>
                <a:latin typeface="Ubuntu"/>
              </a:rPr>
              <a:t>- Rápido de ajustar</a:t>
            </a:r>
          </a:p>
        </p:txBody>
      </p:sp>
      <p:sp>
        <p:nvSpPr>
          <p:cNvPr id="14" name="TextBox 13"/>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29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Errores comunes al trabajar con clases desbalanceadas</a:t>
            </a:r>
          </a:p>
        </p:txBody>
      </p:sp>
      <p:sp>
        <p:nvSpPr>
          <p:cNvPr id="5" name="Rectangle 4"/>
          <p:cNvSpPr/>
          <p:nvPr/>
        </p:nvSpPr>
        <p:spPr>
          <a:xfrm>
            <a:off x="274320" y="1371600"/>
            <a:ext cx="8595360" cy="4297680"/>
          </a:xfrm>
          <a:prstGeom prst="rect">
            <a:avLst/>
          </a:prstGeom>
          <a:solidFill>
            <a:srgbClr val="FAD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463040"/>
            <a:ext cx="8302752" cy="365760"/>
          </a:xfrm>
          <a:prstGeom prst="rect">
            <a:avLst/>
          </a:prstGeom>
          <a:noFill/>
        </p:spPr>
        <p:txBody>
          <a:bodyPr wrap="square" lIns="0" rIns="0" tIns="0" bIns="0">
            <a:spAutoFit/>
          </a:bodyPr>
          <a:lstStyle/>
          <a:p>
            <a:pPr algn="l"/>
            <a:r>
              <a:rPr sz="1800" b="1" i="0">
                <a:solidFill>
                  <a:srgbClr val="C0392B"/>
                </a:solidFill>
                <a:latin typeface="Ubuntu"/>
              </a:rPr>
              <a:t>Lista de verificación</a:t>
            </a:r>
          </a:p>
        </p:txBody>
      </p:sp>
      <p:sp>
        <p:nvSpPr>
          <p:cNvPr id="7" name="TextBox 6"/>
          <p:cNvSpPr txBox="1"/>
          <p:nvPr/>
        </p:nvSpPr>
        <p:spPr>
          <a:xfrm>
            <a:off x="420624" y="1847088"/>
            <a:ext cx="8302752" cy="3730752"/>
          </a:xfrm>
          <a:prstGeom prst="rect">
            <a:avLst/>
          </a:prstGeom>
          <a:noFill/>
        </p:spPr>
        <p:txBody>
          <a:bodyPr wrap="square" lIns="0" rIns="0" tIns="0" bIns="0">
            <a:spAutoFit/>
          </a:bodyPr>
          <a:lstStyle/>
          <a:p>
            <a:pPr algn="l">
              <a:lnSpc>
                <a:spcPct val="150000"/>
              </a:lnSpc>
            </a:pPr>
            <a:r>
              <a:rPr sz="1700" b="0" i="0">
                <a:solidFill>
                  <a:srgbClr val="000000"/>
                </a:solidFill>
                <a:latin typeface="Ubuntu"/>
              </a:rPr>
              <a:t>- Confiar en la accuracy: un modelo con 96 % de accuracy puede ser inservible si la clase rara tiene recall 0.</a:t>
            </a:r>
          </a:p>
          <a:p>
            <a:pPr algn="l">
              <a:lnSpc>
                <a:spcPct val="150000"/>
              </a:lnSpc>
            </a:pPr>
            <a:r>
              <a:rPr sz="1700" b="0" i="0">
                <a:solidFill>
                  <a:srgbClr val="000000"/>
                </a:solidFill>
                <a:latin typeface="Ubuntu"/>
              </a:rPr>
              <a:t/>
            </a:r>
          </a:p>
          <a:p>
            <a:pPr algn="l">
              <a:lnSpc>
                <a:spcPct val="150000"/>
              </a:lnSpc>
            </a:pPr>
            <a:r>
              <a:rPr sz="1700" b="0" i="0">
                <a:solidFill>
                  <a:srgbClr val="000000"/>
                </a:solidFill>
                <a:latin typeface="Ubuntu"/>
              </a:rPr>
              <a:t>- Remuestrear ANTES de partir el dataset: los sintéticos de SMOTE generados con datos del test 'filtran' información y contaminan la evaluación (data leakage).</a:t>
            </a:r>
          </a:p>
          <a:p>
            <a:pPr algn="l">
              <a:lnSpc>
                <a:spcPct val="150000"/>
              </a:lnSpc>
            </a:pPr>
            <a:r>
              <a:rPr sz="1700" b="0" i="0">
                <a:solidFill>
                  <a:srgbClr val="000000"/>
                </a:solidFill>
                <a:latin typeface="Ubuntu"/>
              </a:rPr>
              <a:t/>
            </a:r>
          </a:p>
          <a:p>
            <a:pPr algn="l">
              <a:lnSpc>
                <a:spcPct val="150000"/>
              </a:lnSpc>
            </a:pPr>
            <a:r>
              <a:rPr sz="1700" b="0" i="0">
                <a:solidFill>
                  <a:srgbClr val="000000"/>
                </a:solidFill>
                <a:latin typeface="Ubuntu"/>
              </a:rPr>
              <a:t>- Aplicar SMOTE sin step_dummy previo: SMOTE exige predictores numéricos; las categóricas deben convertirse primero.</a:t>
            </a:r>
          </a:p>
          <a:p>
            <a:pPr algn="l">
              <a:lnSpc>
                <a:spcPct val="150000"/>
              </a:lnSpc>
            </a:pPr>
            <a:r>
              <a:rPr sz="1700" b="0" i="0">
                <a:solidFill>
                  <a:srgbClr val="000000"/>
                </a:solidFill>
                <a:latin typeface="Ubuntu"/>
              </a:rPr>
              <a:t/>
            </a:r>
          </a:p>
          <a:p>
            <a:pPr algn="l">
              <a:lnSpc>
                <a:spcPct val="150000"/>
              </a:lnSpc>
            </a:pPr>
            <a:r>
              <a:rPr sz="1700" b="0" i="0">
                <a:solidFill>
                  <a:srgbClr val="000000"/>
                </a:solidFill>
                <a:latin typeface="Ubuntu"/>
              </a:rPr>
              <a:t>- Olvidar que el umbral 0.5 es solo el default: ajustarlo puede mejorar mucho el desempeño operativo.</a:t>
            </a:r>
          </a:p>
        </p:txBody>
      </p:sp>
      <p:sp>
        <p:nvSpPr>
          <p:cNvPr id="8" name="TextBox 7"/>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30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La contaminación de datos (data leakage): el error más grave</a:t>
            </a:r>
          </a:p>
        </p:txBody>
      </p:sp>
      <p:pic>
        <p:nvPicPr>
          <p:cNvPr id="5" name="Picture 4" descr="10_leakage.png"/>
          <p:cNvPicPr>
            <a:picLocks noChangeAspect="1"/>
          </p:cNvPicPr>
          <p:nvPr/>
        </p:nvPicPr>
        <p:blipFill>
          <a:blip r:embed="rId2"/>
          <a:stretch>
            <a:fillRect/>
          </a:stretch>
        </p:blipFill>
        <p:spPr>
          <a:xfrm>
            <a:off x="1121877" y="1234440"/>
            <a:ext cx="6900246" cy="4023360"/>
          </a:xfrm>
          <a:prstGeom prst="rect">
            <a:avLst/>
          </a:prstGeom>
        </p:spPr>
      </p:pic>
      <p:sp>
        <p:nvSpPr>
          <p:cNvPr id="6" name="TextBox 5"/>
          <p:cNvSpPr txBox="1"/>
          <p:nvPr/>
        </p:nvSpPr>
        <p:spPr>
          <a:xfrm>
            <a:off x="457200" y="5303520"/>
            <a:ext cx="8229600" cy="365760"/>
          </a:xfrm>
          <a:prstGeom prst="rect">
            <a:avLst/>
          </a:prstGeom>
          <a:noFill/>
        </p:spPr>
        <p:txBody>
          <a:bodyPr wrap="square" lIns="0" rIns="0" tIns="0" bIns="0">
            <a:spAutoFit/>
          </a:bodyPr>
          <a:lstStyle/>
          <a:p>
            <a:pPr algn="ctr"/>
            <a:r>
              <a:rPr sz="1300" b="0" i="1">
                <a:solidFill>
                  <a:srgbClr val="555555"/>
                </a:solidFill>
                <a:latin typeface="Ubuntu"/>
              </a:rPr>
              <a:t>Incorrecto: remuestrear ANTES del split. Correcto: separar primero y remuestrear SOLO el entrenamiento.</a:t>
            </a:r>
          </a:p>
        </p:txBody>
      </p:sp>
      <p:sp>
        <p:nvSpPr>
          <p:cNvPr id="7" name="Rectangle 6"/>
          <p:cNvSpPr/>
          <p:nvPr/>
        </p:nvSpPr>
        <p:spPr>
          <a:xfrm>
            <a:off x="274320" y="5486400"/>
            <a:ext cx="8595360" cy="86868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 y="5577840"/>
            <a:ext cx="8302752" cy="685800"/>
          </a:xfrm>
          <a:prstGeom prst="rect">
            <a:avLst/>
          </a:prstGeom>
          <a:noFill/>
        </p:spPr>
        <p:txBody>
          <a:bodyPr wrap="square" lIns="0" rIns="0" tIns="0" bIns="0">
            <a:spAutoFit/>
          </a:bodyPr>
          <a:lstStyle/>
          <a:p>
            <a:pPr algn="l">
              <a:lnSpc>
                <a:spcPct val="125000"/>
              </a:lnSpc>
            </a:pPr>
            <a:r>
              <a:rPr sz="1400" b="0" i="0">
                <a:solidFill>
                  <a:srgbClr val="000000"/>
                </a:solidFill>
                <a:latin typeface="Ubuntu"/>
              </a:rPr>
              <a:t>Si los sintéticos del SMOTE se generan con puntos del conjunto de prueba, la evaluación final ya no es honesta: el modelo ya 'vio' esos datos de alguna forma.</a:t>
            </a:r>
          </a:p>
        </p:txBody>
      </p:sp>
      <p:sp>
        <p:nvSpPr>
          <p:cNvPr id="9" name="TextBox 8"/>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31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
            <a:ext cx="8595360" cy="658368"/>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274320"/>
            <a:ext cx="8321040" cy="658368"/>
          </a:xfrm>
          <a:prstGeom prst="rect">
            <a:avLst/>
          </a:prstGeom>
          <a:noFill/>
        </p:spPr>
        <p:txBody>
          <a:bodyPr wrap="square" lIns="0" rIns="0" tIns="0" bIns="0" anchor="ctr">
            <a:spAutoFit/>
          </a:bodyPr>
          <a:lstStyle/>
          <a:p>
            <a:pPr algn="l"/>
            <a:r>
              <a:rPr sz="2200" b="1" i="0">
                <a:solidFill>
                  <a:srgbClr val="FFFFFF"/>
                </a:solidFill>
                <a:latin typeface="Ubuntu"/>
              </a:rPr>
              <a:t>Conclusiones</a:t>
            </a:r>
          </a:p>
        </p:txBody>
      </p:sp>
      <p:sp>
        <p:nvSpPr>
          <p:cNvPr id="5" name="Rectangle 4"/>
          <p:cNvSpPr/>
          <p:nvPr/>
        </p:nvSpPr>
        <p:spPr>
          <a:xfrm>
            <a:off x="274320" y="1188720"/>
            <a:ext cx="8595360" cy="4937760"/>
          </a:xfrm>
          <a:prstGeom prst="rect">
            <a:avLst/>
          </a:prstGeom>
          <a:solidFill>
            <a:srgbClr val="F0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0624" y="1280160"/>
            <a:ext cx="8302752" cy="365760"/>
          </a:xfrm>
          <a:prstGeom prst="rect">
            <a:avLst/>
          </a:prstGeom>
          <a:noFill/>
        </p:spPr>
        <p:txBody>
          <a:bodyPr wrap="square" lIns="0" rIns="0" tIns="0" bIns="0">
            <a:spAutoFit/>
          </a:bodyPr>
          <a:lstStyle/>
          <a:p>
            <a:pPr algn="l"/>
            <a:r>
              <a:rPr sz="1800" b="1" i="0">
                <a:solidFill>
                  <a:srgbClr val="1A7A3A"/>
                </a:solidFill>
                <a:latin typeface="Ubuntu"/>
              </a:rPr>
              <a:t>Ideas clave para llevarte</a:t>
            </a:r>
          </a:p>
        </p:txBody>
      </p:sp>
      <p:sp>
        <p:nvSpPr>
          <p:cNvPr id="7" name="TextBox 6"/>
          <p:cNvSpPr txBox="1"/>
          <p:nvPr/>
        </p:nvSpPr>
        <p:spPr>
          <a:xfrm>
            <a:off x="420624" y="1664208"/>
            <a:ext cx="8302752" cy="4370832"/>
          </a:xfrm>
          <a:prstGeom prst="rect">
            <a:avLst/>
          </a:prstGeom>
          <a:noFill/>
        </p:spPr>
        <p:txBody>
          <a:bodyPr wrap="square" lIns="0" rIns="0" tIns="0" bIns="0">
            <a:spAutoFit/>
          </a:bodyPr>
          <a:lstStyle/>
          <a:p>
            <a:pPr algn="l">
              <a:lnSpc>
                <a:spcPct val="150000"/>
              </a:lnSpc>
            </a:pPr>
            <a:r>
              <a:rPr sz="1500" b="0" i="0">
                <a:solidFill>
                  <a:srgbClr val="000000"/>
                </a:solidFill>
                <a:latin typeface="Ubuntu"/>
              </a:rPr>
              <a:t>- Las clases desbalanceadas son comunes: fraude, fallas, casos raros.</a:t>
            </a:r>
          </a:p>
          <a:p>
            <a:pPr algn="l">
              <a:lnSpc>
                <a:spcPct val="150000"/>
              </a:lnSpc>
            </a:pPr>
            <a:r>
              <a:rPr sz="1500" b="0" i="0">
                <a:solidFill>
                  <a:srgbClr val="000000"/>
                </a:solidFill>
                <a:latin typeface="Ubuntu"/>
              </a:rPr>
              <a:t>- La accuracy engaña: un modelo perezoso puede tener 96 % y detectar cero fraudes.</a:t>
            </a:r>
          </a:p>
          <a:p>
            <a:pPr algn="l">
              <a:lnSpc>
                <a:spcPct val="150000"/>
              </a:lnSpc>
            </a:pPr>
            <a:r>
              <a:rPr sz="1500" b="0" i="0">
                <a:solidFill>
                  <a:srgbClr val="000000"/>
                </a:solidFill>
                <a:latin typeface="Ubuntu"/>
              </a:rPr>
              <a:t>- Las métricas clave con desbalance son recall, precisión y F1 (no accuracy).</a:t>
            </a:r>
          </a:p>
          <a:p>
            <a:pPr algn="l">
              <a:lnSpc>
                <a:spcPct val="150000"/>
              </a:lnSpc>
            </a:pPr>
            <a:r>
              <a:rPr sz="1500" b="0" i="0">
                <a:solidFill>
                  <a:srgbClr val="000000"/>
                </a:solidFill>
                <a:latin typeface="Ubuntu"/>
              </a:rPr>
              <a:t>- La curva Precisión-Recall es más informativa que la ROC con desbalance extremo.</a:t>
            </a:r>
          </a:p>
          <a:p>
            <a:pPr algn="l">
              <a:lnSpc>
                <a:spcPct val="150000"/>
              </a:lnSpc>
            </a:pPr>
            <a:r>
              <a:rPr sz="1500" b="0" i="0">
                <a:solidFill>
                  <a:srgbClr val="000000"/>
                </a:solidFill>
                <a:latin typeface="Ubuntu"/>
              </a:rPr>
              <a:t>- Remuestreo (over/under) y SMOTE rebalancean los datos de entrenamiento.</a:t>
            </a:r>
          </a:p>
          <a:p>
            <a:pPr algn="l">
              <a:lnSpc>
                <a:spcPct val="150000"/>
              </a:lnSpc>
            </a:pPr>
            <a:r>
              <a:rPr sz="1500" b="0" i="0">
                <a:solidFill>
                  <a:srgbClr val="000000"/>
                </a:solidFill>
                <a:latin typeface="Ubuntu"/>
              </a:rPr>
              <a:t>- Los pesos de clase y el umbral ajustan el modelo sin cambiar los datos.</a:t>
            </a:r>
          </a:p>
          <a:p>
            <a:pPr algn="l">
              <a:lnSpc>
                <a:spcPct val="150000"/>
              </a:lnSpc>
            </a:pPr>
            <a:r>
              <a:rPr sz="1500" b="0" i="0">
                <a:solidFill>
                  <a:srgbClr val="000000"/>
                </a:solidFill>
                <a:latin typeface="Ubuntu"/>
              </a:rPr>
              <a:t>- La regla de oro: remuestrear SOLO el entrenamiento, NUNCA la prueba.</a:t>
            </a:r>
          </a:p>
        </p:txBody>
      </p:sp>
      <p:sp>
        <p:nvSpPr>
          <p:cNvPr id="8" name="TextBox 7"/>
          <p:cNvSpPr txBox="1"/>
          <p:nvPr/>
        </p:nvSpPr>
        <p:spPr>
          <a:xfrm>
            <a:off x="5486400" y="6565392"/>
            <a:ext cx="3474720" cy="201168"/>
          </a:xfrm>
          <a:prstGeom prst="rect">
            <a:avLst/>
          </a:prstGeom>
          <a:noFill/>
        </p:spPr>
        <p:txBody>
          <a:bodyPr wrap="square" lIns="0" rIns="0" tIns="0" bIns="0">
            <a:spAutoFit/>
          </a:bodyPr>
          <a:lstStyle/>
          <a:p>
            <a:pPr algn="r"/>
            <a:r>
              <a:rPr sz="900" b="0" i="1">
                <a:solidFill>
                  <a:srgbClr val="555555"/>
                </a:solidFill>
                <a:latin typeface="Ubuntu"/>
              </a:rPr>
              <a:t>Sesión 19 · Clases desbalanceadas  -  32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00584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28600"/>
            <a:ext cx="5486400" cy="548640"/>
          </a:xfrm>
          <a:prstGeom prst="rect">
            <a:avLst/>
          </a:prstGeom>
          <a:noFill/>
        </p:spPr>
        <p:txBody>
          <a:bodyPr wrap="square" lIns="0" rIns="0" tIns="0" bIns="0" anchor="ctr">
            <a:spAutoFit/>
          </a:bodyPr>
          <a:lstStyle/>
          <a:p>
            <a:pPr algn="l"/>
            <a:r>
              <a:rPr sz="2000" b="1" i="0">
                <a:solidFill>
                  <a:srgbClr val="1E4C7D"/>
                </a:solidFill>
                <a:latin typeface="Ubuntu"/>
              </a:rPr>
              <a:t>Tecnológico de Monterrey</a:t>
            </a:r>
          </a:p>
        </p:txBody>
      </p:sp>
      <p:sp>
        <p:nvSpPr>
          <p:cNvPr id="5" name="Rectangle 4"/>
          <p:cNvSpPr/>
          <p:nvPr/>
        </p:nvSpPr>
        <p:spPr>
          <a:xfrm>
            <a:off x="0" y="1005840"/>
            <a:ext cx="9144000" cy="3291840"/>
          </a:xfrm>
          <a:prstGeom prst="rect">
            <a:avLst/>
          </a:prstGeom>
          <a:solidFill>
            <a:srgbClr val="DDE5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8046720" cy="1828800"/>
          </a:xfrm>
          <a:prstGeom prst="rect">
            <a:avLst/>
          </a:prstGeom>
          <a:noFill/>
        </p:spPr>
        <p:txBody>
          <a:bodyPr wrap="square" lIns="0" rIns="0" tIns="0" bIns="0">
            <a:spAutoFit/>
          </a:bodyPr>
          <a:lstStyle/>
          <a:p>
            <a:pPr algn="ctr"/>
            <a:r>
              <a:rPr sz="8000" b="1" i="0">
                <a:solidFill>
                  <a:srgbClr val="1E4C7D"/>
                </a:solidFill>
                <a:latin typeface="Ubuntu"/>
              </a:rPr>
              <a:t>Gracias</a:t>
            </a:r>
          </a:p>
        </p:txBody>
      </p:sp>
      <p:sp>
        <p:nvSpPr>
          <p:cNvPr id="7" name="Rectangle 6"/>
          <p:cNvSpPr/>
          <p:nvPr/>
        </p:nvSpPr>
        <p:spPr>
          <a:xfrm>
            <a:off x="2743200" y="5029200"/>
            <a:ext cx="3657600" cy="914400"/>
          </a:xfrm>
          <a:prstGeom prst="rect">
            <a:avLst/>
          </a:prstGeom>
          <a:solidFill>
            <a:srgbClr val="1E4C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0" y="5029200"/>
            <a:ext cx="3657600" cy="914400"/>
          </a:xfrm>
          <a:prstGeom prst="rect">
            <a:avLst/>
          </a:prstGeom>
          <a:noFill/>
        </p:spPr>
        <p:txBody>
          <a:bodyPr wrap="square" lIns="0" rIns="0" tIns="0" bIns="0" anchor="ctr">
            <a:spAutoFit/>
          </a:bodyPr>
          <a:lstStyle/>
          <a:p>
            <a:pPr algn="ctr"/>
            <a:r>
              <a:rPr sz="2800" b="1" i="0">
                <a:solidFill>
                  <a:srgbClr val="FFFFFF"/>
                </a:solidFill>
                <a:latin typeface="Ubuntu"/>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