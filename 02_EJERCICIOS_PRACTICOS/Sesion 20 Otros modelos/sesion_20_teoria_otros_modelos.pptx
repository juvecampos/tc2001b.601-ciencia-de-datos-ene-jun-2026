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Árboles, bosques, boosting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y ensambles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Sesión 20 · De un solo árbol a un bosque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Tecnológico de Monterrey  ·  TC2001B.601 Ciencia de datos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Prof. Jorge Juvenal Campos Ferreira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Lo que veremos hoy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30759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Más allá de KNN y la regresión logística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Árboles de decisión: preguntas sí/no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632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44951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Por dentro de un árbol: nodos, ramas y hojas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9136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problema de un solo árbol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8006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78231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Bosques aleatorios: la sabiduría de la multitud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13258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130759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Bagging vs boosting</a:t>
            </a:r>
          </a:p>
        </p:txBody>
      </p:sp>
      <p:sp>
        <p:nvSpPr>
          <p:cNvPr id="17" name="Oval 16"/>
          <p:cNvSpPr/>
          <p:nvPr/>
        </p:nvSpPr>
        <p:spPr>
          <a:xfrm>
            <a:off x="4709160" y="21945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17627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Boosting: corregir errores en secuencia</a:t>
            </a:r>
          </a:p>
        </p:txBody>
      </p:sp>
      <p:sp>
        <p:nvSpPr>
          <p:cNvPr id="19" name="Oval 18"/>
          <p:cNvSpPr/>
          <p:nvPr/>
        </p:nvSpPr>
        <p:spPr>
          <a:xfrm>
            <a:off x="4709160" y="30632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044951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Ensambles y stacking: combinar lo mejor</a:t>
            </a:r>
          </a:p>
        </p:txBody>
      </p:sp>
      <p:sp>
        <p:nvSpPr>
          <p:cNvPr id="21" name="Oval 20"/>
          <p:cNvSpPr/>
          <p:nvPr/>
        </p:nvSpPr>
        <p:spPr>
          <a:xfrm>
            <a:off x="4709160" y="39319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39136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¿Qué modelo elegir?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Más allá de KNN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y la regresión logística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¿Por qué existen tantos modelos? Ninguno gana siempre.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Muchas herramientas para muchos problemas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D7A7A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Un carpintero tiene martillo, sierra, formones y lija. No usa solo el martillo para todo.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En ciencia de datos pasa igual: cada modelo tiene sus puntos fuertes. No existe un modelo perfecto para todos los problemas. Por eso aprendemos varios y elegimos el que mejor encaja con cada reto.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mapa de modelos de ML</a:t>
            </a:r>
          </a:p>
        </p:txBody>
      </p:sp>
      <p:pic>
        <p:nvPicPr>
          <p:cNvPr id="5" name="Picture 4" descr="01_panorama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09" y="1234440"/>
            <a:ext cx="697298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Cada familia de modelos brilla en distintos escenarios.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Hoy nos enfocamos en los árboles y sus 'primos' más poderosos: bosque aleatorio, boosting y stacking.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teorema del No Free Lunch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Formalmente: para cualquier algoritmo de aprendizaje, existe un problema donde ese algoritmo falla. Ningún modelo es el mejor en todo. La solución práctica es comparar varios modelos con validación cruzada y quedarse con el que dé mejor desempeño en TUS datos.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Ningún modelo gana siempre. La receta es probar varios y dejar que los datos decidan.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Ningún modelo gana siempre</a:t>
            </a:r>
          </a:p>
        </p:txBody>
      </p:sp>
      <p:pic>
        <p:nvPicPr>
          <p:cNvPr id="5" name="Picture 4" descr="12_no_free_lu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69" y="1234440"/>
            <a:ext cx="735426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El ganador depende del tipo de datos y del problema.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Por eso en cada sesión aprendemos un nuevo modelo: cada uno es el experto en algo.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Cómo partir el espacio con preguntas sí/no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juego de las 20 preguntas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C9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F7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7B2A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Piensa en el juego '20 preguntas': intentas adivinar un objeto haciendo preguntas de sí/no. Cada respuesta te acerca más a la solución.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Un árbol de decisión hace EXACTAMENTE eso con los datos: hace preguntas sobre las variables del solicitante y al final llega a una decisión: APROBADO o RECHAZADO.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Un árbol de decisión en acción</a:t>
            </a:r>
          </a:p>
        </p:txBody>
      </p:sp>
      <p:pic>
        <p:nvPicPr>
          <p:cNvPr id="5" name="Picture 4" descr="02_arbol_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122" y="1234440"/>
            <a:ext cx="6373756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Cada nodo hace una pregunta; cada hoja da la decisión final.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Este árbol dice: si el score es alto y la deuda es baja, aprueba. Muy fácil de explicar a cualquier persona.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Los tres componentes de un árbol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NODO RAÍZ: la primera pregunta, la más importante (la que mejor separa las clases).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RAMAS: los caminos según la respuesta (sí / no).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HOJAS: los nodos finales donde ya no hay más preguntas; dan la predicción.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Raíz = primera pregunta, ramas = caminos, hojas = respuesta final. Como un diagrama de flujo.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Por dentro de un árbol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Fronteras rectangulares y particiones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frontera de un árbol son rectángulos</a:t>
            </a:r>
          </a:p>
        </p:txBody>
      </p:sp>
      <p:pic>
        <p:nvPicPr>
          <p:cNvPr id="5" name="Picture 4" descr="03_frontera_ar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441" y="1234440"/>
            <a:ext cx="4651118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Cada pregunta crea un corte vertical u horizontal en el espacio.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árbol parte el plano en bloques rectangulares. Dentro de cada bloque, todos los puntos reciben la misma predicción.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¿Cómo elige el árbol qué pregunta hacer primero?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El algoritmo es voraz: elige la mejor división local en cada paso.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Prueba todos los cortes posibles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Para cada variable y cada valor de corte, calcula cuánto reduce la mezcla de clases.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8346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980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Elige el mejor corte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2724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corte que deja los grupos más 'puros' (una clase domina) gana.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8862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496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Repite en cada rama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7880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 cada subconjunto resultante, repite el proceso hasta llegar a una hoja o al límite de profundidad.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93775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0118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Se para cuando toca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3036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árbol se detiene cuando ya no puede mejorar o alcanza la profundidad máxima que le indicamos.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Profundidad del árbol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profundidad es cuántos niveles de preguntas tiene el árbol. Un árbol muy profundo hace muchas preguntas y puede llegar a memorizar los datos de entrenamiento.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profundidad es el hiperparámetro principal que controlamos, igual que era k en KNN.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Profundidad pequeña = preguntas generales. Profundidad grande = preguntas muy específicas que memorizan hasta el ruido.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El problema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de un solo árbol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Sobreajuste e inestabilidad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Árbol sano vs árbol sobreajustado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La profundidad máxima controla el equilibrio sesgo-varianza.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Profundidad = 4 (equilibrado)</a:t>
            </a:r>
          </a:p>
        </p:txBody>
      </p:sp>
      <p:pic>
        <p:nvPicPr>
          <p:cNvPr id="8" name="Picture 7" descr="03_frontera_ar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52" y="2267712"/>
            <a:ext cx="2854095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4800600"/>
            <a:ext cx="4251960" cy="1188719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910328"/>
            <a:ext cx="395935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Fronteras razonables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Generaliza bien a datos nuevos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Grupos relativamente puros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Se puede explicar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Sin límite (memoriza todo)</a:t>
            </a:r>
          </a:p>
        </p:txBody>
      </p:sp>
      <p:pic>
        <p:nvPicPr>
          <p:cNvPr id="13" name="Picture 12" descr="04_frontera_arbol_sobreaju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652" y="2267712"/>
            <a:ext cx="2854095" cy="24688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17720" y="4800600"/>
            <a:ext cx="4251960" cy="1188719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4910328"/>
            <a:ext cx="395935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Fronteras con escalones mínimos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Memoriza hasta el ruido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Falla con datos nuevos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'Aprendí de memoria'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Árbol muy profundo = memorizar, no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El error clásico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Un árbol sin límite de profundidad puede hacer exactamente UNA hoja por cada punto de entrenamiento: memoriza el 100% de los datos.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Pero si llega un caso nuevo que nunca vio, no sabe qué hacer. Es como memorizar las respuestas del examen sin entender el tema.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REGLA: siempre usa validación cruzada para elegir la profundidad máxima.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Inestabilidad: una trampa adicional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Si cambias unos pocos datos de entrenamiento, el árbol puede quedar completamente diferente. Eso se llama ALTA VARIANZA: el modelo es muy sensible al azar de qué datos entrenaron.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Esto es un problema cuando necesitas decisiones consistentes y confiables.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Con un pequeño cambio en el examen, el estudiante que memorizó todo saca 10; con otro pequeño cambio, saca 4. El que entendió el tema saca 8 en ambos.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Bosques aleatorios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La sabiduría de la multitud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Pedir opinión a un grupo, no a una sola persona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D7A7A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Si quieres decidir a qué restaurante ir, pregúntale a UNA persona y puede ser muy mala elección si esa persona tiene gustos raros.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Pero si le preguntas a 100 personas independientes y eliges el restaurante que más gente recomienda, es mucho más probable que quedes bien.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El bosque aleatorio hace lo mismo: construye cientos de árboles DISTINTOS e independientes, y deja que voten.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Cómo funciona un bosque aleatorio</a:t>
            </a:r>
          </a:p>
        </p:txBody>
      </p:sp>
      <p:pic>
        <p:nvPicPr>
          <p:cNvPr id="5" name="Picture 4" descr="05_bosque_esqu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66" y="1234440"/>
            <a:ext cx="7061668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Muchos árboles independientes votan: la mayoría decide.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 clave es que los árboles sean DISTINTOS entre sí. Si todos son iguales, votar no ayuda.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Dos ingredientes secretos del bosque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Bagging + subconjunto de variables = árboles diferentes que se complementan.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Bootstrap (muestras distintas)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árbol entrena sobre una muestra aleatoria CON REEMPLAZO de los datos originales. Así cada árbol ve datos ligeramente distintos.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8346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980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Subconjunto aleatorio de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2724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 cada nodo, el árbol solo puede escoger entre un subgrupo aleatorio de variables. Esto fuerza a que los árboles sean diferentes entre sí.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8862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496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Voto de mayoría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7880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Para clasificación: gana la clase que más árboles predicen. Para regresión: se promedia la predicción de todos los árboles.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93775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0118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Sin tuning de profundidad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3036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árbol crece hasta su máximo (sin límite). El bosque corrige el sobreajuste de cada árbol individual al promediar.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Frontera del bosque vs un árbol</a:t>
            </a:r>
          </a:p>
        </p:txBody>
      </p:sp>
      <p:pic>
        <p:nvPicPr>
          <p:cNvPr id="5" name="Picture 4" descr="06_frontera_bos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026"/>
            <a:ext cx="8229600" cy="39561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El bosque tiene una frontera más suave y más correcta.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bosque reduce la varianza de cada árbol individual al promediar cientos de ellos.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Bagging vs 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Paralelo vs secuencial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Dos estrategias de ensamble</a:t>
            </a:r>
          </a:p>
        </p:txBody>
      </p:sp>
      <p:pic>
        <p:nvPicPr>
          <p:cNvPr id="5" name="Picture 4" descr="07_bagging_vs_bo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01" y="1234440"/>
            <a:ext cx="7656597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Bagging: árboles en paralelo sobre muestras distintas. Boosting: árboles en secuencia que corrigen errores.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Bagging reduce la varianza; boosting reduce el sesgo. Ambos mejoran sobre un árbol solo.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Bagging vs Boosting: diferencias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Ambos son ensambles de árboles, pero con lógicas muy distintas.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Bagging (Random Forest)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4251960" cy="3794759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2304288"/>
            <a:ext cx="39593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Los árboles se entrenan EN PARALELO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Cada árbol ve una muestra distinta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Los árboles son independientes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El resultado es su promedio/voto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Reduce varianza (sobreajuste)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Muy fácil de paralelizar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Boosting (GBM, XGBoost)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194560"/>
            <a:ext cx="4251960" cy="3794759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304288"/>
            <a:ext cx="39593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Los árboles se entrenan EN SECUENCIA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Cada árbol aprende del error anterior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Los árboles dependen entre sí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El resultado es su suma ponderada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Reduce sesgo (subajuste)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 Suele ganar competencias de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Corregir errores en secuencia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equipo que aprende de sus errores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C9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F7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7B2A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Imagina un equipo de trabajo donde la primera persona hace su mejor esfuerzo, pero comete algunos errores.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segunda persona solo trabaja en los errores de la primera. La tercera, solo en los errores que quedaron. Y así sucesivamente.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Al final se suman todas las contribuciones. El equipo completo es mucho mejor que cualquier miembro solo.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Boosting: el error se encoge ronda a ronda</a:t>
            </a:r>
          </a:p>
        </p:txBody>
      </p:sp>
      <p:pic>
        <p:nvPicPr>
          <p:cNvPr id="5" name="Picture 4" descr="08_boosting_secue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30" y="1234440"/>
            <a:ext cx="798034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Cada ronda agrega un árbol que corrige lo que el anterior falló.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Los puntos que el modelo anterior falló reciben MÁS PESO en la siguiente ronda. El modelo 'se enfoca' en lo difícil.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Algoritmo de boosting, 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XGBoost y GBM son las implementaciones más populares.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Ronda 1: primer árbol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Entrenamos un árbol pequeño sobre todos los datos. Calculamos los errores.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6517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1518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Dar más peso a los errores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Los puntos que el primer árbol falló reciben mayor peso. El segundo árbol los prioriza.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04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Ronda 2, 3, ...,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7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Repetimos: cada árbol se enfoca en los errores del anterior. Los árboles son pequeños (profundidad 1-3).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3891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5254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Sumar todo con pesos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8172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La predicción final es la suma ponderada de todos los árboles. Las rondas con menor error pesan más.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2578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212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Parar a tiempo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040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 dejamos que el proceso siga demasiado, puede sobreajustar. Usamos validación cruzada para decidir cuántas rondas hacer.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XGBoost: el campeón de las competencias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XGBoost (eXtreme Gradient Boosting) es una implementación muy eficiente y optimizada del boosting. Desde 2014, ganó decenas de competencias internacionales de ML (Kaggle, Netflix Prize, etc.).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Agrega regularización L1/L2 al boosting clásico, lo que reduce el sobreajuste y lo hace más robusto.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XGBoost es el boosting con cinturón de seguridad: muy poderoso y además resistente al sobreajuste.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Ensambles y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Combinar lo mejor de varios modelos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jurado de expertos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7D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F7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D3C66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Cuando un tribunal tiene que tomar una decisión difícil, no depende de un solo juez. Reúne a varios expertos con perspectivas distintas: médico, economista, abogado...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El stacking hace lo mismo: corre varios modelos DISTINTOS (un árbol, un bosque, regresión logística, KNN) y luego un meta-modelo aprende cuál combinación de sus predicciones es la mejor.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Stacking: cómo funciona</a:t>
            </a:r>
          </a:p>
        </p:txBody>
      </p:sp>
      <p:pic>
        <p:nvPicPr>
          <p:cNvPr id="5" name="Picture 4" descr="09_stacking_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555" y="1234440"/>
            <a:ext cx="6724889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Los modelos base predicen; el meta-modelo combina esas predicciones.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 clave es que los modelos base sean DISTINTOS: cada uno captura algo que los otros no ven. El meta-modelo aprende los pesos óptimos de cada uno.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Cómo construir un ensamble por stacking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Data leakage es el riesgo principal: hay que hacerlo con CV.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Elegir modelos base distintos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KNN, árbol de decisión, bosque aleatorio y regresión logística. Cuanto más distintos, mejor.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6517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1518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Entrenar con validación cruzada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modelo base se entrena con CV para evitar data leakage. Las predicciones de CV forman los nuevos datos de entrenamiento.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04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Construir la tabla de predicciones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7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columna es la predicción de un modelo base. Eso es lo que ve el meta-modelo.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3891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5254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Entrenar el meta-modelo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8172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Usualmente es un modelo sencillo (regresión logística) que aprende a combinar las predicciones base.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2578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212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Evaluar el conjunto completo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040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stack completo se evalúa en la base de prueba, una sola vez.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Data leakage en stacking: el error más costoso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Data leakage en stacking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Si usas el mismo conjunto de datos para entrenar los modelos base Y para generar las predicciones que ve el meta-modelo, el sistema se engaña a sí mismo.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Los modelos base ya 'conocen' esos datos, entonces sus predicciones son artificialmente buenas. El meta-modelo aprende sobre predicciones demasiado optimistas y falla en datos reales.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SOLUCIÓN: usar validación cruzada para generar las predicciones 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¿Qué modelo elegir?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Tabla comparativa de modelos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Comparación de fronteras de decisión</a:t>
            </a:r>
          </a:p>
        </p:txBody>
      </p:sp>
      <p:pic>
        <p:nvPicPr>
          <p:cNvPr id="5" name="Picture 4" descr="11_comparacion_front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9509"/>
            <a:ext cx="8229600" cy="35332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De izquierda a derecha: mayor complejidad y mejor ajuste.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boosting generalmente produce la frontera más precisa, pero también es el más lento de entrenar y el más difícil de interpretar.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29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variables importan más?</a:t>
            </a:r>
          </a:p>
        </p:txBody>
      </p:sp>
      <p:pic>
        <p:nvPicPr>
          <p:cNvPr id="5" name="Picture 4" descr="10_importancia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50" y="1234440"/>
            <a:ext cx="75913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El bosque aleatorio indica qué variables predicen mejor.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La importancia de variables es una de las ventajas de los árboles sobre KNN: puedes explicar POR QUÉ el modelo toma cada decisión.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30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Comparación de modelos: guía rápida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No hay un ganador universal: elige según las restricciones del problema.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828800"/>
          <a:ext cx="85953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2904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>Modelo</a:t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>Interpretabilidad</a:t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>Desempeño</a:t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>Velocidad</a:t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Ubuntu"/>
                        </a:rPr>
                        <a:t>¿Cuándo conviene?</a:t>
                      </a:r>
                    </a:p>
                  </a:txBody>
                  <a:tcPr anchor="ctr" marL="73152" marR="73152" marT="18288" marB="18288">
                    <a:solidFill>
                      <a:srgbClr val="1E4C7D"/>
                    </a:solidFill>
                  </a:tcPr>
                </a:tc>
              </a:tr>
              <a:tr h="52904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Árbol de decisión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Muy alta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Medio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Muy rápido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Explicar a no-técnicos, primeros pasos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</a:tr>
              <a:tr h="52904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Bosque aleatorio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Media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Alto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Rápido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Buen punto de partida, muchos datos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Boosting (XGBoost)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Baja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Muy alto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Moderado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Máximo rendimiento, competencias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</a:tr>
              <a:tr h="52904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Stacking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Muy baja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Muy alto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Lento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Competencias, cuando el último % importa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KNN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Alta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Medio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Lento (predict)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Pocos datos, línea base</a:t>
                      </a:r>
                    </a:p>
                  </a:txBody>
                  <a:tcPr anchor="ctr" marL="73152" marR="73152" marT="18288" marB="18288">
                    <a:solidFill>
                      <a:srgbClr val="EAF2FA"/>
                    </a:solidFill>
                  </a:tcPr>
                </a:tc>
              </a:tr>
              <a:tr h="529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Reg. logística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Alta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Medio-bajo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Muy rápido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Ubuntu"/>
                        </a:rPr>
                        <a:t>Datos lineales, interpretación crítica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31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Errores comunes al usar modelos avanzados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Lista de verificación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-  Usar boosting sin validar: sobreajusta si no limitas las rondas.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-  Creer que más complejo = mejor: un árbol simple a veces gana.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-  No usar validación cruzada antes de reportar resultados.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-  Comparar modelos en la prueba para elegir: eso es data leakage.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-  Ignorar interpretabilidad cuando el negocio la necesita.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32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49377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28016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7A3A"/>
                </a:solidFill>
                <a:latin typeface="Ubuntu"/>
              </a:rPr>
              <a:t>Ideas clave para llevarte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664208"/>
            <a:ext cx="8302752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 Los árboles de decisión clasifican con preguntas sí/no: muy fáciles de interpretar pero inestables.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 Un árbol muy profundo memoriza el ruido: hay que controlar la profundidad con validación cruzada.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 Los bosques aleatorios combinan cientos de árboles distintos: mucho más estables y precisos.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 Bagging entrena árboles en paralelo sobre muestras distintas; boosting los entrena en secuencia corrigiendo errores.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 El stacking combina modelos distintos con un meta-modelo: maximiza el desempeño a costa de interpretabilidad.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 Ningún modelo gana siempre: prueba varios con validación cruzada y deja que los datos decidan.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20 · Otros modelos y ensambles  -  33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