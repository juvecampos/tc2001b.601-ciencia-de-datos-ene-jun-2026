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0584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5486400" cy="548640"/>
          </a:xfrm>
          <a:prstGeom prst="rect">
            <a:avLst/>
          </a:prstGeom>
          <a:noFill/>
        </p:spPr>
        <p:txBody>
          <a:bodyPr wrap="square" lIns="0" rIns="0" tIns="0" bIns="0" anchor="ctr">
            <a:spAutoFit/>
          </a:bodyPr>
          <a:lstStyle/>
          <a:p>
            <a:pPr algn="l"/>
            <a:r>
              <a:rPr sz="2000" b="1" i="0">
                <a:solidFill>
                  <a:srgbClr val="1E4C7D"/>
                </a:solidFill>
                <a:latin typeface="Ubuntu"/>
              </a:rPr>
              <a:t>Tecnológico de Monterrey</a:t>
            </a:r>
          </a:p>
        </p:txBody>
      </p:sp>
      <p:sp>
        <p:nvSpPr>
          <p:cNvPr id="5" name="Rectangle 4"/>
          <p:cNvSpPr/>
          <p:nvPr/>
        </p:nvSpPr>
        <p:spPr>
          <a:xfrm>
            <a:off x="0" y="1005840"/>
            <a:ext cx="9144000" cy="3291840"/>
          </a:xfrm>
          <a:prstGeom prst="rect">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54480"/>
            <a:ext cx="8046720" cy="1828800"/>
          </a:xfrm>
          <a:prstGeom prst="rect">
            <a:avLst/>
          </a:prstGeom>
          <a:noFill/>
        </p:spPr>
        <p:txBody>
          <a:bodyPr wrap="square" lIns="0" rIns="0" tIns="0" bIns="0">
            <a:spAutoFit/>
          </a:bodyPr>
          <a:lstStyle/>
          <a:p>
            <a:pPr algn="l">
              <a:lnSpc>
                <a:spcPct val="105000"/>
              </a:lnSpc>
            </a:pPr>
            <a:r>
              <a:rPr sz="4000" b="1" i="0">
                <a:solidFill>
                  <a:srgbClr val="1E4C7D"/>
                </a:solidFill>
                <a:latin typeface="Ubuntu"/>
              </a:rPr>
              <a:t>Sesión 20: otros modelos</a:t>
            </a:r>
          </a:p>
          <a:p>
            <a:pPr algn="l">
              <a:lnSpc>
                <a:spcPct val="105000"/>
              </a:lnSpc>
            </a:pPr>
            <a:r>
              <a:rPr sz="4000" b="1" i="0">
                <a:solidFill>
                  <a:srgbClr val="1E4C7D"/>
                </a:solidFill>
                <a:latin typeface="Ubuntu"/>
              </a:rPr>
              <a:t>y ensambles</a:t>
            </a:r>
          </a:p>
        </p:txBody>
      </p:sp>
      <p:sp>
        <p:nvSpPr>
          <p:cNvPr id="7" name="TextBox 6"/>
          <p:cNvSpPr txBox="1"/>
          <p:nvPr/>
        </p:nvSpPr>
        <p:spPr>
          <a:xfrm>
            <a:off x="548640" y="3611880"/>
            <a:ext cx="8046720" cy="640080"/>
          </a:xfrm>
          <a:prstGeom prst="rect">
            <a:avLst/>
          </a:prstGeom>
          <a:noFill/>
        </p:spPr>
        <p:txBody>
          <a:bodyPr wrap="square" lIns="0" rIns="0" tIns="0" bIns="0">
            <a:spAutoFit/>
          </a:bodyPr>
          <a:lstStyle/>
          <a:p>
            <a:pPr algn="l"/>
            <a:r>
              <a:rPr sz="1800" b="0" i="1">
                <a:solidFill>
                  <a:srgbClr val="1E4C7D"/>
                </a:solidFill>
                <a:latin typeface="Ubuntu"/>
              </a:rPr>
              <a:t>Árboles, random forest, XGBoost, regularización y stacking</a:t>
            </a:r>
          </a:p>
        </p:txBody>
      </p:sp>
      <p:sp>
        <p:nvSpPr>
          <p:cNvPr id="8" name="TextBox 7"/>
          <p:cNvSpPr txBox="1"/>
          <p:nvPr/>
        </p:nvSpPr>
        <p:spPr>
          <a:xfrm>
            <a:off x="548640" y="4937760"/>
            <a:ext cx="8046720" cy="914400"/>
          </a:xfrm>
          <a:prstGeom prst="rect">
            <a:avLst/>
          </a:prstGeom>
          <a:noFill/>
        </p:spPr>
        <p:txBody>
          <a:bodyPr wrap="square" lIns="0" rIns="0" tIns="0" bIns="0">
            <a:spAutoFit/>
          </a:bodyPr>
          <a:lstStyle/>
          <a:p>
            <a:pPr algn="l">
              <a:lnSpc>
                <a:spcPct val="130000"/>
              </a:lnSpc>
            </a:pPr>
            <a:r>
              <a:rPr sz="1400" b="0" i="0">
                <a:solidFill>
                  <a:srgbClr val="000000"/>
                </a:solidFill>
                <a:latin typeface="Ubuntu"/>
              </a:rPr>
              <a:t>TC2001B.601 - Ciencia de datos para la toma de decisiones I</a:t>
            </a:r>
          </a:p>
          <a:p>
            <a:pPr algn="l">
              <a:lnSpc>
                <a:spcPct val="130000"/>
              </a:lnSpc>
            </a:pPr>
            <a:r>
              <a:rPr sz="1400" b="0" i="0">
                <a:solidFill>
                  <a:srgbClr val="000000"/>
                </a:solidFill>
                <a:latin typeface="Ubuntu"/>
              </a:rPr>
              <a:t>Ejemplos tomados del ejercicio: aprobación de crédito</a:t>
            </a:r>
          </a:p>
        </p:txBody>
      </p:sp>
      <p:sp>
        <p:nvSpPr>
          <p:cNvPr id="9" name="Rectangle 8"/>
          <p:cNvSpPr/>
          <p:nvPr/>
        </p:nvSpPr>
        <p:spPr>
          <a:xfrm>
            <a:off x="548640" y="6126480"/>
            <a:ext cx="1828800" cy="4572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Más allá de un solo modelo: comparar y combinar</a:t>
            </a:r>
          </a:p>
        </p:txBody>
      </p:sp>
      <p:sp>
        <p:nvSpPr>
          <p:cNvPr id="5" name="TextBox 4"/>
          <p:cNvSpPr txBox="1"/>
          <p:nvPr/>
        </p:nvSpPr>
        <p:spPr>
          <a:xfrm>
            <a:off x="365760" y="1143000"/>
            <a:ext cx="8412480" cy="1280160"/>
          </a:xfrm>
          <a:prstGeom prst="rect">
            <a:avLst/>
          </a:prstGeom>
          <a:noFill/>
        </p:spPr>
        <p:txBody>
          <a:bodyPr wrap="square" lIns="0" rIns="0" tIns="0" bIns="0">
            <a:spAutoFit/>
          </a:bodyPr>
          <a:lstStyle/>
          <a:p>
            <a:pPr algn="l">
              <a:lnSpc>
                <a:spcPct val="130000"/>
              </a:lnSpc>
            </a:pPr>
            <a:r>
              <a:rPr sz="1500" b="0" i="0">
                <a:solidFill>
                  <a:srgbClr val="000000"/>
                </a:solidFill>
                <a:latin typeface="Ubuntu"/>
              </a:rPr>
              <a:t>Ya no usamos un único clasificador. En esta sesión entrenamos cuatro modelos distintos y, en vez de quedarnos con un ganador, los COMBINAMOS en un ensamble por stacking. Lo nuevo de la sesión son las funciones del paquete stacks.</a:t>
            </a:r>
          </a:p>
        </p:txBody>
      </p:sp>
      <p:sp>
        <p:nvSpPr>
          <p:cNvPr id="6" name="Rectangle 5"/>
          <p:cNvSpPr/>
          <p:nvPr/>
        </p:nvSpPr>
        <p:spPr>
          <a:xfrm>
            <a:off x="274320" y="2560320"/>
            <a:ext cx="8595360" cy="338328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0624" y="2651760"/>
            <a:ext cx="8302752" cy="365760"/>
          </a:xfrm>
          <a:prstGeom prst="rect">
            <a:avLst/>
          </a:prstGeom>
          <a:noFill/>
        </p:spPr>
        <p:txBody>
          <a:bodyPr wrap="square" lIns="0" rIns="0" tIns="0" bIns="0">
            <a:spAutoFit/>
          </a:bodyPr>
          <a:lstStyle/>
          <a:p>
            <a:pPr algn="l"/>
            <a:r>
              <a:rPr sz="1600" b="1" i="0">
                <a:solidFill>
                  <a:srgbClr val="1E4C7D"/>
                </a:solidFill>
                <a:latin typeface="Ubuntu"/>
              </a:rPr>
              <a:t>Funciones que veremos, en orden de uso</a:t>
            </a:r>
          </a:p>
        </p:txBody>
      </p:sp>
      <p:sp>
        <p:nvSpPr>
          <p:cNvPr id="8" name="TextBox 7"/>
          <p:cNvSpPr txBox="1"/>
          <p:nvPr/>
        </p:nvSpPr>
        <p:spPr>
          <a:xfrm>
            <a:off x="420624" y="3035808"/>
            <a:ext cx="8302752" cy="2816352"/>
          </a:xfrm>
          <a:prstGeom prst="rect">
            <a:avLst/>
          </a:prstGeom>
          <a:noFill/>
        </p:spPr>
        <p:txBody>
          <a:bodyPr wrap="square" lIns="0" rIns="0" tIns="0" bIns="0">
            <a:spAutoFit/>
          </a:bodyPr>
          <a:lstStyle/>
          <a:p>
            <a:pPr algn="l">
              <a:lnSpc>
                <a:spcPct val="145000"/>
              </a:lnSpc>
            </a:pPr>
            <a:r>
              <a:rPr sz="1300" b="0" i="0">
                <a:solidFill>
                  <a:srgbClr val="000000"/>
                </a:solidFill>
                <a:latin typeface="Ubuntu"/>
              </a:rPr>
              <a:t>1.  read_csv() + factor()  -  cargar y dejar lista la objetivo</a:t>
            </a:r>
          </a:p>
          <a:p>
            <a:pPr algn="l">
              <a:lnSpc>
                <a:spcPct val="145000"/>
              </a:lnSpc>
            </a:pPr>
            <a:r>
              <a:rPr sz="1300" b="0" i="0">
                <a:solidFill>
                  <a:srgbClr val="000000"/>
                </a:solidFill>
                <a:latin typeface="Ubuntu"/>
              </a:rPr>
              <a:t>2.  initial_split() + vfold_cv()  -  partir y armar los folds</a:t>
            </a:r>
          </a:p>
          <a:p>
            <a:pPr algn="l">
              <a:lnSpc>
                <a:spcPct val="145000"/>
              </a:lnSpc>
            </a:pPr>
            <a:r>
              <a:rPr sz="1300" b="0" i="0">
                <a:solidFill>
                  <a:srgbClr val="000000"/>
                </a:solidFill>
                <a:latin typeface="Ubuntu"/>
              </a:rPr>
              <a:t>3.  recipe() + step_*()  -  una sola receta compartida</a:t>
            </a:r>
          </a:p>
          <a:p>
            <a:pPr algn="l">
              <a:lnSpc>
                <a:spcPct val="145000"/>
              </a:lnSpc>
            </a:pPr>
            <a:r>
              <a:rPr sz="1300" b="0" i="0">
                <a:solidFill>
                  <a:srgbClr val="000000"/>
                </a:solidFill>
                <a:latin typeface="Ubuntu"/>
              </a:rPr>
              <a:t>4.  decision_tree()  -  árbol de decisión (rpart)</a:t>
            </a:r>
          </a:p>
          <a:p>
            <a:pPr algn="l">
              <a:lnSpc>
                <a:spcPct val="145000"/>
              </a:lnSpc>
            </a:pPr>
            <a:r>
              <a:rPr sz="1300" b="0" i="0">
                <a:solidFill>
                  <a:srgbClr val="000000"/>
                </a:solidFill>
                <a:latin typeface="Ubuntu"/>
              </a:rPr>
              <a:t>5.  rand_forest()  -  random forest, bagging (ranger)</a:t>
            </a:r>
          </a:p>
          <a:p>
            <a:pPr algn="l">
              <a:lnSpc>
                <a:spcPct val="145000"/>
              </a:lnSpc>
            </a:pPr>
            <a:r>
              <a:rPr sz="1300" b="0" i="0">
                <a:solidFill>
                  <a:srgbClr val="000000"/>
                </a:solidFill>
                <a:latin typeface="Ubuntu"/>
              </a:rPr>
              <a:t>6.  boost_tree()  -  XGBoost, boosting (xgboost)</a:t>
            </a:r>
          </a:p>
          <a:p>
            <a:pPr algn="l">
              <a:lnSpc>
                <a:spcPct val="145000"/>
              </a:lnSpc>
            </a:pPr>
            <a:r>
              <a:rPr sz="1300" b="0" i="0">
                <a:solidFill>
                  <a:srgbClr val="000000"/>
                </a:solidFill>
                <a:latin typeface="Ubuntu"/>
              </a:rPr>
              <a:t>7.  logistic_reg(penalty, mixture)  -  regularización (glmnet)</a:t>
            </a:r>
          </a:p>
          <a:p>
            <a:pPr algn="l">
              <a:lnSpc>
                <a:spcPct val="145000"/>
              </a:lnSpc>
            </a:pPr>
            <a:r>
              <a:rPr sz="1300" b="0" i="0">
                <a:solidFill>
                  <a:srgbClr val="000000"/>
                </a:solidFill>
                <a:latin typeface="Ubuntu"/>
              </a:rPr>
              <a:t>8.  tune_grid(control = control_stack_grid())  -  guardar predicciones</a:t>
            </a:r>
          </a:p>
          <a:p>
            <a:pPr algn="l">
              <a:lnSpc>
                <a:spcPct val="145000"/>
              </a:lnSpc>
            </a:pPr>
            <a:r>
              <a:rPr sz="1300" b="0" i="0">
                <a:solidFill>
                  <a:srgbClr val="000000"/>
                </a:solidFill>
                <a:latin typeface="Ubuntu"/>
              </a:rPr>
              <a:t>9.  stacks() + add_candidates() + blend_predictions() + fit_members()</a:t>
            </a:r>
          </a:p>
          <a:p>
            <a:pPr algn="l">
              <a:lnSpc>
                <a:spcPct val="145000"/>
              </a:lnSpc>
            </a:pPr>
            <a:r>
              <a:rPr sz="1300" b="0" i="0">
                <a:solidFill>
                  <a:srgbClr val="000000"/>
                </a:solidFill>
                <a:latin typeface="Ubuntu"/>
              </a:rPr>
              <a:t>10. predict() + roc_auc()  -  comparar stack vs individuales</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20 - Otros modelos y ensambles  -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read_csv() + factor()</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Carga el CSV, quita el identificador y vuelve factor la variable objetivo.</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554480"/>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335024"/>
          </a:xfrm>
          <a:prstGeom prst="rect">
            <a:avLst/>
          </a:prstGeom>
          <a:noFill/>
        </p:spPr>
        <p:txBody>
          <a:bodyPr wrap="none" lIns="0" rIns="0" tIns="0" bIns="0">
            <a:spAutoFit/>
          </a:bodyPr>
          <a:lstStyle/>
          <a:p>
            <a:pPr algn="l">
              <a:lnSpc>
                <a:spcPct val="108000"/>
              </a:lnSpc>
            </a:pPr>
            <a:r>
              <a:rPr sz="1200">
                <a:solidFill>
                  <a:srgbClr val="EAEDF0"/>
                </a:solidFill>
                <a:latin typeface="Menlo"/>
              </a:rPr>
              <a:t>credito &lt;- read_csv("datos.csv") %&gt;%</a:t>
            </a:r>
          </a:p>
          <a:p>
            <a:pPr algn="l">
              <a:lnSpc>
                <a:spcPct val="108000"/>
              </a:lnSpc>
            </a:pPr>
            <a:r>
              <a:rPr sz="1200">
                <a:solidFill>
                  <a:srgbClr val="EAEDF0"/>
                </a:solidFill>
                <a:latin typeface="Menlo"/>
              </a:rPr>
              <a:t>  select(-id_solicitud) %&gt;%</a:t>
            </a:r>
          </a:p>
          <a:p>
            <a:pPr algn="l">
              <a:lnSpc>
                <a:spcPct val="108000"/>
              </a:lnSpc>
            </a:pPr>
            <a:r>
              <a:rPr sz="1200">
                <a:solidFill>
                  <a:srgbClr val="EAEDF0"/>
                </a:solidFill>
                <a:latin typeface="Menlo"/>
              </a:rPr>
              <a:t>  mutate(aprobado = factor(aprobado))</a:t>
            </a:r>
          </a:p>
        </p:txBody>
      </p:sp>
      <p:sp>
        <p:nvSpPr>
          <p:cNvPr id="9" name="Rectangle 8"/>
          <p:cNvSpPr/>
          <p:nvPr/>
        </p:nvSpPr>
        <p:spPr>
          <a:xfrm>
            <a:off x="274320" y="4023359"/>
            <a:ext cx="8595360" cy="237744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14799"/>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498847"/>
            <a:ext cx="8302752" cy="1810512"/>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read_csv() (de readr) lee el archivo como tibble e infiere los tipos de columna.</a:t>
            </a:r>
          </a:p>
          <a:p>
            <a:pPr algn="l">
              <a:lnSpc>
                <a:spcPct val="132000"/>
              </a:lnSpc>
            </a:pPr>
            <a:r>
              <a:rPr sz="1300" b="0" i="0">
                <a:solidFill>
                  <a:srgbClr val="000000"/>
                </a:solidFill>
                <a:latin typeface="Ubuntu"/>
              </a:rPr>
              <a:t>- select(-id_solicitud) descarta el identificador: no es predictor.</a:t>
            </a:r>
          </a:p>
          <a:p>
            <a:pPr algn="l">
              <a:lnSpc>
                <a:spcPct val="132000"/>
              </a:lnSpc>
            </a:pPr>
            <a:r>
              <a:rPr sz="1300" b="0" i="0">
                <a:solidFill>
                  <a:srgbClr val="000000"/>
                </a:solidFill>
                <a:latin typeface="Ubuntu"/>
              </a:rPr>
              <a:t>- factor(aprobado): parsnip y yardstick exigen que la objetivo de clasificación sea factor. Las clases están casi balanceadas (~52/48).</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20 - Otros modelos y ensambles  -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initial_split() + vfold_cv()</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Reservamos la prueba y armamos 5 folds de validación cruzada sobre el entrenamiento (visto en la Sesión 16).</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2084831"/>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865375"/>
          </a:xfrm>
          <a:prstGeom prst="rect">
            <a:avLst/>
          </a:prstGeom>
          <a:noFill/>
        </p:spPr>
        <p:txBody>
          <a:bodyPr wrap="none" lIns="0" rIns="0" tIns="0" bIns="0">
            <a:spAutoFit/>
          </a:bodyPr>
          <a:lstStyle/>
          <a:p>
            <a:pPr algn="l">
              <a:lnSpc>
                <a:spcPct val="108000"/>
              </a:lnSpc>
            </a:pPr>
            <a:r>
              <a:rPr sz="1200">
                <a:solidFill>
                  <a:srgbClr val="EAEDF0"/>
                </a:solidFill>
                <a:latin typeface="Menlo"/>
              </a:rPr>
              <a:t>set.seed(2020)</a:t>
            </a:r>
          </a:p>
          <a:p>
            <a:pPr algn="l">
              <a:lnSpc>
                <a:spcPct val="108000"/>
              </a:lnSpc>
            </a:pPr>
            <a:r>
              <a:rPr sz="1200">
                <a:solidFill>
                  <a:srgbClr val="EAEDF0"/>
                </a:solidFill>
                <a:latin typeface="Menlo"/>
              </a:rPr>
              <a:t>credito_split &lt;- initial_split(credito, prop = 0.75,</a:t>
            </a:r>
          </a:p>
          <a:p>
            <a:pPr algn="l">
              <a:lnSpc>
                <a:spcPct val="108000"/>
              </a:lnSpc>
            </a:pPr>
            <a:r>
              <a:rPr sz="1200">
                <a:solidFill>
                  <a:srgbClr val="EAEDF0"/>
                </a:solidFill>
                <a:latin typeface="Menlo"/>
              </a:rPr>
              <a:t>                               strata = aprobado)</a:t>
            </a:r>
          </a:p>
          <a:p>
            <a:pPr algn="l">
              <a:lnSpc>
                <a:spcPct val="108000"/>
              </a:lnSpc>
            </a:pPr>
            <a:r>
              <a:rPr sz="1200">
                <a:solidFill>
                  <a:srgbClr val="EAEDF0"/>
                </a:solidFill>
                <a:latin typeface="Menlo"/>
              </a:rPr>
              <a:t>credito_entrenamiento &lt;- credito_split %&gt;% training()</a:t>
            </a:r>
          </a:p>
          <a:p>
            <a:pPr algn="l">
              <a:lnSpc>
                <a:spcPct val="108000"/>
              </a:lnSpc>
            </a:pPr>
            <a:r>
              <a:rPr sz="1200">
                <a:solidFill>
                  <a:srgbClr val="EAEDF0"/>
                </a:solidFill>
                <a:latin typeface="Menlo"/>
              </a:rPr>
              <a:t>credito_prueba        &lt;- credito_split %&gt;% testing()</a:t>
            </a:r>
          </a:p>
          <a:p>
            <a:pPr algn="l">
              <a:lnSpc>
                <a:spcPct val="108000"/>
              </a:lnSpc>
            </a:pPr>
            <a:r>
              <a:rPr sz="1200">
                <a:solidFill>
                  <a:srgbClr val="EAEDF0"/>
                </a:solidFill>
                <a:latin typeface="Menlo"/>
              </a:rPr>
              <a:t> </a:t>
            </a:r>
          </a:p>
          <a:p>
            <a:pPr algn="l">
              <a:lnSpc>
                <a:spcPct val="108000"/>
              </a:lnSpc>
            </a:pPr>
            <a:r>
              <a:rPr sz="1200">
                <a:solidFill>
                  <a:srgbClr val="EAEDF0"/>
                </a:solidFill>
                <a:latin typeface="Menlo"/>
              </a:rPr>
              <a:t>folds_cv &lt;- vfold_cv(credito_entrenamiento, v = 5,</a:t>
            </a:r>
          </a:p>
          <a:p>
            <a:pPr algn="l">
              <a:lnSpc>
                <a:spcPct val="108000"/>
              </a:lnSpc>
            </a:pPr>
            <a:r>
              <a:rPr sz="1200">
                <a:solidFill>
                  <a:srgbClr val="EAEDF0"/>
                </a:solidFill>
                <a:latin typeface="Menlo"/>
              </a:rPr>
              <a:t>                     strata = aprobado)</a:t>
            </a:r>
          </a:p>
        </p:txBody>
      </p:sp>
      <p:sp>
        <p:nvSpPr>
          <p:cNvPr id="9" name="Rectangle 8"/>
          <p:cNvSpPr/>
          <p:nvPr/>
        </p:nvSpPr>
        <p:spPr>
          <a:xfrm>
            <a:off x="274320" y="4553712"/>
            <a:ext cx="8595360" cy="1847088"/>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645152"/>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5029200"/>
            <a:ext cx="8302752" cy="1280160"/>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initial_split(prop = 0.75, strata = aprobado) corta 75/25 manteniendo la mezcla de clases; la prueba queda guardada para el final.</a:t>
            </a:r>
          </a:p>
          <a:p>
            <a:pPr algn="l">
              <a:lnSpc>
                <a:spcPct val="132000"/>
              </a:lnSpc>
            </a:pPr>
            <a:r>
              <a:rPr sz="1300" b="0" i="0">
                <a:solidFill>
                  <a:srgbClr val="000000"/>
                </a:solidFill>
                <a:latin typeface="Ubuntu"/>
              </a:rPr>
              <a:t>- vfold_cv(v = 5) parte el entrenamiento en 5 porciones. Estos MISMOS folds sirven para tunear y, después, para que el stacking aprenda.</a:t>
            </a:r>
          </a:p>
          <a:p>
            <a:pPr algn="l">
              <a:lnSpc>
                <a:spcPct val="132000"/>
              </a:lnSpc>
            </a:pPr>
            <a:r>
              <a:rPr sz="1300" b="0" i="0">
                <a:solidFill>
                  <a:srgbClr val="000000"/>
                </a:solidFill>
                <a:latin typeface="Ubuntu"/>
              </a:rPr>
              <a:t>- Es el mismo flujo de siempre; aquí lo reusan los cuatro modelos.</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20 - Otros modelos y ensambles  -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recipe() + step_*()</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Una sola receta de preprocesamiento, compartida por los cuatro modelos.</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860803"/>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641347"/>
          </a:xfrm>
          <a:prstGeom prst="rect">
            <a:avLst/>
          </a:prstGeom>
          <a:noFill/>
        </p:spPr>
        <p:txBody>
          <a:bodyPr wrap="none" lIns="0" rIns="0" tIns="0" bIns="0">
            <a:spAutoFit/>
          </a:bodyPr>
          <a:lstStyle/>
          <a:p>
            <a:pPr algn="l">
              <a:lnSpc>
                <a:spcPct val="108000"/>
              </a:lnSpc>
            </a:pPr>
            <a:r>
              <a:rPr sz="1200">
                <a:solidFill>
                  <a:srgbClr val="EAEDF0"/>
                </a:solidFill>
                <a:latin typeface="Menlo"/>
              </a:rPr>
              <a:t>receta_credito &lt;-</a:t>
            </a:r>
          </a:p>
          <a:p>
            <a:pPr algn="l">
              <a:lnSpc>
                <a:spcPct val="108000"/>
              </a:lnSpc>
            </a:pPr>
            <a:r>
              <a:rPr sz="1200">
                <a:solidFill>
                  <a:srgbClr val="EAEDF0"/>
                </a:solidFill>
                <a:latin typeface="Menlo"/>
              </a:rPr>
              <a:t>  recipe(aprobado ~ ., data = credito_entrenamiento) %&gt;%</a:t>
            </a:r>
          </a:p>
          <a:p>
            <a:pPr algn="l">
              <a:lnSpc>
                <a:spcPct val="108000"/>
              </a:lnSpc>
            </a:pPr>
            <a:r>
              <a:rPr sz="1200">
                <a:solidFill>
                  <a:srgbClr val="EAEDF0"/>
                </a:solidFill>
                <a:latin typeface="Menlo"/>
              </a:rPr>
              <a:t>  step_impute_median(all_numeric_predictors()) %&gt;%</a:t>
            </a:r>
          </a:p>
          <a:p>
            <a:pPr algn="l">
              <a:lnSpc>
                <a:spcPct val="108000"/>
              </a:lnSpc>
            </a:pPr>
            <a:r>
              <a:rPr sz="1200">
                <a:solidFill>
                  <a:srgbClr val="EAEDF0"/>
                </a:solidFill>
                <a:latin typeface="Menlo"/>
              </a:rPr>
              <a:t>  step_nzv(all_predictors()) %&gt;%</a:t>
            </a:r>
          </a:p>
          <a:p>
            <a:pPr algn="l">
              <a:lnSpc>
                <a:spcPct val="108000"/>
              </a:lnSpc>
            </a:pPr>
            <a:r>
              <a:rPr sz="1200">
                <a:solidFill>
                  <a:srgbClr val="EAEDF0"/>
                </a:solidFill>
                <a:latin typeface="Menlo"/>
              </a:rPr>
              <a:t>  step_corr(all_numeric_predictors(), threshold = 0.7) %&gt;%</a:t>
            </a:r>
          </a:p>
          <a:p>
            <a:pPr algn="l">
              <a:lnSpc>
                <a:spcPct val="108000"/>
              </a:lnSpc>
            </a:pPr>
            <a:r>
              <a:rPr sz="1200">
                <a:solidFill>
                  <a:srgbClr val="EAEDF0"/>
                </a:solidFill>
                <a:latin typeface="Menlo"/>
              </a:rPr>
              <a:t>  step_normalize(all_numeric_predictors()) %&gt;%</a:t>
            </a:r>
          </a:p>
          <a:p>
            <a:pPr algn="l">
              <a:lnSpc>
                <a:spcPct val="108000"/>
              </a:lnSpc>
            </a:pPr>
            <a:r>
              <a:rPr sz="1200">
                <a:solidFill>
                  <a:srgbClr val="EAEDF0"/>
                </a:solidFill>
                <a:latin typeface="Menlo"/>
              </a:rPr>
              <a:t>  step_zv(all_predictors())</a:t>
            </a:r>
          </a:p>
        </p:txBody>
      </p:sp>
      <p:sp>
        <p:nvSpPr>
          <p:cNvPr id="9" name="Rectangle 8"/>
          <p:cNvSpPr/>
          <p:nvPr/>
        </p:nvSpPr>
        <p:spPr>
          <a:xfrm>
            <a:off x="274320" y="4329683"/>
            <a:ext cx="8595360" cy="2071116"/>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421123"/>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805171"/>
            <a:ext cx="8302752" cy="1504188"/>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Imputa NAs con la mediana, quita predictores casi constantes (nzv) y redundantes (corr), estandariza y limpia varianza cero.</a:t>
            </a:r>
          </a:p>
          <a:p>
            <a:pPr algn="l">
              <a:lnSpc>
                <a:spcPct val="132000"/>
              </a:lnSpc>
            </a:pPr>
            <a:r>
              <a:rPr sz="1300" b="0" i="0">
                <a:solidFill>
                  <a:srgbClr val="000000"/>
                </a:solidFill>
                <a:latin typeface="Ubuntu"/>
              </a:rPr>
              <a:t>- step_normalize() es CRITICO para glmnet (la penalización depende de la escala) e inocuo para árboles y ensambles.</a:t>
            </a:r>
          </a:p>
          <a:p>
            <a:pPr algn="l">
              <a:lnSpc>
                <a:spcPct val="132000"/>
              </a:lnSpc>
            </a:pPr>
            <a:r>
              <a:rPr sz="1300" b="0" i="0">
                <a:solidFill>
                  <a:srgbClr val="000000"/>
                </a:solidFill>
                <a:latin typeface="Ubuntu"/>
              </a:rPr>
              <a:t>- Una sola receta hace que los cuatro modelos sean comparables y que el stacking opere sobre la misma representación de los datos.</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20 - Otros modelos y ensambles  -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decision_tree()</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Árbol de decisión: parte el espacio con reglas tipo 'si ingreso &gt; X y score &gt; Y, entonces...'.</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636776"/>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417320"/>
          </a:xfrm>
          <a:prstGeom prst="rect">
            <a:avLst/>
          </a:prstGeom>
          <a:noFill/>
        </p:spPr>
        <p:txBody>
          <a:bodyPr wrap="none" lIns="0" rIns="0" tIns="0" bIns="0">
            <a:spAutoFit/>
          </a:bodyPr>
          <a:lstStyle/>
          <a:p>
            <a:pPr algn="l">
              <a:lnSpc>
                <a:spcPct val="108000"/>
              </a:lnSpc>
            </a:pPr>
            <a:r>
              <a:rPr sz="1200">
                <a:solidFill>
                  <a:srgbClr val="EAEDF0"/>
                </a:solidFill>
                <a:latin typeface="Menlo"/>
              </a:rPr>
              <a:t>modelo_arbol &lt;- decision_tree(</a:t>
            </a:r>
          </a:p>
          <a:p>
            <a:pPr algn="l">
              <a:lnSpc>
                <a:spcPct val="108000"/>
              </a:lnSpc>
            </a:pPr>
            <a:r>
              <a:rPr sz="1200">
                <a:solidFill>
                  <a:srgbClr val="EAEDF0"/>
                </a:solidFill>
                <a:latin typeface="Menlo"/>
              </a:rPr>
              <a:t>    cost_complexity = tune(),</a:t>
            </a:r>
          </a:p>
          <a:p>
            <a:pPr algn="l">
              <a:lnSpc>
                <a:spcPct val="108000"/>
              </a:lnSpc>
            </a:pPr>
            <a:r>
              <a:rPr sz="1200">
                <a:solidFill>
                  <a:srgbClr val="EAEDF0"/>
                </a:solidFill>
                <a:latin typeface="Menlo"/>
              </a:rPr>
              <a:t>    tree_depth = tune()</a:t>
            </a:r>
          </a:p>
          <a:p>
            <a:pPr algn="l">
              <a:lnSpc>
                <a:spcPct val="108000"/>
              </a:lnSpc>
            </a:pPr>
            <a:r>
              <a:rPr sz="1200">
                <a:solidFill>
                  <a:srgbClr val="EAEDF0"/>
                </a:solidFill>
                <a:latin typeface="Menlo"/>
              </a:rPr>
              <a:t>  ) %&gt;%</a:t>
            </a:r>
          </a:p>
          <a:p>
            <a:pPr algn="l">
              <a:lnSpc>
                <a:spcPct val="108000"/>
              </a:lnSpc>
            </a:pPr>
            <a:r>
              <a:rPr sz="1200">
                <a:solidFill>
                  <a:srgbClr val="EAEDF0"/>
                </a:solidFill>
                <a:latin typeface="Menlo"/>
              </a:rPr>
              <a:t>  set_engine("rpart") %&gt;%</a:t>
            </a:r>
          </a:p>
          <a:p>
            <a:pPr algn="l">
              <a:lnSpc>
                <a:spcPct val="108000"/>
              </a:lnSpc>
            </a:pPr>
            <a:r>
              <a:rPr sz="1200">
                <a:solidFill>
                  <a:srgbClr val="EAEDF0"/>
                </a:solidFill>
                <a:latin typeface="Menlo"/>
              </a:rPr>
              <a:t>  set_mode("classification")</a:t>
            </a:r>
          </a:p>
        </p:txBody>
      </p:sp>
      <p:sp>
        <p:nvSpPr>
          <p:cNvPr id="9" name="Rectangle 8"/>
          <p:cNvSpPr/>
          <p:nvPr/>
        </p:nvSpPr>
        <p:spPr>
          <a:xfrm>
            <a:off x="274320" y="4105656"/>
            <a:ext cx="8595360" cy="2295144"/>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97096"/>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581144"/>
            <a:ext cx="8302752" cy="1728216"/>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Un solo árbol es MUY interpretable, pero inestable (alta varianza): cambia mucho con pequeñas variaciones de los datos.</a:t>
            </a:r>
          </a:p>
          <a:p>
            <a:pPr algn="l">
              <a:lnSpc>
                <a:spcPct val="132000"/>
              </a:lnSpc>
            </a:pPr>
            <a:r>
              <a:rPr sz="1300" b="0" i="0">
                <a:solidFill>
                  <a:srgbClr val="000000"/>
                </a:solidFill>
                <a:latin typeface="Ubuntu"/>
              </a:rPr>
              <a:t>- cost_complexity (cp) penaliza árboles grandes (poda) y tree_depth limita la profundidad; ambos con tune() para buscarlos por CV.</a:t>
            </a:r>
          </a:p>
          <a:p>
            <a:pPr algn="l">
              <a:lnSpc>
                <a:spcPct val="132000"/>
              </a:lnSpc>
            </a:pPr>
            <a:r>
              <a:rPr sz="1300" b="0" i="0">
                <a:solidFill>
                  <a:srgbClr val="000000"/>
                </a:solidFill>
                <a:latin typeface="Ubuntu"/>
              </a:rPr>
              <a:t>- set_engine("rpart") elige el paquete que construye el árbol.</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20 - Otros modelos y ensambles  -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rand_forest()</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Random forest: un ENSAMBLE por BAGGING. Muchos árboles que votan; el promedio reduce la varianza.</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860803"/>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641347"/>
          </a:xfrm>
          <a:prstGeom prst="rect">
            <a:avLst/>
          </a:prstGeom>
          <a:noFill/>
        </p:spPr>
        <p:txBody>
          <a:bodyPr wrap="none" lIns="0" rIns="0" tIns="0" bIns="0">
            <a:spAutoFit/>
          </a:bodyPr>
          <a:lstStyle/>
          <a:p>
            <a:pPr algn="l">
              <a:lnSpc>
                <a:spcPct val="108000"/>
              </a:lnSpc>
            </a:pPr>
            <a:r>
              <a:rPr sz="1200">
                <a:solidFill>
                  <a:srgbClr val="EAEDF0"/>
                </a:solidFill>
                <a:latin typeface="Menlo"/>
              </a:rPr>
              <a:t>modelo_rf &lt;- rand_forest(</a:t>
            </a:r>
          </a:p>
          <a:p>
            <a:pPr algn="l">
              <a:lnSpc>
                <a:spcPct val="108000"/>
              </a:lnSpc>
            </a:pPr>
            <a:r>
              <a:rPr sz="1200">
                <a:solidFill>
                  <a:srgbClr val="EAEDF0"/>
                </a:solidFill>
                <a:latin typeface="Menlo"/>
              </a:rPr>
              <a:t>    mtry = tune(),</a:t>
            </a:r>
          </a:p>
          <a:p>
            <a:pPr algn="l">
              <a:lnSpc>
                <a:spcPct val="108000"/>
              </a:lnSpc>
            </a:pPr>
            <a:r>
              <a:rPr sz="1200">
                <a:solidFill>
                  <a:srgbClr val="EAEDF0"/>
                </a:solidFill>
                <a:latin typeface="Menlo"/>
              </a:rPr>
              <a:t>    min_n = tune(),</a:t>
            </a:r>
          </a:p>
          <a:p>
            <a:pPr algn="l">
              <a:lnSpc>
                <a:spcPct val="108000"/>
              </a:lnSpc>
            </a:pPr>
            <a:r>
              <a:rPr sz="1200">
                <a:solidFill>
                  <a:srgbClr val="EAEDF0"/>
                </a:solidFill>
                <a:latin typeface="Menlo"/>
              </a:rPr>
              <a:t>    trees = 500</a:t>
            </a:r>
          </a:p>
          <a:p>
            <a:pPr algn="l">
              <a:lnSpc>
                <a:spcPct val="108000"/>
              </a:lnSpc>
            </a:pPr>
            <a:r>
              <a:rPr sz="1200">
                <a:solidFill>
                  <a:srgbClr val="EAEDF0"/>
                </a:solidFill>
                <a:latin typeface="Menlo"/>
              </a:rPr>
              <a:t>  ) %&gt;%</a:t>
            </a:r>
          </a:p>
          <a:p>
            <a:pPr algn="l">
              <a:lnSpc>
                <a:spcPct val="108000"/>
              </a:lnSpc>
            </a:pPr>
            <a:r>
              <a:rPr sz="1200">
                <a:solidFill>
                  <a:srgbClr val="EAEDF0"/>
                </a:solidFill>
                <a:latin typeface="Menlo"/>
              </a:rPr>
              <a:t>  set_engine("ranger", importance = "impurity") %&gt;%</a:t>
            </a:r>
          </a:p>
          <a:p>
            <a:pPr algn="l">
              <a:lnSpc>
                <a:spcPct val="108000"/>
              </a:lnSpc>
            </a:pPr>
            <a:r>
              <a:rPr sz="1200">
                <a:solidFill>
                  <a:srgbClr val="EAEDF0"/>
                </a:solidFill>
                <a:latin typeface="Menlo"/>
              </a:rPr>
              <a:t>  set_mode("classification")</a:t>
            </a:r>
          </a:p>
        </p:txBody>
      </p:sp>
      <p:sp>
        <p:nvSpPr>
          <p:cNvPr id="9" name="Rectangle 8"/>
          <p:cNvSpPr/>
          <p:nvPr/>
        </p:nvSpPr>
        <p:spPr>
          <a:xfrm>
            <a:off x="274320" y="4329683"/>
            <a:ext cx="8595360" cy="2071116"/>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421123"/>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805171"/>
            <a:ext cx="8302752" cy="1504188"/>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Bagging = 'bootstrap aggregating': cada árbol se entrena con una muestra bootstrap y un subconjunto aleatorio de predictores por corte.</a:t>
            </a:r>
          </a:p>
          <a:p>
            <a:pPr algn="l">
              <a:lnSpc>
                <a:spcPct val="132000"/>
              </a:lnSpc>
            </a:pPr>
            <a:r>
              <a:rPr sz="1300" b="0" i="0">
                <a:solidFill>
                  <a:srgbClr val="000000"/>
                </a:solidFill>
                <a:latin typeface="Ubuntu"/>
              </a:rPr>
              <a:t>- Promediar muchos árboles ruidosos pero poco sesgados REDUCE la varianza sin subir el sesgo. mtry = predictores por corte; min_n = obs. por nodo.</a:t>
            </a:r>
          </a:p>
          <a:p>
            <a:pPr algn="l">
              <a:lnSpc>
                <a:spcPct val="132000"/>
              </a:lnSpc>
            </a:pPr>
            <a:r>
              <a:rPr sz="1300" b="0" i="0">
                <a:solidFill>
                  <a:srgbClr val="000000"/>
                </a:solidFill>
                <a:latin typeface="Ubuntu"/>
              </a:rPr>
              <a:t>- trees = 500 fijo; importance = "impurity" guarda la importancia de variables para inspeccionarla después.</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20 - Otros modelos y ensambles  -  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boost_tree()</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XGBoost: un ENSAMBLE por BOOSTING. Árboles en SECUENCIA, cada uno corrige los errores del anterior.</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2084831"/>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865375"/>
          </a:xfrm>
          <a:prstGeom prst="rect">
            <a:avLst/>
          </a:prstGeom>
          <a:noFill/>
        </p:spPr>
        <p:txBody>
          <a:bodyPr wrap="none" lIns="0" rIns="0" tIns="0" bIns="0">
            <a:spAutoFit/>
          </a:bodyPr>
          <a:lstStyle/>
          <a:p>
            <a:pPr algn="l">
              <a:lnSpc>
                <a:spcPct val="108000"/>
              </a:lnSpc>
            </a:pPr>
            <a:r>
              <a:rPr sz="1200">
                <a:solidFill>
                  <a:srgbClr val="EAEDF0"/>
                </a:solidFill>
                <a:latin typeface="Menlo"/>
              </a:rPr>
              <a:t>modelo_xgb &lt;- boost_tree(</a:t>
            </a:r>
          </a:p>
          <a:p>
            <a:pPr algn="l">
              <a:lnSpc>
                <a:spcPct val="108000"/>
              </a:lnSpc>
            </a:pPr>
            <a:r>
              <a:rPr sz="1200">
                <a:solidFill>
                  <a:srgbClr val="EAEDF0"/>
                </a:solidFill>
                <a:latin typeface="Menlo"/>
              </a:rPr>
              <a:t>    trees = 500,</a:t>
            </a:r>
          </a:p>
          <a:p>
            <a:pPr algn="l">
              <a:lnSpc>
                <a:spcPct val="108000"/>
              </a:lnSpc>
            </a:pPr>
            <a:r>
              <a:rPr sz="1200">
                <a:solidFill>
                  <a:srgbClr val="EAEDF0"/>
                </a:solidFill>
                <a:latin typeface="Menlo"/>
              </a:rPr>
              <a:t>    tree_depth = tune(),</a:t>
            </a:r>
          </a:p>
          <a:p>
            <a:pPr algn="l">
              <a:lnSpc>
                <a:spcPct val="108000"/>
              </a:lnSpc>
            </a:pPr>
            <a:r>
              <a:rPr sz="1200">
                <a:solidFill>
                  <a:srgbClr val="EAEDF0"/>
                </a:solidFill>
                <a:latin typeface="Menlo"/>
              </a:rPr>
              <a:t>    learn_rate = tune(),</a:t>
            </a:r>
          </a:p>
          <a:p>
            <a:pPr algn="l">
              <a:lnSpc>
                <a:spcPct val="108000"/>
              </a:lnSpc>
            </a:pPr>
            <a:r>
              <a:rPr sz="1200">
                <a:solidFill>
                  <a:srgbClr val="EAEDF0"/>
                </a:solidFill>
                <a:latin typeface="Menlo"/>
              </a:rPr>
              <a:t>    loss_reduction = tune()</a:t>
            </a:r>
          </a:p>
          <a:p>
            <a:pPr algn="l">
              <a:lnSpc>
                <a:spcPct val="108000"/>
              </a:lnSpc>
            </a:pPr>
            <a:r>
              <a:rPr sz="1200">
                <a:solidFill>
                  <a:srgbClr val="EAEDF0"/>
                </a:solidFill>
                <a:latin typeface="Menlo"/>
              </a:rPr>
              <a:t>  ) %&gt;%</a:t>
            </a:r>
          </a:p>
          <a:p>
            <a:pPr algn="l">
              <a:lnSpc>
                <a:spcPct val="108000"/>
              </a:lnSpc>
            </a:pPr>
            <a:r>
              <a:rPr sz="1200">
                <a:solidFill>
                  <a:srgbClr val="EAEDF0"/>
                </a:solidFill>
                <a:latin typeface="Menlo"/>
              </a:rPr>
              <a:t>  set_engine("xgboost") %&gt;%</a:t>
            </a:r>
          </a:p>
          <a:p>
            <a:pPr algn="l">
              <a:lnSpc>
                <a:spcPct val="108000"/>
              </a:lnSpc>
            </a:pPr>
            <a:r>
              <a:rPr sz="1200">
                <a:solidFill>
                  <a:srgbClr val="EAEDF0"/>
                </a:solidFill>
                <a:latin typeface="Menlo"/>
              </a:rPr>
              <a:t>  set_mode("classification")</a:t>
            </a:r>
          </a:p>
        </p:txBody>
      </p:sp>
      <p:sp>
        <p:nvSpPr>
          <p:cNvPr id="9" name="Rectangle 8"/>
          <p:cNvSpPr/>
          <p:nvPr/>
        </p:nvSpPr>
        <p:spPr>
          <a:xfrm>
            <a:off x="274320" y="4553712"/>
            <a:ext cx="8595360" cy="1847088"/>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645152"/>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5029200"/>
            <a:ext cx="8302752" cy="1280160"/>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BAGGING (random forest): árboles en PARALELO; ataca la VARIANZA. BOOSTING (XGBoost): árboles en SECUENCIA; ataca el SESGO.</a:t>
            </a:r>
          </a:p>
          <a:p>
            <a:pPr algn="l">
              <a:lnSpc>
                <a:spcPct val="132000"/>
              </a:lnSpc>
            </a:pPr>
            <a:r>
              <a:rPr sz="1300" b="0" i="0">
                <a:solidFill>
                  <a:srgbClr val="000000"/>
                </a:solidFill>
                <a:latin typeface="Ubuntu"/>
              </a:rPr>
              <a:t>- Cada árbol nuevo se enfoca en lo que el conjunto anterior falló; suele dar el mejor desempeño predictivo.</a:t>
            </a:r>
          </a:p>
          <a:p>
            <a:pPr algn="l">
              <a:lnSpc>
                <a:spcPct val="132000"/>
              </a:lnSpc>
            </a:pPr>
            <a:r>
              <a:rPr sz="1300" b="0" i="0">
                <a:solidFill>
                  <a:srgbClr val="000000"/>
                </a:solidFill>
                <a:latin typeface="Ubuntu"/>
              </a:rPr>
              <a:t>- A cambio, más hiperparámetros y más riesgo de sobreajuste si no se regulariza.</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20 - Otros modelos y ensambles  -  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logistic_reg(penalty, mixture)</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Regresión logística regularizada: la de siempre, pero con una penalización que encoge los coeficientes.</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636776"/>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417320"/>
          </a:xfrm>
          <a:prstGeom prst="rect">
            <a:avLst/>
          </a:prstGeom>
          <a:noFill/>
        </p:spPr>
        <p:txBody>
          <a:bodyPr wrap="none" lIns="0" rIns="0" tIns="0" bIns="0">
            <a:spAutoFit/>
          </a:bodyPr>
          <a:lstStyle/>
          <a:p>
            <a:pPr algn="l">
              <a:lnSpc>
                <a:spcPct val="108000"/>
              </a:lnSpc>
            </a:pPr>
            <a:r>
              <a:rPr sz="1200">
                <a:solidFill>
                  <a:srgbClr val="EAEDF0"/>
                </a:solidFill>
                <a:latin typeface="Menlo"/>
              </a:rPr>
              <a:t>modelo_glmnet &lt;- logistic_reg(</a:t>
            </a:r>
          </a:p>
          <a:p>
            <a:pPr algn="l">
              <a:lnSpc>
                <a:spcPct val="108000"/>
              </a:lnSpc>
            </a:pPr>
            <a:r>
              <a:rPr sz="1200">
                <a:solidFill>
                  <a:srgbClr val="EAEDF0"/>
                </a:solidFill>
                <a:latin typeface="Menlo"/>
              </a:rPr>
              <a:t>    penalty = tune(),</a:t>
            </a:r>
          </a:p>
          <a:p>
            <a:pPr algn="l">
              <a:lnSpc>
                <a:spcPct val="108000"/>
              </a:lnSpc>
            </a:pPr>
            <a:r>
              <a:rPr sz="1200">
                <a:solidFill>
                  <a:srgbClr val="EAEDF0"/>
                </a:solidFill>
                <a:latin typeface="Menlo"/>
              </a:rPr>
              <a:t>    mixture = tune()</a:t>
            </a:r>
          </a:p>
          <a:p>
            <a:pPr algn="l">
              <a:lnSpc>
                <a:spcPct val="108000"/>
              </a:lnSpc>
            </a:pPr>
            <a:r>
              <a:rPr sz="1200">
                <a:solidFill>
                  <a:srgbClr val="EAEDF0"/>
                </a:solidFill>
                <a:latin typeface="Menlo"/>
              </a:rPr>
              <a:t>  ) %&gt;%</a:t>
            </a:r>
          </a:p>
          <a:p>
            <a:pPr algn="l">
              <a:lnSpc>
                <a:spcPct val="108000"/>
              </a:lnSpc>
            </a:pPr>
            <a:r>
              <a:rPr sz="1200">
                <a:solidFill>
                  <a:srgbClr val="EAEDF0"/>
                </a:solidFill>
                <a:latin typeface="Menlo"/>
              </a:rPr>
              <a:t>  set_engine("glmnet") %&gt;%</a:t>
            </a:r>
          </a:p>
          <a:p>
            <a:pPr algn="l">
              <a:lnSpc>
                <a:spcPct val="108000"/>
              </a:lnSpc>
            </a:pPr>
            <a:r>
              <a:rPr sz="1200">
                <a:solidFill>
                  <a:srgbClr val="EAEDF0"/>
                </a:solidFill>
                <a:latin typeface="Menlo"/>
              </a:rPr>
              <a:t>  set_mode("classification")</a:t>
            </a:r>
          </a:p>
        </p:txBody>
      </p:sp>
      <p:sp>
        <p:nvSpPr>
          <p:cNvPr id="9" name="Rectangle 8"/>
          <p:cNvSpPr/>
          <p:nvPr/>
        </p:nvSpPr>
        <p:spPr>
          <a:xfrm>
            <a:off x="274320" y="4105656"/>
            <a:ext cx="8595360" cy="2295144"/>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97096"/>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581144"/>
            <a:ext cx="8302752" cy="1728216"/>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penalty (lambda) controla CUÁNTA penalización: más lambda, más encoge los coeficientes hacia cero.</a:t>
            </a:r>
          </a:p>
          <a:p>
            <a:pPr algn="l">
              <a:lnSpc>
                <a:spcPct val="132000"/>
              </a:lnSpc>
            </a:pPr>
            <a:r>
              <a:rPr sz="1300" b="0" i="0">
                <a:solidFill>
                  <a:srgbClr val="000000"/>
                </a:solidFill>
                <a:latin typeface="Ubuntu"/>
              </a:rPr>
              <a:t>- mixture controla la MEZCLA: 1 = lasso (L1, puede llevar coeficientes a CERO y seleccionar variables); 0 = ridge (L2, encoge sin eliminar); intermedio = elastic net.</a:t>
            </a:r>
          </a:p>
          <a:p>
            <a:pPr algn="l">
              <a:lnSpc>
                <a:spcPct val="132000"/>
              </a:lnSpc>
            </a:pPr>
            <a:r>
              <a:rPr sz="1300" b="0" i="0">
                <a:solidFill>
                  <a:srgbClr val="000000"/>
                </a:solidFill>
                <a:latin typeface="Ubuntu"/>
              </a:rPr>
              <a:t>- Tunear ambos deja que los datos decidan cuánto regularizar y de que tipo.</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20 - Otros modelos y ensambles  -  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tune_grid(control = control_stack_grid())</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Tunea cada modelo Y guarda las predicciones que el stacking necesitará después.</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2084831"/>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865375"/>
          </a:xfrm>
          <a:prstGeom prst="rect">
            <a:avLst/>
          </a:prstGeom>
          <a:noFill/>
        </p:spPr>
        <p:txBody>
          <a:bodyPr wrap="none" lIns="0" rIns="0" tIns="0" bIns="0">
            <a:spAutoFit/>
          </a:bodyPr>
          <a:lstStyle/>
          <a:p>
            <a:pPr algn="l">
              <a:lnSpc>
                <a:spcPct val="108000"/>
              </a:lnSpc>
            </a:pPr>
            <a:r>
              <a:rPr sz="1200">
                <a:solidFill>
                  <a:srgbClr val="EAEDF0"/>
                </a:solidFill>
                <a:latin typeface="Menlo"/>
              </a:rPr>
              <a:t>control_stack &lt;- control_stack_grid()</a:t>
            </a:r>
          </a:p>
          <a:p>
            <a:pPr algn="l">
              <a:lnSpc>
                <a:spcPct val="108000"/>
              </a:lnSpc>
            </a:pPr>
            <a:r>
              <a:rPr sz="1200">
                <a:solidFill>
                  <a:srgbClr val="EAEDF0"/>
                </a:solidFill>
                <a:latin typeface="Menlo"/>
              </a:rPr>
              <a:t> </a:t>
            </a:r>
          </a:p>
          <a:p>
            <a:pPr algn="l">
              <a:lnSpc>
                <a:spcPct val="108000"/>
              </a:lnSpc>
            </a:pPr>
            <a:r>
              <a:rPr sz="1200">
                <a:solidFill>
                  <a:srgbClr val="EAEDF0"/>
                </a:solidFill>
                <a:latin typeface="Menlo"/>
              </a:rPr>
              <a:t>set.seed(2020)</a:t>
            </a:r>
          </a:p>
          <a:p>
            <a:pPr algn="l">
              <a:lnSpc>
                <a:spcPct val="108000"/>
              </a:lnSpc>
            </a:pPr>
            <a:r>
              <a:rPr sz="1200">
                <a:solidFill>
                  <a:srgbClr val="EAEDF0"/>
                </a:solidFill>
                <a:latin typeface="Menlo"/>
              </a:rPr>
              <a:t>tuning_xgb &lt;- workflow_xgb %&gt;%</a:t>
            </a:r>
          </a:p>
          <a:p>
            <a:pPr algn="l">
              <a:lnSpc>
                <a:spcPct val="108000"/>
              </a:lnSpc>
            </a:pPr>
            <a:r>
              <a:rPr sz="1200">
                <a:solidFill>
                  <a:srgbClr val="EAEDF0"/>
                </a:solidFill>
                <a:latin typeface="Menlo"/>
              </a:rPr>
              <a:t>  tune_grid(resamples = folds_cv,</a:t>
            </a:r>
          </a:p>
          <a:p>
            <a:pPr algn="l">
              <a:lnSpc>
                <a:spcPct val="108000"/>
              </a:lnSpc>
            </a:pPr>
            <a:r>
              <a:rPr sz="1200">
                <a:solidFill>
                  <a:srgbClr val="EAEDF0"/>
                </a:solidFill>
                <a:latin typeface="Menlo"/>
              </a:rPr>
              <a:t>            grid = 6,</a:t>
            </a:r>
          </a:p>
          <a:p>
            <a:pPr algn="l">
              <a:lnSpc>
                <a:spcPct val="108000"/>
              </a:lnSpc>
            </a:pPr>
            <a:r>
              <a:rPr sz="1200">
                <a:solidFill>
                  <a:srgbClr val="EAEDF0"/>
                </a:solidFill>
                <a:latin typeface="Menlo"/>
              </a:rPr>
              <a:t>            metrics = metricas_clasificacion,</a:t>
            </a:r>
          </a:p>
          <a:p>
            <a:pPr algn="l">
              <a:lnSpc>
                <a:spcPct val="108000"/>
              </a:lnSpc>
            </a:pPr>
            <a:r>
              <a:rPr sz="1200">
                <a:solidFill>
                  <a:srgbClr val="EAEDF0"/>
                </a:solidFill>
                <a:latin typeface="Menlo"/>
              </a:rPr>
              <a:t>            control = control_stack)</a:t>
            </a:r>
          </a:p>
        </p:txBody>
      </p:sp>
      <p:sp>
        <p:nvSpPr>
          <p:cNvPr id="9" name="Rectangle 8"/>
          <p:cNvSpPr/>
          <p:nvPr/>
        </p:nvSpPr>
        <p:spPr>
          <a:xfrm>
            <a:off x="274320" y="4553712"/>
            <a:ext cx="8595360" cy="1847088"/>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645152"/>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5029200"/>
            <a:ext cx="8302752" cy="1280160"/>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Lo DISTINTIVO de la sesión. tune_grid prueba 6 candidatos por modelo sobre los 5 folds, igual que siempre.</a:t>
            </a:r>
          </a:p>
          <a:p>
            <a:pPr algn="l">
              <a:lnSpc>
                <a:spcPct val="132000"/>
              </a:lnSpc>
            </a:pPr>
            <a:r>
              <a:rPr sz="1300" b="0" i="0">
                <a:solidFill>
                  <a:srgbClr val="000000"/>
                </a:solidFill>
                <a:latin typeface="Ubuntu"/>
              </a:rPr>
              <a:t>- control = control_stack_grid() le pide que ADEMÁS guarde las predicciones out-of-fold de cada candidato.</a:t>
            </a:r>
          </a:p>
          <a:p>
            <a:pPr algn="l">
              <a:lnSpc>
                <a:spcPct val="132000"/>
              </a:lnSpc>
            </a:pPr>
            <a:r>
              <a:rPr sz="1300" b="0" i="0">
                <a:solidFill>
                  <a:srgbClr val="000000"/>
                </a:solidFill>
                <a:latin typeface="Ubuntu"/>
              </a:rPr>
              <a:t>- Sin esas predicciones, stacks() no podría entrenar el meta-modelo. Se corre uno por cada modelo.</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20 - Otros modelos y ensambles  -  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stacks() + add_candidates()</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Crea el ensamble vacío y le agrega como candidatos los modelos ya tuneados.</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636776"/>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417320"/>
          </a:xfrm>
          <a:prstGeom prst="rect">
            <a:avLst/>
          </a:prstGeom>
          <a:noFill/>
        </p:spPr>
        <p:txBody>
          <a:bodyPr wrap="none" lIns="0" rIns="0" tIns="0" bIns="0">
            <a:spAutoFit/>
          </a:bodyPr>
          <a:lstStyle/>
          <a:p>
            <a:pPr algn="l">
              <a:lnSpc>
                <a:spcPct val="108000"/>
              </a:lnSpc>
            </a:pPr>
            <a:r>
              <a:rPr sz="1200">
                <a:solidFill>
                  <a:srgbClr val="EAEDF0"/>
                </a:solidFill>
                <a:latin typeface="Menlo"/>
              </a:rPr>
              <a:t>set.seed(2020)</a:t>
            </a:r>
          </a:p>
          <a:p>
            <a:pPr algn="l">
              <a:lnSpc>
                <a:spcPct val="108000"/>
              </a:lnSpc>
            </a:pPr>
            <a:r>
              <a:rPr sz="1200">
                <a:solidFill>
                  <a:srgbClr val="EAEDF0"/>
                </a:solidFill>
                <a:latin typeface="Menlo"/>
              </a:rPr>
              <a:t>stack_credito &lt;- stacks() %&gt;%</a:t>
            </a:r>
          </a:p>
          <a:p>
            <a:pPr algn="l">
              <a:lnSpc>
                <a:spcPct val="108000"/>
              </a:lnSpc>
            </a:pPr>
            <a:r>
              <a:rPr sz="1200">
                <a:solidFill>
                  <a:srgbClr val="EAEDF0"/>
                </a:solidFill>
                <a:latin typeface="Menlo"/>
              </a:rPr>
              <a:t>  add_candidates(tuning_arbol) %&gt;%</a:t>
            </a:r>
          </a:p>
          <a:p>
            <a:pPr algn="l">
              <a:lnSpc>
                <a:spcPct val="108000"/>
              </a:lnSpc>
            </a:pPr>
            <a:r>
              <a:rPr sz="1200">
                <a:solidFill>
                  <a:srgbClr val="EAEDF0"/>
                </a:solidFill>
                <a:latin typeface="Menlo"/>
              </a:rPr>
              <a:t>  add_candidates(tuning_rf) %&gt;%</a:t>
            </a:r>
          </a:p>
          <a:p>
            <a:pPr algn="l">
              <a:lnSpc>
                <a:spcPct val="108000"/>
              </a:lnSpc>
            </a:pPr>
            <a:r>
              <a:rPr sz="1200">
                <a:solidFill>
                  <a:srgbClr val="EAEDF0"/>
                </a:solidFill>
                <a:latin typeface="Menlo"/>
              </a:rPr>
              <a:t>  add_candidates(tuning_xgb) %&gt;%</a:t>
            </a:r>
          </a:p>
          <a:p>
            <a:pPr algn="l">
              <a:lnSpc>
                <a:spcPct val="108000"/>
              </a:lnSpc>
            </a:pPr>
            <a:r>
              <a:rPr sz="1200">
                <a:solidFill>
                  <a:srgbClr val="EAEDF0"/>
                </a:solidFill>
                <a:latin typeface="Menlo"/>
              </a:rPr>
              <a:t>  add_candidates(tuning_glmnet)</a:t>
            </a:r>
          </a:p>
        </p:txBody>
      </p:sp>
      <p:sp>
        <p:nvSpPr>
          <p:cNvPr id="9" name="Rectangle 8"/>
          <p:cNvSpPr/>
          <p:nvPr/>
        </p:nvSpPr>
        <p:spPr>
          <a:xfrm>
            <a:off x="274320" y="4105656"/>
            <a:ext cx="8595360" cy="2295144"/>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97096"/>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581144"/>
            <a:ext cx="8302752" cy="1728216"/>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stacks() inicializa un ensamble vacio (un 'data stack').</a:t>
            </a:r>
          </a:p>
          <a:p>
            <a:pPr algn="l">
              <a:lnSpc>
                <a:spcPct val="132000"/>
              </a:lnSpc>
            </a:pPr>
            <a:r>
              <a:rPr sz="1300" b="0" i="0">
                <a:solidFill>
                  <a:srgbClr val="000000"/>
                </a:solidFill>
                <a:latin typeface="Ubuntu"/>
              </a:rPr>
              <a:t>- add_candidates() junta los resultados de tuning de cada familia: cada candidato es un modelo concreto con sus hiperparámetros y sus predicciones out-of-fold.</a:t>
            </a:r>
          </a:p>
          <a:p>
            <a:pPr algn="l">
              <a:lnSpc>
                <a:spcPct val="132000"/>
              </a:lnSpc>
            </a:pPr>
            <a:r>
              <a:rPr sz="1300" b="0" i="0">
                <a:solidFill>
                  <a:srgbClr val="000000"/>
                </a:solidFill>
                <a:latin typeface="Ubuntu"/>
              </a:rPr>
              <a:t>- Así reunimos modelos DIVERSOS (árbol, bagging, boosting, lineal); esa diversidad es justo lo que el ensamble aprovecha.</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20 - Otros modelos y ensambles  -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blend_predictions()</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El meta-modelo aprende cómo COMBINAR a los candidatos: a quién le da peso y cuánto.</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554480"/>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335024"/>
          </a:xfrm>
          <a:prstGeom prst="rect">
            <a:avLst/>
          </a:prstGeom>
          <a:noFill/>
        </p:spPr>
        <p:txBody>
          <a:bodyPr wrap="none" lIns="0" rIns="0" tIns="0" bIns="0">
            <a:spAutoFit/>
          </a:bodyPr>
          <a:lstStyle/>
          <a:p>
            <a:pPr algn="l">
              <a:lnSpc>
                <a:spcPct val="108000"/>
              </a:lnSpc>
            </a:pPr>
            <a:r>
              <a:rPr sz="1200">
                <a:solidFill>
                  <a:srgbClr val="EAEDF0"/>
                </a:solidFill>
                <a:latin typeface="Menlo"/>
              </a:rPr>
              <a:t>set.seed(2020)</a:t>
            </a:r>
          </a:p>
          <a:p>
            <a:pPr algn="l">
              <a:lnSpc>
                <a:spcPct val="108000"/>
              </a:lnSpc>
            </a:pPr>
            <a:r>
              <a:rPr sz="1200">
                <a:solidFill>
                  <a:srgbClr val="EAEDF0"/>
                </a:solidFill>
                <a:latin typeface="Menlo"/>
              </a:rPr>
              <a:t>stack_credito_blend &lt;- stack_credito %&gt;%</a:t>
            </a:r>
          </a:p>
          <a:p>
            <a:pPr algn="l">
              <a:lnSpc>
                <a:spcPct val="108000"/>
              </a:lnSpc>
            </a:pPr>
            <a:r>
              <a:rPr sz="1200">
                <a:solidFill>
                  <a:srgbClr val="EAEDF0"/>
                </a:solidFill>
                <a:latin typeface="Menlo"/>
              </a:rPr>
              <a:t>  blend_predictions()</a:t>
            </a:r>
          </a:p>
        </p:txBody>
      </p:sp>
      <p:sp>
        <p:nvSpPr>
          <p:cNvPr id="9" name="Rectangle 8"/>
          <p:cNvSpPr/>
          <p:nvPr/>
        </p:nvSpPr>
        <p:spPr>
          <a:xfrm>
            <a:off x="274320" y="4023359"/>
            <a:ext cx="8595360" cy="237744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14799"/>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498847"/>
            <a:ext cx="8302752" cy="1810512"/>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En vez de elegir un único ganador, un META-MODELO (un lasso) aprende que peso darle a la predicción de cada candidato.</a:t>
            </a:r>
          </a:p>
          <a:p>
            <a:pPr algn="l">
              <a:lnSpc>
                <a:spcPct val="132000"/>
              </a:lnSpc>
            </a:pPr>
            <a:r>
              <a:rPr sz="1300" b="0" i="0">
                <a:solidFill>
                  <a:srgbClr val="000000"/>
                </a:solidFill>
                <a:latin typeface="Ubuntu"/>
              </a:rPr>
              <a:t>- Entrena sobre las predicciones out-of-fold que guardamos con control_stack_grid(); por eso eran necesarias.</a:t>
            </a:r>
          </a:p>
          <a:p>
            <a:pPr algn="l">
              <a:lnSpc>
                <a:spcPct val="132000"/>
              </a:lnSpc>
            </a:pPr>
            <a:r>
              <a:rPr sz="1300" b="0" i="0">
                <a:solidFill>
                  <a:srgbClr val="000000"/>
                </a:solidFill>
                <a:latin typeface="Ubuntu"/>
              </a:rPr>
              <a:t>- El lasso lleva a CERO el peso de los candidatos que no aportan: decide quien entra al ensamble y quien queda fuera.</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20 - Otros modelos y ensambles  -  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fit_members()</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Reentrena, sobre todo el entrenamiento, solo los miembros que el meta-modelo decidió conservar.</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554480"/>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335024"/>
          </a:xfrm>
          <a:prstGeom prst="rect">
            <a:avLst/>
          </a:prstGeom>
          <a:noFill/>
        </p:spPr>
        <p:txBody>
          <a:bodyPr wrap="none" lIns="0" rIns="0" tIns="0" bIns="0">
            <a:spAutoFit/>
          </a:bodyPr>
          <a:lstStyle/>
          <a:p>
            <a:pPr algn="l">
              <a:lnSpc>
                <a:spcPct val="108000"/>
              </a:lnSpc>
            </a:pPr>
            <a:r>
              <a:rPr sz="1200">
                <a:solidFill>
                  <a:srgbClr val="EAEDF0"/>
                </a:solidFill>
                <a:latin typeface="Menlo"/>
              </a:rPr>
              <a:t>stack_credito_fit &lt;- stack_credito_blend %&gt;%</a:t>
            </a:r>
          </a:p>
          <a:p>
            <a:pPr algn="l">
              <a:lnSpc>
                <a:spcPct val="108000"/>
              </a:lnSpc>
            </a:pPr>
            <a:r>
              <a:rPr sz="1200">
                <a:solidFill>
                  <a:srgbClr val="EAEDF0"/>
                </a:solidFill>
                <a:latin typeface="Menlo"/>
              </a:rPr>
              <a:t>  fit_members()</a:t>
            </a:r>
          </a:p>
          <a:p>
            <a:pPr algn="l">
              <a:lnSpc>
                <a:spcPct val="108000"/>
              </a:lnSpc>
            </a:pPr>
            <a:r>
              <a:rPr sz="1200">
                <a:solidFill>
                  <a:srgbClr val="EAEDF0"/>
                </a:solidFill>
                <a:latin typeface="Menlo"/>
              </a:rPr>
              <a:t> </a:t>
            </a:r>
          </a:p>
          <a:p>
            <a:pPr algn="l">
              <a:lnSpc>
                <a:spcPct val="108000"/>
              </a:lnSpc>
            </a:pPr>
            <a:r>
              <a:rPr sz="1200">
                <a:solidFill>
                  <a:srgbClr val="8CA68C"/>
                </a:solidFill>
                <a:latin typeface="Menlo"/>
              </a:rPr>
              <a:t># imprime los pesos del ensamble final</a:t>
            </a:r>
          </a:p>
          <a:p>
            <a:pPr algn="l">
              <a:lnSpc>
                <a:spcPct val="108000"/>
              </a:lnSpc>
            </a:pPr>
            <a:r>
              <a:rPr sz="1200">
                <a:solidFill>
                  <a:srgbClr val="EAEDF0"/>
                </a:solidFill>
                <a:latin typeface="Menlo"/>
              </a:rPr>
              <a:t>stack_credito_fit</a:t>
            </a:r>
          </a:p>
        </p:txBody>
      </p:sp>
      <p:sp>
        <p:nvSpPr>
          <p:cNvPr id="9" name="Rectangle 8"/>
          <p:cNvSpPr/>
          <p:nvPr/>
        </p:nvSpPr>
        <p:spPr>
          <a:xfrm>
            <a:off x="274320" y="4023359"/>
            <a:ext cx="8595360" cy="237744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14799"/>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498847"/>
            <a:ext cx="8302752" cy="1810512"/>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blend_predictions() decidió QUE candidatos quedan (peso distinto de cero) y con que peso relativo.</a:t>
            </a:r>
          </a:p>
          <a:p>
            <a:pPr algn="l">
              <a:lnSpc>
                <a:spcPct val="132000"/>
              </a:lnSpc>
            </a:pPr>
            <a:r>
              <a:rPr sz="1300" b="0" i="0">
                <a:solidFill>
                  <a:srgbClr val="000000"/>
                </a:solidFill>
                <a:latin typeface="Ubuntu"/>
              </a:rPr>
              <a:t>- fit_members() reentrena esos miembros con TODO el entrenamiento, para que estén listos para predecir sobre datos nuevos.</a:t>
            </a:r>
          </a:p>
          <a:p>
            <a:pPr algn="l">
              <a:lnSpc>
                <a:spcPct val="132000"/>
              </a:lnSpc>
            </a:pPr>
            <a:r>
              <a:rPr sz="1300" b="0" i="0">
                <a:solidFill>
                  <a:srgbClr val="000000"/>
                </a:solidFill>
                <a:latin typeface="Ubuntu"/>
              </a:rPr>
              <a:t>- El flujo completo de stacks es: stacks() -&gt; add_candidates() -&gt; blend_predictions() -&gt; fit_members().</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20 - Otros modelos y ensambles  -  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predict() + roc_auc()</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Compara el AUC de prueba de cada modelo individual contra el del ensamble.</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2084831"/>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865375"/>
          </a:xfrm>
          <a:prstGeom prst="rect">
            <a:avLst/>
          </a:prstGeom>
          <a:noFill/>
        </p:spPr>
        <p:txBody>
          <a:bodyPr wrap="none" lIns="0" rIns="0" tIns="0" bIns="0">
            <a:spAutoFit/>
          </a:bodyPr>
          <a:lstStyle/>
          <a:p>
            <a:pPr algn="l">
              <a:lnSpc>
                <a:spcPct val="108000"/>
              </a:lnSpc>
            </a:pPr>
            <a:r>
              <a:rPr sz="1200">
                <a:solidFill>
                  <a:srgbClr val="EAEDF0"/>
                </a:solidFill>
                <a:latin typeface="Menlo"/>
              </a:rPr>
              <a:t>prob_stack &lt;- predict(stack_credito_fit,</a:t>
            </a:r>
          </a:p>
          <a:p>
            <a:pPr algn="l">
              <a:lnSpc>
                <a:spcPct val="108000"/>
              </a:lnSpc>
            </a:pPr>
            <a:r>
              <a:rPr sz="1200">
                <a:solidFill>
                  <a:srgbClr val="EAEDF0"/>
                </a:solidFill>
                <a:latin typeface="Menlo"/>
              </a:rPr>
              <a:t>                      new_data = credito_prueba,</a:t>
            </a:r>
          </a:p>
          <a:p>
            <a:pPr algn="l">
              <a:lnSpc>
                <a:spcPct val="108000"/>
              </a:lnSpc>
            </a:pPr>
            <a:r>
              <a:rPr sz="1200">
                <a:solidFill>
                  <a:srgbClr val="EAEDF0"/>
                </a:solidFill>
                <a:latin typeface="Menlo"/>
              </a:rPr>
              <a:t>                      type = "prob")</a:t>
            </a:r>
          </a:p>
          <a:p>
            <a:pPr algn="l">
              <a:lnSpc>
                <a:spcPct val="108000"/>
              </a:lnSpc>
            </a:pPr>
            <a:r>
              <a:rPr sz="1200">
                <a:solidFill>
                  <a:srgbClr val="EAEDF0"/>
                </a:solidFill>
                <a:latin typeface="Menlo"/>
              </a:rPr>
              <a:t> </a:t>
            </a:r>
          </a:p>
          <a:p>
            <a:pPr algn="l">
              <a:lnSpc>
                <a:spcPct val="108000"/>
              </a:lnSpc>
            </a:pPr>
            <a:r>
              <a:rPr sz="1200">
                <a:solidFill>
                  <a:srgbClr val="EAEDF0"/>
                </a:solidFill>
                <a:latin typeface="Menlo"/>
              </a:rPr>
              <a:t>credito_prueba %&gt;%</a:t>
            </a:r>
          </a:p>
          <a:p>
            <a:pPr algn="l">
              <a:lnSpc>
                <a:spcPct val="108000"/>
              </a:lnSpc>
            </a:pPr>
            <a:r>
              <a:rPr sz="1200">
                <a:solidFill>
                  <a:srgbClr val="EAEDF0"/>
                </a:solidFill>
                <a:latin typeface="Menlo"/>
              </a:rPr>
              <a:t>  select(aprobado) %&gt;%</a:t>
            </a:r>
          </a:p>
          <a:p>
            <a:pPr algn="l">
              <a:lnSpc>
                <a:spcPct val="108000"/>
              </a:lnSpc>
            </a:pPr>
            <a:r>
              <a:rPr sz="1200">
                <a:solidFill>
                  <a:srgbClr val="EAEDF0"/>
                </a:solidFill>
                <a:latin typeface="Menlo"/>
              </a:rPr>
              <a:t>  bind_cols(prob_stack) %&gt;%</a:t>
            </a:r>
          </a:p>
          <a:p>
            <a:pPr algn="l">
              <a:lnSpc>
                <a:spcPct val="108000"/>
              </a:lnSpc>
            </a:pPr>
            <a:r>
              <a:rPr sz="1200">
                <a:solidFill>
                  <a:srgbClr val="EAEDF0"/>
                </a:solidFill>
                <a:latin typeface="Menlo"/>
              </a:rPr>
              <a:t>  roc_auc(truth = aprobado, .pred_no)</a:t>
            </a:r>
          </a:p>
        </p:txBody>
      </p:sp>
      <p:sp>
        <p:nvSpPr>
          <p:cNvPr id="9" name="Rectangle 8"/>
          <p:cNvSpPr/>
          <p:nvPr/>
        </p:nvSpPr>
        <p:spPr>
          <a:xfrm>
            <a:off x="274320" y="4553712"/>
            <a:ext cx="8595360" cy="1847088"/>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645152"/>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5029200"/>
            <a:ext cx="8302752" cy="1280160"/>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predict(type = "prob") da las probabilidades del stack; el mismo patrón se aplica a cada modelo individual.</a:t>
            </a:r>
          </a:p>
          <a:p>
            <a:pPr algn="l">
              <a:lnSpc>
                <a:spcPct val="132000"/>
              </a:lnSpc>
            </a:pPr>
            <a:r>
              <a:rPr sz="1300" b="0" i="0">
                <a:solidFill>
                  <a:srgbClr val="000000"/>
                </a:solidFill>
                <a:latin typeface="Ubuntu"/>
              </a:rPr>
              <a:t>- roc_auc resume con un número (0.5 = azar, 1 = perfecto) el poder de discriminación, sin depender de un umbral.</a:t>
            </a:r>
          </a:p>
          <a:p>
            <a:pPr algn="l">
              <a:lnSpc>
                <a:spcPct val="132000"/>
              </a:lnSpc>
            </a:pPr>
            <a:r>
              <a:rPr sz="1300" b="0" i="0">
                <a:solidFill>
                  <a:srgbClr val="000000"/>
                </a:solidFill>
                <a:latin typeface="Ubuntu"/>
              </a:rPr>
              <a:t>- El STACK suele igualar o superar al mejor individual: ahí se ve el valor de combinar modelos diversos.</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20 - Otros modelos y ensambles  -  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dbscan() + kNNdistplot()</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Del ejercicio de CLUSTERING: un tercer tipo de modelo, agrupamiento por densidad (no supervisado).</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860803"/>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641347"/>
          </a:xfrm>
          <a:prstGeom prst="rect">
            <a:avLst/>
          </a:prstGeom>
          <a:noFill/>
        </p:spPr>
        <p:txBody>
          <a:bodyPr wrap="none" lIns="0" rIns="0" tIns="0" bIns="0">
            <a:spAutoFit/>
          </a:bodyPr>
          <a:lstStyle/>
          <a:p>
            <a:pPr algn="l">
              <a:lnSpc>
                <a:spcPct val="108000"/>
              </a:lnSpc>
            </a:pPr>
            <a:r>
              <a:rPr sz="1200">
                <a:solidFill>
                  <a:srgbClr val="8CA68C"/>
                </a:solidFill>
                <a:latin typeface="Menlo"/>
              </a:rPr>
              <a:t># elegir eps: codo de la curva de distancias al k-ésimo vecino</a:t>
            </a:r>
          </a:p>
          <a:p>
            <a:pPr algn="l">
              <a:lnSpc>
                <a:spcPct val="108000"/>
              </a:lnSpc>
            </a:pPr>
            <a:r>
              <a:rPr sz="1200">
                <a:solidFill>
                  <a:srgbClr val="EAEDF0"/>
                </a:solidFill>
                <a:latin typeface="Menlo"/>
              </a:rPr>
              <a:t>kNNdistplot(matriz_norm, k = min_pts)</a:t>
            </a:r>
          </a:p>
          <a:p>
            <a:pPr algn="l">
              <a:lnSpc>
                <a:spcPct val="108000"/>
              </a:lnSpc>
            </a:pPr>
            <a:r>
              <a:rPr sz="1200">
                <a:solidFill>
                  <a:srgbClr val="EAEDF0"/>
                </a:solidFill>
                <a:latin typeface="Menlo"/>
              </a:rPr>
              <a:t>abline(h = 1.0, lty = 2, col = "red")</a:t>
            </a:r>
          </a:p>
          <a:p>
            <a:pPr algn="l">
              <a:lnSpc>
                <a:spcPct val="108000"/>
              </a:lnSpc>
            </a:pPr>
            <a:r>
              <a:rPr sz="1200">
                <a:solidFill>
                  <a:srgbClr val="EAEDF0"/>
                </a:solidFill>
                <a:latin typeface="Menlo"/>
              </a:rPr>
              <a:t> </a:t>
            </a:r>
          </a:p>
          <a:p>
            <a:pPr algn="l">
              <a:lnSpc>
                <a:spcPct val="108000"/>
              </a:lnSpc>
            </a:pPr>
            <a:r>
              <a:rPr sz="1200">
                <a:solidFill>
                  <a:srgbClr val="EAEDF0"/>
                </a:solidFill>
                <a:latin typeface="Menlo"/>
              </a:rPr>
              <a:t>set.seed(2020)</a:t>
            </a:r>
          </a:p>
          <a:p>
            <a:pPr algn="l">
              <a:lnSpc>
                <a:spcPct val="108000"/>
              </a:lnSpc>
            </a:pPr>
            <a:r>
              <a:rPr sz="1200">
                <a:solidFill>
                  <a:srgbClr val="EAEDF0"/>
                </a:solidFill>
                <a:latin typeface="Menlo"/>
              </a:rPr>
              <a:t>modelo_dbscan &lt;- dbscan(matriz_norm, eps = 1.0,</a:t>
            </a:r>
          </a:p>
          <a:p>
            <a:pPr algn="l">
              <a:lnSpc>
                <a:spcPct val="108000"/>
              </a:lnSpc>
            </a:pPr>
            <a:r>
              <a:rPr sz="1200">
                <a:solidFill>
                  <a:srgbClr val="EAEDF0"/>
                </a:solidFill>
                <a:latin typeface="Menlo"/>
              </a:rPr>
              <a:t>                        minPts = 5)</a:t>
            </a:r>
          </a:p>
        </p:txBody>
      </p:sp>
      <p:sp>
        <p:nvSpPr>
          <p:cNvPr id="9" name="Rectangle 8"/>
          <p:cNvSpPr/>
          <p:nvPr/>
        </p:nvSpPr>
        <p:spPr>
          <a:xfrm>
            <a:off x="274320" y="4329683"/>
            <a:ext cx="8595360" cy="2071116"/>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421123"/>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805171"/>
            <a:ext cx="8302752" cy="1504188"/>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DBSCAN agrupa por DENSIDAD: no fija k, descubre tantos grupos como regiones densas haya y marca como RUIDO (cluster 0) los puntos aislados.</a:t>
            </a:r>
          </a:p>
          <a:p>
            <a:pPr algn="l">
              <a:lnSpc>
                <a:spcPct val="132000"/>
              </a:lnSpc>
            </a:pPr>
            <a:r>
              <a:rPr sz="1300" b="0" i="0">
                <a:solidFill>
                  <a:srgbClr val="000000"/>
                </a:solidFill>
                <a:latin typeface="Ubuntu"/>
              </a:rPr>
              <a:t>- eps = radio de vecindad; minPts = mínimo de puntos en ese radio para considerar densa una zona.</a:t>
            </a:r>
          </a:p>
          <a:p>
            <a:pPr algn="l">
              <a:lnSpc>
                <a:spcPct val="132000"/>
              </a:lnSpc>
            </a:pPr>
            <a:r>
              <a:rPr sz="1300" b="0" i="0">
                <a:solidFill>
                  <a:srgbClr val="000000"/>
                </a:solidFill>
                <a:latin typeface="Ubuntu"/>
              </a:rPr>
              <a:t>- kNNdistplot() ayuda a elegir eps: el 'codo' de esa curva (cerca de 1.0 aquí) separa puntos densos de aislados. Es el único que detecta outliers.</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20 - Otros modelos y ensambles  -  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Resumen: comparar modelos y combinarlos</a:t>
            </a:r>
          </a:p>
        </p:txBody>
      </p:sp>
      <p:sp>
        <p:nvSpPr>
          <p:cNvPr id="5" name="Rectangle 4"/>
          <p:cNvSpPr/>
          <p:nvPr/>
        </p:nvSpPr>
        <p:spPr>
          <a:xfrm>
            <a:off x="274320" y="1188720"/>
            <a:ext cx="8595360" cy="493776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0624" y="1280160"/>
            <a:ext cx="8302752" cy="365760"/>
          </a:xfrm>
          <a:prstGeom prst="rect">
            <a:avLst/>
          </a:prstGeom>
          <a:noFill/>
        </p:spPr>
        <p:txBody>
          <a:bodyPr wrap="square" lIns="0" rIns="0" tIns="0" bIns="0">
            <a:spAutoFit/>
          </a:bodyPr>
          <a:lstStyle/>
          <a:p>
            <a:pPr algn="l"/>
            <a:r>
              <a:rPr sz="1800" b="1" i="0">
                <a:solidFill>
                  <a:srgbClr val="1A7A3A"/>
                </a:solidFill>
                <a:latin typeface="Ubuntu"/>
              </a:rPr>
              <a:t>Ideas clave para llevarte</a:t>
            </a:r>
          </a:p>
        </p:txBody>
      </p:sp>
      <p:sp>
        <p:nvSpPr>
          <p:cNvPr id="7" name="TextBox 6"/>
          <p:cNvSpPr txBox="1"/>
          <p:nvPr/>
        </p:nvSpPr>
        <p:spPr>
          <a:xfrm>
            <a:off x="420624" y="1664208"/>
            <a:ext cx="8302752" cy="4370832"/>
          </a:xfrm>
          <a:prstGeom prst="rect">
            <a:avLst/>
          </a:prstGeom>
          <a:noFill/>
        </p:spPr>
        <p:txBody>
          <a:bodyPr wrap="square" lIns="0" rIns="0" tIns="0" bIns="0">
            <a:spAutoFit/>
          </a:bodyPr>
          <a:lstStyle/>
          <a:p>
            <a:pPr algn="l">
              <a:lnSpc>
                <a:spcPct val="150000"/>
              </a:lnSpc>
            </a:pPr>
            <a:r>
              <a:rPr sz="1500" b="0" i="0">
                <a:solidFill>
                  <a:srgbClr val="000000"/>
                </a:solidFill>
                <a:latin typeface="Ubuntu"/>
              </a:rPr>
              <a:t>- decision_tree(): un árbol, interpretable pero inestable (alta varianza).</a:t>
            </a:r>
          </a:p>
          <a:p>
            <a:pPr algn="l">
              <a:lnSpc>
                <a:spcPct val="150000"/>
              </a:lnSpc>
            </a:pPr>
            <a:r>
              <a:rPr sz="1500" b="0" i="0">
                <a:solidFill>
                  <a:srgbClr val="000000"/>
                </a:solidFill>
                <a:latin typeface="Ubuntu"/>
              </a:rPr>
              <a:t>- rand_forest() = BAGGING: muchos árboles en paralelo; reduce la VARIANZA. boost_tree() = BOOSTING: árboles en secuencia; reduce el SESGO.</a:t>
            </a:r>
          </a:p>
          <a:p>
            <a:pPr algn="l">
              <a:lnSpc>
                <a:spcPct val="150000"/>
              </a:lnSpc>
            </a:pPr>
            <a:r>
              <a:rPr sz="1500" b="0" i="0">
                <a:solidFill>
                  <a:srgbClr val="000000"/>
                </a:solidFill>
                <a:latin typeface="Ubuntu"/>
              </a:rPr>
              <a:t>- logistic_reg(penalty, mixture) regulariza: lasso (L1) selecciona variables, ridge (L2) encoge, elastic net mezcla.</a:t>
            </a:r>
          </a:p>
          <a:p>
            <a:pPr algn="l">
              <a:lnSpc>
                <a:spcPct val="150000"/>
              </a:lnSpc>
            </a:pPr>
            <a:r>
              <a:rPr sz="1500" b="0" i="0">
                <a:solidFill>
                  <a:srgbClr val="000000"/>
                </a:solidFill>
                <a:latin typeface="Ubuntu"/>
              </a:rPr>
              <a:t>- El STACKING (stacks -&gt; add_candidates -&gt; blend_predictions -&gt; fit_members) deja que un meta-modelo combine a los demás; guarda las predicciones con control_stack_grid().</a:t>
            </a:r>
          </a:p>
          <a:p>
            <a:pPr algn="l">
              <a:lnSpc>
                <a:spcPct val="150000"/>
              </a:lnSpc>
            </a:pPr>
            <a:r>
              <a:rPr sz="1500" b="0" i="0">
                <a:solidFill>
                  <a:srgbClr val="000000"/>
                </a:solidFill>
                <a:latin typeface="Ubuntu"/>
              </a:rPr>
              <a:t>- Decide siempre con la métrica adecuada (roc_auc), comparando en la PRUEBA. Ver prompt_estudiante.md para usar un LLM como copiloto al comparar modelos y justificar tu elección.</a:t>
            </a:r>
          </a:p>
        </p:txBody>
      </p:sp>
      <p:sp>
        <p:nvSpPr>
          <p:cNvPr id="8" name="TextBox 7"/>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20 - Otros modelos y ensambles  -  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0584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5486400" cy="548640"/>
          </a:xfrm>
          <a:prstGeom prst="rect">
            <a:avLst/>
          </a:prstGeom>
          <a:noFill/>
        </p:spPr>
        <p:txBody>
          <a:bodyPr wrap="square" lIns="0" rIns="0" tIns="0" bIns="0" anchor="ctr">
            <a:spAutoFit/>
          </a:bodyPr>
          <a:lstStyle/>
          <a:p>
            <a:pPr algn="l"/>
            <a:r>
              <a:rPr sz="2000" b="1" i="0">
                <a:solidFill>
                  <a:srgbClr val="1E4C7D"/>
                </a:solidFill>
                <a:latin typeface="Ubuntu"/>
              </a:rPr>
              <a:t>Tecnológico de Monterrey</a:t>
            </a:r>
          </a:p>
        </p:txBody>
      </p:sp>
      <p:sp>
        <p:nvSpPr>
          <p:cNvPr id="5" name="Rectangle 4"/>
          <p:cNvSpPr/>
          <p:nvPr/>
        </p:nvSpPr>
        <p:spPr>
          <a:xfrm>
            <a:off x="0" y="1005840"/>
            <a:ext cx="9144000" cy="3291840"/>
          </a:xfrm>
          <a:prstGeom prst="rect">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8046720" cy="1828800"/>
          </a:xfrm>
          <a:prstGeom prst="rect">
            <a:avLst/>
          </a:prstGeom>
          <a:noFill/>
        </p:spPr>
        <p:txBody>
          <a:bodyPr wrap="square" lIns="0" rIns="0" tIns="0" bIns="0">
            <a:spAutoFit/>
          </a:bodyPr>
          <a:lstStyle/>
          <a:p>
            <a:pPr algn="ctr"/>
            <a:r>
              <a:rPr sz="8000" b="1" i="0">
                <a:solidFill>
                  <a:srgbClr val="1E4C7D"/>
                </a:solidFill>
                <a:latin typeface="Ubuntu"/>
              </a:rPr>
              <a:t>Gracias</a:t>
            </a:r>
          </a:p>
        </p:txBody>
      </p:sp>
      <p:sp>
        <p:nvSpPr>
          <p:cNvPr id="7" name="Rectangle 6"/>
          <p:cNvSpPr/>
          <p:nvPr/>
        </p:nvSpPr>
        <p:spPr>
          <a:xfrm>
            <a:off x="2743200" y="5029200"/>
            <a:ext cx="3657600" cy="91440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0" y="5029200"/>
            <a:ext cx="3657600" cy="914400"/>
          </a:xfrm>
          <a:prstGeom prst="rect">
            <a:avLst/>
          </a:prstGeom>
          <a:noFill/>
        </p:spPr>
        <p:txBody>
          <a:bodyPr wrap="square" lIns="0" rIns="0" tIns="0" bIns="0" anchor="ctr">
            <a:spAutoFit/>
          </a:bodyPr>
          <a:lstStyle/>
          <a:p>
            <a:pPr algn="ctr"/>
            <a:r>
              <a:rPr sz="2800" b="1" i="0">
                <a:solidFill>
                  <a:srgbClr val="FFFFFF"/>
                </a:solidFill>
                <a:latin typeface="Ubuntu"/>
              </a:rPr>
              <a:t>¿Preguntas?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