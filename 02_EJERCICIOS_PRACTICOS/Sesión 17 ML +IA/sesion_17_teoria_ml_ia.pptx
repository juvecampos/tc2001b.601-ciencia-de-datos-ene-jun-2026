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Machine Learning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e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Sesión 17 · Cómo las computadoras aprenden de datos para tomar decisiones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Tecnológico de Monterrey  ·  TC2001B.601 Ciencia de datos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Prof. Jorge Juvenal Campos Ferreira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¿Qué es la Inteligencia Artificial?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¿Cómo aprende una máquina?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Clasificación vs regresión a fondo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flujo de un proyecto de ciencia de datos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¿Cómo se mide un modelo de regresión?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Sobreajuste y honestidad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IA generativa como copiloto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¿Qué es la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Inteligencia Artificial?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IA, Machine Learning y aprendizaje profundo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IA, Machine Learning y aprendizaje profundo</a:t>
            </a:r>
          </a:p>
        </p:txBody>
      </p:sp>
      <p:pic>
        <p:nvPicPr>
          <p:cNvPr id="5" name="Picture 4" descr="01_circulos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20" y="1234440"/>
            <a:ext cx="5270159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ML es un subconjunto de la IA; el aprendizaje profundo es un subconjunto del ML.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Cuando escuchas 'IA', casi siempre se habla de Machine Learning. Cuando escuchas 'redes neuronales', es aprendizaje profundo.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la Inteligencia Artificial?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IA es el campo de la computación que busca crear sistemas capaces de realizar tareas que normalmente requieren inteligencia humana: entender texto, reconocer imágenes, traducir idiomas, recomendar películas o detectar fraudes.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La IA es enseñarle a una computadora a hacer cosas que antes solo podía hacer un humano.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Ejemplos de IA en tu vida cotidiana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IA que ya usas todos los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Filtro de spam: tu correo aprende cuáles mensajes son basura.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Recomendaciones: Netflix sugiere series según lo que ya viste.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Asistentes de voz: Siri o Google entienden tu pregunta hablada.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Autocompletado: el teclado adivina la siguiente palabra.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Reconocimiento de cara: tu teléfono sabe que eres tú.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el Machine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Machine Learning (aprendizaje automático) es una rama de la IA donde los sistemas APRENDEN de datos, sin que el programador escriba reglas explícitas. En vez de programar 'si tiene fiebre y tos, es gripe', el modelo extrae ese patrón solo a partir de miles de casos.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En lugar de darle reglas a la computadora, le damos muchos ejemplos y ella descubre las reglas sola.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IA tradicional vs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La diferencia clave: reglas escritas a mano vs patrones aprendidos de datos.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85953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IA tradicional (reglas)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Machine Learning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¿Quién escribe las reglas?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El programador, a mano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El modelo las aprende de los datos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¿Qué pasa con casos nuevos?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Si no está en las reglas, falla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Generaliza si aprendió bien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¿Qué necesita?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Expertos que conozcan el dominio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Muchos datos etiquetados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Ejemplo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Árbol de decisión de crédito
hecho por analistas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KNN que aprende de solicitudes
pasadas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¿Cómo aprende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una máquina?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De datos a patrones: los tres tipos de aprendizaje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Tres tipos de aprendizaje automático</a:t>
            </a:r>
          </a:p>
        </p:txBody>
      </p:sp>
      <p:pic>
        <p:nvPicPr>
          <p:cNvPr id="5" name="Picture 4" descr="02_tres_t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425"/>
            <a:ext cx="8229600" cy="3827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Supervisado, no supervisado y por refuerzo: tres formas de aprender.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En este curso usamos aprendizaje SUPERVISADO: tenemos datos con la respuesta ya conocida y entrenamos el modelo con ellos.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Aprendizaje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modelo aprende de ejemplos donde YA conocemos la respuesta. Cada dato de entrenamiento tiene una 'etiqueta': la respuesta correcta. El modelo ajusta sus parámetros para predecir bien esas etiquetas y luego generaliza a casos nuevos.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estudiar con un solucionario: ves el problema Y la respuesta. Después resuelves problemas nuevos solito.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Aprendizaje no supervisado y por refuerzo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Ambos tipos existen, pero en este curso nos centramos en el aprendizaje supervisado.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No supervisado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4251960" cy="3794759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Los datos NO traen etiqueta.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El modelo busca estructura: grupos naturales (clustering), patrones ocultos, reducción de dimensiones.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Ejemplo: agrupar clientes sin saber de antemano sus categorías.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C9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Por refuerzo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94560"/>
            <a:ext cx="4251960" cy="3794759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 agente aprende por prueba y error: recibe premios cuando acierta y castigos cuando falla.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Ejemplo: el modelo de ajedrez AlphaGo aprendió solo jugando millones de partidas contra sí mismo.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Analogía: aprender a cocinar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7D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D3C66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Supervisado: cocinas siguiendo una receta con foto del resultado esperado. Después de muchas recetas, ya sabes improvisar.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No supervisado: entras a una cocina llena de ingredientes sin receta y los agrupas por tipo (frutas, verduras, carnes).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Por refuerzo: cocinas, pruebas, ajustas. Si sabe rico, repites; si sabe mal, cambias.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Clasificación vs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regresión a fondo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Los dos problemas del día: seguro de vida y costo médico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Clasificación vs regresión: la diferencia central</a:t>
            </a:r>
          </a:p>
        </p:txBody>
      </p:sp>
      <p:pic>
        <p:nvPicPr>
          <p:cNvPr id="5" name="Picture 4" descr="03_clasif_regr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74" y="1234440"/>
            <a:ext cx="790365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 respuesta que buscamos cambia el tipo de problema y el modelo que usamos.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Clasificación: predecir una CATEGORÍA (aprobada / no aprobada). Regresión: predecir un NÚMERO (costo médico en pesos).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Problema 1: seguro de vida (clasificación)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Una aseguradora recibe 880 solicitudes de póliza de seguro de vida. Para cada solicitante conocemos: edad, sexo, IMC, si fuma, padecimientos previos, presión, colesterol, antecedentes familiares y región.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Queremos predecir: ¿se aprobará esta póliza? (sí / 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Tenemos el expediente médico de 880 personas y sabemos cuáles ya fueron aprobadas. Queremos aprender ese patrón para clasificar casos nuevos.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Problema 2: costo médico anual (regresión)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Una aseguradora médica tiene datos de 1,050 pacientes: edad, sexo, IMC, hijos, si fuma, región, actividad física y número de consultas.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Queremos predecir: ¿cuánto costará médicamente este paciente al año? (entre $6,000 y $320,000 MXN)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Ya sabemos el costo de 1,050 pacientes del año pasado. Queremos predecir el costo de pacientes nuevos para planear el presupuesto de la aseguradora.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principal predictor: ¿fumas?</a:t>
            </a:r>
          </a:p>
        </p:txBody>
      </p:sp>
      <p:pic>
        <p:nvPicPr>
          <p:cNvPr id="5" name="Picture 4" descr="11_fumador_co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74" y="1234440"/>
            <a:ext cx="592885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Los fumadores generan costos médicos mucho más altos que los no fumadores.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Esta variable sola separa claramente los costos. Un buen modelo debe capturar este patrón.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Dataset regresion/datos.csv — 1,050 pacientes simulados.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El flujo de un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proyecto de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Datos -&gt; Preparar -&gt; Entrenar -&gt; Evaluar -&gt; Usar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De los datos a la decisión: el flujo completo</a:t>
            </a:r>
          </a:p>
        </p:txBody>
      </p:sp>
      <p:pic>
        <p:nvPicPr>
          <p:cNvPr id="5" name="Picture 4" descr="04_flujo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5971"/>
            <a:ext cx="8229600" cy="3460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paso depende del anterior; saltarse uno arruina el resultado.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paso más importante NO es el modelo: es preparar bien los datos. 'Basura entra, basura sale'.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Paso 1: explorar y limpiar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Antes de entrenar cualquier modelo, hay que conocer los datos.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Entender la variable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¿Es categórica (clasificación) o numérica (regresión)? ¿Está balanceada? ¿Tiene sesgo?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Detectar valores faltantes (NAs)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colesterol tiene ~5% de NAs; IMC tiene ~4%. Hay que imputarlos antes de modelar.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Revisar colinealidad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Presión y colesterol están correlacionados con la edad. Variables redundantes pueden dañar el modelo.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Escala de las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Edad en decenas, colesterol en cientos. Para KNN es crítico normalizar; sin eso la distancia es falsa.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Paso 2: preparar (receta de preprocesamiento)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El orden de los pasos importa: cada uno prepara el terreno para el siguiente.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Imputar 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Rellenar valores faltantes con la mediana. Va primero porque los pasos siguientes no toleran huecos.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Quitar varianza casi nula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Predictores que casi no cambian no ayudan a distinguir casos.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Filtrar redundantes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Quitar variables con correlación &gt; 0.7 para no contar lo mismo dos veces.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Normalizar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Poner todas las variables en la misma escala (media 0, desv. 1). INDISPENSABLE para KNN.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Codificar categóricas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Convertir texto (fumador: si/no) a números (0/1) para que el modelo los pueda usar.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Pasos 3 y 4: entrenar y evaluar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Nunca se evalúa un modelo con los mismos datos con que aprendió.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Separar entrenamiento / prueba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75% para que el modelo aprenda; 25% reservado como 'examen final' que el modelo NUNCA ve durante el entrenamiento.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Entrenar con validación cruzada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Usar los datos de entrenamiento en 5 rondas para elegir el mejor hiperparámetro (k) con honestidad.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el mejor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k con mejor desempeño en las 5 rondas de validación cruzada es el ganador.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Evaluación final honesta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Abrir la 'caja fuerte' (base de prueba) una sola vez y medir el desempeño real del modelo.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¿Cómo se mide un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modelo de regresión?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Error, RMSE, MAE, R² y el problema del sesgo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error (residual): la distancia entre real y predicho</a:t>
            </a:r>
          </a:p>
        </p:txBody>
      </p:sp>
      <p:pic>
        <p:nvPicPr>
          <p:cNvPr id="5" name="Picture 4" descr="06_residu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91" y="1234440"/>
            <a:ext cx="5552017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línea vertical es el error del modelo para un paciente.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objetivo del modelo es minimizar esos errores. Un error = 0 significa predicción perfecta (poco probable en la práctica).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RMSE y MAE: dos formas de resumir el error</a:t>
            </a:r>
          </a:p>
        </p:txBody>
      </p:sp>
      <p:pic>
        <p:nvPicPr>
          <p:cNvPr id="5" name="Picture 4" descr="07_rms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58" y="1234440"/>
            <a:ext cx="584728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RMSE castiga más los errores grandes; MAE los trata por igual.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Para el costo médico, el RMSE es más sensible a los pacientes muy caros (los outliers de la cola larga).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el RMSE?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RMSE = Raíz del Error Cuadrático Medio.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Se calcula elevando cada error al cuadrado, promediándolos y sacando la raíz. Por elevar al cuadrado, los errores grandes pesan MUCHO más que los chicos.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Se mide en las mismas unidades que la variable objetivo (pesos, kilos, años...).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RMSE es como un promedio del error, pero los errores grandes se castigan el doble. Un RMSE de $15,000 MXN significa que en promedio te equivocas en 15 mil pesos.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R²: ¿cuánta variación explica el modelo?</a:t>
            </a:r>
          </a:p>
        </p:txBody>
      </p:sp>
      <p:pic>
        <p:nvPicPr>
          <p:cNvPr id="5" name="Picture 4" descr="08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13" y="1234440"/>
            <a:ext cx="809557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R² compara la variación sin modelo vs la variación que queda después del modelo.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R² = 1.0 es predicción perfecta. R² = 0.0 significa que el modelo no ayuda nada. R² puede ser negativo si el modelo es peor que predecir siempre la media.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problema del sesgo: por qué transformamos el costo</a:t>
            </a:r>
          </a:p>
        </p:txBody>
      </p:sp>
      <p:pic>
        <p:nvPicPr>
          <p:cNvPr id="5" name="Picture 4" descr="05_histograma_co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4086"/>
            <a:ext cx="8229600" cy="3744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A la derecha, unos pocos pacientes con costos altísimos distorsionan el modelo.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Solución: modelar log(costo). En escala logarítmica la distribución es más simétrica y el modelo ajusta mejor.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Dataset regresion/datos.csv — 1,050 pacientes.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¿Por qué molesta el sesgo al modelo?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Imagina que calculas el sueldo 'promedio' de tu salón: 29 alumnos ganan $5,000 y uno tiene un negocio y gana $500,000. El promedio da $21,700, que no representa a nadie.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Con el costo médico pasa lo mismo: unos pocos pacientes muy caros jalan el promedio hacia arriba y confunden al modelo.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Aplicar logaritmo 'aplana' la cola y le permite al modelo aprender el patrón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Sobreajuste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y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Entrenar vs evaluar: la diferencia crucial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sobreajuste: memorizar en vez de aprender</a:t>
            </a:r>
          </a:p>
        </p:txBody>
      </p:sp>
      <p:pic>
        <p:nvPicPr>
          <p:cNvPr id="5" name="Picture 4" descr="09_sobreaju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78" y="1234440"/>
            <a:ext cx="646004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Con k muy pequeño el modelo memoriza; con k muy grande simplifica demasiado.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error en datos NUEVOS es el que importa. El punto óptimo de k minimiza ese error, no el de entrenamiento.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Sobreajuste vs subajuste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Sobreajuste (overfitting): el modelo aprende los datos de entrenamiento tan bien que hasta aprende el ruido aleatorio. Funciona perfecto en lo que ya vio, pero falla con datos nuevos.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Subajuste (underfitting): el modelo es tan simple que no captura los patrones reales, ni en entrenamiento ni en datos nuevos.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Sobreajustar = aprenderte las preguntas del examen de práctica al pie de la letra. Si el examen real cambia una coma, repruebas. Subajustar = no estudiar nada.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Validación cruzada: elegir con honestidad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La validación cruzada nos permite explorar muchos k sin contaminar la evaluación final.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Partir el entrenamiento en 5 bloques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Nunca tocamos la base de prueba para elegir el mejor k.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Entrenar con 4 bloques, validar con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bloque de validación actúa como 'mini-examen'.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Rotar 5 veces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bloque es el de validación exactamente una vez.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Promediar las 5 puntuaciones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promedio da una estimación estable y honesta.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el k con mejor promedio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Ese es el k ganador. Solo entonces abrimos la caja fuerte y evaluamos sobre la prueba.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gran trampa: evaluar con los datos de entrenamiento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Error que NUNCA hay que cometer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Si calificamos el modelo con los mismos datos con que aprendió, siempre obtendrá una calificación perfecta o casi perfecta. ¡Ya vio las respuestas!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Es como darle al alumno el examen con las respuestas y luego decir que sacó 10. No prueba nada.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La regla de oro: el conjunto de prueba se abre UNA SOLA VEZ, al final, para la evaluación definitiva.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La IA generativa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como copiloto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Modelos de lenguaje, usos y límites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un modelo de lenguaje grande (LLM)?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 LLM (Large Language Model) es un modelo de ML entrenado con enormes volúmenes de texto para predecir la siguiente palabra. ChatGPT, Gemini y Claude son ejemplos. Generan texto convincente porque aprendieron patrones del lenguaje humano, no porque 'entiendan' ni 'piensen'.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Un LLM es como un estudiante que leyó toda internet y aprendió a continuar cualquier frase de manera coherente. Es muy bueno para redactar, pero puede inventar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IA generativa como copiloto: el flujo correcto</a:t>
            </a:r>
          </a:p>
        </p:txBody>
      </p:sp>
      <p:pic>
        <p:nvPicPr>
          <p:cNvPr id="5" name="Picture 4" descr="10_co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6420"/>
            <a:ext cx="8229600" cy="3799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Tú preguntas, el modelo sugiere, TÚ verificas y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modelo puede estar equivocado o desactualizado. Quien toma la decisión final SIEMPRE eres tú.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¿Para qué SÍ y para qué NO usar un LLM en ciencia de datos?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Un LLM es un asistente poderoso, no un oráculo infalible.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Sí ayuda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4251960" cy="3794759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Explicar un concepto con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otras palabras.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Sugerir código en R o Python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que luego debes verificar.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Revisar ortografía y redacción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de reportes.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Generar ideas de visualizaciones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o estructura de análisis.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No reemplaza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94560"/>
            <a:ext cx="4251960" cy="379475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Inventar datos que no tienes.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Verificar si un resultado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estadístico es correcto.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Decidir en lugar de ti.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Garantizar que el código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funcione (puede haber errores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sutiles que hay que revisar).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Ética y buenas prácticas al usar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Buenas prácticas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No inventes datos: si no tienes el dato, escribe 'dato no disponible'. Inventar datos es fraude.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No copies código sin entenderlo: si no sabes qué hace, no lo uses. Puede tener errores ocultos.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Cita si usaste IA: en trabajos académicos menciona qué usaste y qué verificaste.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Los sesgos se heredan: si los datos del LLM tienen sesgos, sus respuestas también.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Resumen: conceptos clave de la sesión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Concepto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¿Qué es?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Ejemplo en la sesión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Machine Learning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Aprender patrones de datos sin
programar reglas explícitas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KNN que aprende de 880
solicitudes de seguro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Clasificación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Predecir una categoría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Aprobada: sí / no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Regresión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Predecir un número continuo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Costo médico anual (MXN)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RMSE / MAE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Métricas de error en regresión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Error en pesos del costo predicho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R²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Proporción de variación explicada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¿Qué tanto explica el modelo?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Sobreajuste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Memorizar en vez de generalizar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k=1 en KNN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LLM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Modelo de lenguaje grande (IA generativa)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ChatGPT, Claude, Gemini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La IA incluye al Machine Learning; el ML aprende de datos sin reglas escritas a mano.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Clasificación predice categorías; regresión predice números: son los dos problemas del día.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El flujo completo es: datos -&gt; preparar -&gt; entrenar -&gt; evaluar -&gt; usar. El orden importa.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RMSE castiga errores grandes; MAE los trata igual. R² mide la proporción de variación explicada.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La variable objetivo sesgada se transforma con logaritmo para mejorar el ajuste del modelo.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Sobreajustar es memorizar; la validación cruzada permite elegir el modelo con honestidad.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Los LLM son copilotos poderosos: siempre verifica antes de aceptar su respuesta.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· Machine Learning e IA  - 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