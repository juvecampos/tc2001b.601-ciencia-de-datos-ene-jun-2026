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E4C7D"/>
                </a:solidFill>
                <a:latin typeface="Ubuntu"/>
              </a:rPr>
              <a:t>Tecnológico de Monterrey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9144000" cy="329184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046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E4C7D"/>
                </a:solidFill>
                <a:latin typeface="Ubuntu"/>
              </a:rPr>
              <a:t>Sesión 18: Aprendizaje no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E4C7D"/>
                </a:solidFill>
                <a:latin typeface="Ubuntu"/>
              </a:rPr>
              <a:t>supervisado (clustering + PCA)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1E4C7D"/>
                </a:solidFill>
                <a:latin typeface="Ubuntu"/>
              </a:rPr>
              <a:t>Las funciones de R que usamos, una por una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8046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00000"/>
                </a:solidFill>
                <a:latin typeface="Ubuntu"/>
              </a:rPr>
              <a:t>TC2001B.601 - Ciencia de datos para la toma de decisiones I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00000"/>
                </a:solidFill>
                <a:latin typeface="Ubuntu"/>
              </a:rPr>
              <a:t>Ejemplos tomados del ejercicio: perfil químico de vinos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126480"/>
            <a:ext cx="1828800" cy="4572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859536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8321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Ubuntu"/>
              </a:rPr>
              <a:t>Sin variable objetivo: descubrir estructura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8412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000000"/>
                </a:solidFill>
                <a:latin typeface="Ubuntu"/>
              </a:rPr>
              <a:t>En el aprendizaje NO supervisado no hay una 'y' que predecir, así que NO partimos en entrenamiento/prueba: no existe un acierto que medir. El objetivo es descubrir grupos y resumir la variabilidad. Estas son las funciones del ejercicio de vinos, en orden de uso.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560320"/>
            <a:ext cx="8595360" cy="338328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2651760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4C7D"/>
                </a:solidFill>
                <a:latin typeface="Ubuntu"/>
              </a:rPr>
              <a:t>Funciones que veremos, en orden de uso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3035808"/>
            <a:ext cx="8302752" cy="2816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1.  read_csv()  -  cargar los datos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2.  recipe() + step_impute_median() + step_normalize()  -  preparar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3.  prep() + bake()  -  obtener la matriz lista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4.  prcomp()  -  PCA (componentes principales)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5.  fviz_eig() / fviz_pca_biplot()  -  visualizar el PCA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6.  fviz_nbclust()  -  elegir k (codo y silueta)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7.  kmeans() + fviz_cluster()  -  agrupar y visualizar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8.  group_by() + summarise(across())  -  perfilar los grupos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9.  dist() + hclust() + cutree() + fviz_dend()  -  jerárquico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read_csv()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Carga el CSV como tibble. En vinos todas las columnas son atributos; no hay id ni objetivo que remover.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636776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417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8CA68C"/>
                </a:solidFill>
                <a:latin typeface="Menlo"/>
              </a:rPr>
              <a:t># Ejercicio de vinos: 600 muestras, sin id ni "y"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vinos &lt;- read_csv("datos.csv")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8CA68C"/>
                </a:solidFill>
                <a:latin typeface="Menlo"/>
              </a:rPr>
              <a:t># En el ejercicio de municipios SI hay un id que quitar: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municipios &lt;- read_csv("datos.csv") %&gt;%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select(-clave_municipio)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105656"/>
            <a:ext cx="8595360" cy="2295144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97096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581144"/>
            <a:ext cx="8302752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read_csv() (de readr) lee el archivo y lo deja como tibble, con tipos de columna inferidos.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Un identificador (clave_municipio) NO es un atributo: si se queda, entraría como variable más en el cálculo de distancias y distorsionaría los grupos. Por eso se remueve con select(-...).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En no supervisado NO se separa el objetivo: aquí no hay ninguno.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recipe()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Declara una receta SOLO de preprocesamiento (no hay modelo): la fórmula y la secuencia de pasos.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554480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receta_vinos &lt;- recipe(~ ., data = vinos) %&gt;%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step_impute_median(all_numeric_predictors()) %&gt;%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step_normalize(all_numeric_predictors())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023359"/>
            <a:ext cx="8595360" cy="23774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14799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498847"/>
            <a:ext cx="8302752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La fórmula ~ . (sin nada a la izquierda) significa 'no hay variable objetivo': todas las columnas son predictores. Es la marca del no supervisado.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Encadenamos pasos step_*() con %&gt;%; el ORDEN importa: primero imputar, porque los pasos siguientes no toleran NAs.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La receta es solo una RECETA: todavía no toca los datos.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step_impute_median()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Rellena los valores faltantes (NAs) de las variables numéricas con su mediana. Red de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554480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step_impute_median(all_numeric_predictors())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023359"/>
            <a:ext cx="8595360" cy="23774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14799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498847"/>
            <a:ext cx="8302752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Sustituye cada NA por la mediana de esa columna. En vinos no hay NAs, pero incluirlo es buena práctica del flujo.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La mediana es robusta a valores extremos: en municipios el ingreso es asimétrico (unos pocos muy ricos inflan la media), así que la mediana imputa mejor.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Importa porque los algoritmos de distancia y el PCA NO toleran NAs.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step_normalize()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Estandariza cada variable a media 0 y desviación 1. Es el paso CRÍTICO antes de PCA y clustering.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554480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step_normalize(all_numeric_predictors())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023359"/>
            <a:ext cx="8595360" cy="23774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14799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498847"/>
            <a:ext cx="8302752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El PCA maximiza varianza y el clustering mide distancias: ambos son SENSIBLES A LA ESCALA.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Sin normalizar, dioxido_azufre_total (cientos) aplastaría a cloruros o ácido cítrico (menos de 1): los grupos reflejarían las unidades, no la química real.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El z-score deja a todas las variables pesando por igual. Los parámetros (media y sd) se estiman al hacer prep().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prep() + bake()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prep() aprende los parámetros del preprocesamiento; bake() devuelve la matriz ya transformada.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2084831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8653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vinos_norm &lt;- receta_vinos %&gt;%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prep() %&gt;%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bake(new_data = NULL)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8CA68C"/>
                </a:solidFill>
                <a:latin typeface="Menlo"/>
              </a:rPr>
              <a:t># Verificación: cada columna con media ~0 y desv ~1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vinos_norm %&gt;%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summarise(across(everything(),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      list(media = mean, desv = sd)))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553712"/>
            <a:ext cx="8595360" cy="1847088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645152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5029200"/>
            <a:ext cx="830275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prep() recorre la receta y aprende los valores que necesita: las medianas de imputación y la media/sd de cada columna.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bake(new_data = NULL) aplica esos pasos a los mismos datos de la receta y entrega la matriz lista para prcomp() y kmeans().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Verificamos que media ~0 y desviación ~1 confirma que la normalización quedó bien.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prcomp()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Calcula el PCA: reexpresa las variables en componentes ortogonales, ordenados de mayor a menor varianza.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554480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pca_vinos &lt;- prcomp(vinos_norm,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       center = FALSE, scale. = FALSE)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8CA68C"/>
                </a:solidFill>
                <a:latin typeface="Menlo"/>
              </a:rPr>
              <a:t># Cargas: peso de cada variable en PC1 y PC2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cargas &lt;- pca_vinos$rotation[, 1:2] %&gt;% round(2)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023359"/>
            <a:ext cx="8595360" cy="23774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14799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498847"/>
            <a:ext cx="8302752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prcomp() crea ejes (componentes) que son combinaciones lineales de las variables originales; las primeras concentran lo esencial de la variabilidad.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center y scale. en FALSE porque YA normalizamos con la receta: no hay que escalar dos veces.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$rotation guarda las cargas: cuánto pesa cada variable en cada componente, clave para interpretar qué representa PC1 y PC2.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fviz_eig()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Dibuja el scree plot: el porcentaje de varianza explicada por cada componente principal.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554480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fviz_eig(pca_vinos, addlabels = TRUE,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barfill = "#1e4c7d",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barcolor = "#1e4c7d",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main = "Varianza explicada (scree)")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023359"/>
            <a:ext cx="8595360" cy="23774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14799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498847"/>
            <a:ext cx="8302752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fviz_eig() (del paquete factoextra) grafica la varianza explicada en orden decreciente.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Se lee buscando el 'codo': el punto a partir del cual añadir más componentes aporta poco. Ahí decidimos cuántas retener.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addlabels = TRUE escribe el porcentaje sobre cada barra para leerlo directo.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fviz_pca_biplot()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Proyecta las observaciones en el plano PC1-PC2 y superpone las variables como flechas.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554480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fviz_pca_biplot(pca_vinos,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   label = "var", col.var = "#d62828",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   col.ind = "#1e4c7d",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   alpha.ind = 0.4)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023359"/>
            <a:ext cx="8595360" cy="23774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14799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498847"/>
            <a:ext cx="8302752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Los puntos son las 600 muestras de vino; las flechas son las variables originales.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Variables con flechas casi paralelas están correlacionadas: aquí se ve juntas a las dos de dióxido de azufre (total contiene al libre).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label = "var" etiqueta solo las variables; col.ind / col.var fijan los colores de puntos y flechas.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fviz_nbclust(method="wss")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Método del codo: grafica la suma de cuadrados dentro de los grupos (WSS) para cada 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554480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set.seed(123)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fviz_nbclust(vinos_norm, kmeans,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method = "wss", nstart = 20) +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labs(title = "Método del codo (WSS)")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023359"/>
            <a:ext cx="8595360" cy="23774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14799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498847"/>
            <a:ext cx="8302752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Al aumentar k, la WSS siempre baja. Buscamos el 'codo': el k a partir del cual el descenso se vuelve marginal.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Recibe la matriz y la función de clustering (kmeans); nstart = 20 hace 20 arranques por cada k para estabilizar la curva.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set.seed() hace reproducible la aleatoriedad de los arranques.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fviz_nbclust(method="silhouette")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Método de la silueta: mide qué tan bien separados quedan los grupos para cada 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554480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set.seed(123)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fviz_nbclust(vinos_norm, kmeans,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method = "silhouette", nstart = 20) +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labs(title = "Método de la silueta")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023359"/>
            <a:ext cx="8595360" cy="23774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14799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498847"/>
            <a:ext cx="8302752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La silueta evalúa, para cada punto, qué tan cómodo está en su grupo vs. qué tan cerca queda del grupo vecino.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El k con silueta promedio MÁS ALTA es el preferido; suele desempatar cuando el codo es ambiguo.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Tras leer ambos diagnósticos, en vinos elegimos k =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kmeans()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Agrupa las observaciones en k grupos minimizando la distancia de cada punto al centroide de su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636776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417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set.seed(123)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k_elegido &lt;- 3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km_vinos &lt;- kmeans(vinos_norm,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      centers = k_elegido,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      nstart = 25)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km_vinos$size   # tamaño de cada grupo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105656"/>
            <a:ext cx="8595360" cy="2295144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97096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581144"/>
            <a:ext cx="8302752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centers = k fija de antemano el número de grupos (decidido con codo y silueta).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nstart = 25: k-means depende de la inicialización aleatoria de los centroides; probar 25 arranques y quedarse con el mejor evita caer en un óptimo local malo.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set.seed() garantiza reproducibilidad. $cluster guarda la etiqueta de grupo de cada observación.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fviz_cluster()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Visualiza los grupos de k-means proyectándolos sobre el plano PC1-PC2.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554480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fviz_cluster(km_vinos, data = vinos_norm,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geom = "point",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ellipse.type = "convex",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palette = c("#1e4c7d", "#2d7a7a",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            "#c97b2a"))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023359"/>
            <a:ext cx="8595360" cy="23774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14799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498847"/>
            <a:ext cx="8302752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factoextra usa internamente el PCA para mostrar grupos de muchas dimensiones en un plano de 2D.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ellipse.type = "convex" dibuja la envolvente de cada grupo, útil para ver solapamientos.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geom = "point" muestra solo los puntos (sin etiquetas), ideal con cientos de observaciones.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group_by() + summarise(across())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Perfila los grupos: calcula la media de cada variable ORIGINAL por cluster para interpretarlos.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860803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6413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vinos_perfilados &lt;- vinos %&gt;%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mutate(cluster = factor(km_vinos$cluster))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perfil_clusters &lt;- vinos_perfilados %&gt;%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group_by(cluster) %&gt;%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summarise(across(everything(), mean),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n = n())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329683"/>
            <a:ext cx="8595360" cy="2071116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421123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805171"/>
            <a:ext cx="8302752" cy="15041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mutate() pega la etiqueta de grupo a los datos en sus unidades originales (no las normalizadas), para leer cifras reales.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group_by(cluster) + summarise() resume cada grupo; across(everything(), mean) aplica la media a TODAS las columnas de una vez.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Comparando las medias se nombra cada grupo: p. ej. 'vinos secos y alcohólicos' vs. 'dulces con mucho azufre'.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dist() + hclust()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Clustering jerárquico: construye un árbol fusionando observaciones por cercanía, sin fijar k de antemano.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554480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dist_vinos &lt;- dist(vinos_norm,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      method = "euclidean")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hc_vinos &lt;- hclust(dist_vinos,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         method = "ward.D2")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023359"/>
            <a:ext cx="8595360" cy="23774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14799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498847"/>
            <a:ext cx="8302752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dist() arma la matriz de distancias euclidianas entre todas las muestras normalizadas; es el insumo del jerárquico.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hclust() construye el dendrograma fusionando primero lo más cercano.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method = "ward.D2" tiende a formar grupos compactos y de tamaño parecido, lo que lo hace comparable con k-means.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enlo"/>
              </a:rPr>
              <a:t>fviz_dend() + cutree()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1E4C7D"/>
                </a:solidFill>
                <a:latin typeface="Ubuntu"/>
              </a:rPr>
              <a:t>Dibuja el dendrograma y lo 'corta' a la altura que deja el número de grupos deseado.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4C7D"/>
                </a:solidFill>
                <a:latin typeface="Ubuntu"/>
              </a:rPr>
              <a:t>Uso en el ejercicio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8595360" cy="1636776"/>
          </a:xfrm>
          <a:prstGeom prst="rect">
            <a:avLst/>
          </a:prstGeom>
          <a:solidFill>
            <a:srgbClr val="1E2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2075688"/>
            <a:ext cx="8266176" cy="1417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fviz_dend(hc_vinos, k = k_elegido,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    show_labels = FALSE, rect = TRUE)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grupos_hc &lt;- cutree(hc_vinos, k = k_elegido)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table(kmeans = km_vinos$cluster,</a:t>
            </a:r>
          </a:p>
          <a:p>
            <a:pPr algn="l">
              <a:lnSpc>
                <a:spcPct val="108000"/>
              </a:lnSpc>
            </a:pPr>
            <a:r>
              <a:rPr sz="1200">
                <a:solidFill>
                  <a:srgbClr val="EAEDF0"/>
                </a:solidFill>
                <a:latin typeface="Menlo"/>
              </a:rPr>
              <a:t>      jerárquico = grupos_hc)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105656"/>
            <a:ext cx="8595360" cy="2295144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4197096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Qué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581144"/>
            <a:ext cx="8302752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fviz_dend() muestra el árbol; k colorea las ramas según el número de grupos y rect = TRUE los enmarca.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cutree(hc, k) corta el árbol en k grupos y devuelve la etiqueta de cada observación.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- table() cruza k-means vs. jerárquico: si cada grupo de un método cae en UNO del otro, ambos descubren la misma estructura.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8595360" cy="658368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74320"/>
            <a:ext cx="8321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Ubuntu"/>
              </a:rPr>
              <a:t>Resumen: el flujo del no supervisado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8595360" cy="493776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624" y="1280160"/>
            <a:ext cx="8302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7A3A"/>
                </a:solidFill>
                <a:latin typeface="Ubuntu"/>
              </a:rPr>
              <a:t>Ideas clave para llevarte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664208"/>
            <a:ext cx="8302752" cy="4370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00000"/>
                </a:solidFill>
                <a:latin typeface="Ubuntu"/>
              </a:rPr>
              <a:t>- Sin variable objetivo: NO se parte en entrenamiento/prueba; se busca estructura, no acierto.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00000"/>
                </a:solidFill>
                <a:latin typeface="Ubuntu"/>
              </a:rPr>
              <a:t>- step_normalize() es indispensable: PCA y clustering son sensibles a la escala; sin z-score mandan las unidades, no la información.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00000"/>
                </a:solidFill>
                <a:latin typeface="Ubuntu"/>
              </a:rPr>
              <a:t>- prcomp() resume la variabilidad en pocos ejes y permite visualizar; las cargas ($rotation) dicen qué significa cada componente.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00000"/>
                </a:solidFill>
                <a:latin typeface="Ubuntu"/>
              </a:rPr>
              <a:t>- fviz_nbclust() (codo + silueta) elige k a partir de los datos, no a ojo; kmeans() agrupa y fviz_cluster() lo muestra.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00000"/>
                </a:solidFill>
                <a:latin typeface="Ubuntu"/>
              </a:rPr>
              <a:t>- group_by() + summarise(across()) perfila los grupos; dist() + hclust() + cutree() dan un segundo método para confirmarlos.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565392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Sesión 18 - Clustering y PCA  - 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E4C7D"/>
                </a:solidFill>
                <a:latin typeface="Ubuntu"/>
              </a:rPr>
              <a:t>Tecnológico de Monterrey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9144000" cy="329184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8046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1E4C7D"/>
                </a:solidFill>
                <a:latin typeface="Ubuntu"/>
              </a:rPr>
              <a:t>Gracias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5029200"/>
            <a:ext cx="3657600" cy="91440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502920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Ubuntu"/>
              </a:rPr>
              <a:t>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