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Aprendizaje no supervisado: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clustering y PCA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Sesión 18 · Descubrir patrones ocultos sin respuestas previas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Tecnológico de Monterrey  ·  TC2001B.601 Ciencia de datos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Prof. Jorge Juvenal Campos Ferreira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Lo que veremos hoy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30759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Aprender SIN respuestas: no supervisado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Clustering: agrupar lo parecido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632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44951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K-means paso a paso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9136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¿Cuántos grupos elegir? (método del codo)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13258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30759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Estandarizar antes de agrupar</a:t>
            </a:r>
          </a:p>
        </p:txBody>
      </p:sp>
      <p:sp>
        <p:nvSpPr>
          <p:cNvPr id="15" name="Oval 14"/>
          <p:cNvSpPr/>
          <p:nvPr/>
        </p:nvSpPr>
        <p:spPr>
          <a:xfrm>
            <a:off x="4709160" y="21945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17627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problema de la dimensión</a:t>
            </a:r>
          </a:p>
        </p:txBody>
      </p:sp>
      <p:sp>
        <p:nvSpPr>
          <p:cNvPr id="17" name="Oval 16"/>
          <p:cNvSpPr/>
          <p:nvPr/>
        </p:nvSpPr>
        <p:spPr>
          <a:xfrm>
            <a:off x="4709160" y="30632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3044951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PCA: comprimir información</a:t>
            </a:r>
          </a:p>
        </p:txBody>
      </p:sp>
      <p:sp>
        <p:nvSpPr>
          <p:cNvPr id="19" name="Oval 18"/>
          <p:cNvSpPr/>
          <p:nvPr/>
        </p:nvSpPr>
        <p:spPr>
          <a:xfrm>
            <a:off x="4709160" y="39319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9136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PCA + clustering sobre datos reales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Aprender SIN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respuestas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¿Qué hacemos cuando no hay etiquetas?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Supervisado vs no supervisado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En el aprendizaje SUPERVISADO, cada ejemplo lleva una etiqueta: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"esta solicitud fue aprobada", "este correo es spam".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En el aprendizaje NO SUPERVISADO no hay etiquetas. El algoritmo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recibe los datos y debe DESCUBRIR la estructura por sí solo: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grupos, patrones, dimensiones relevantes.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Es como ordenar tu música en playlists sin que nadie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te diga las categorías: la computadora escucha las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canciones y las agrupa por similitud.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Supervisado vs no supervisado</a:t>
            </a:r>
          </a:p>
        </p:txBody>
      </p:sp>
      <p:pic>
        <p:nvPicPr>
          <p:cNvPr id="5" name="Picture 4" descr="01_supervisado_vs_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0121"/>
            <a:ext cx="8229600" cy="37519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Izquierda: etiquetas conocidas. Derecha: el algoritmo las descubre.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No supervisado = aprender SIN respuestas correctas. Solo vemos datos y buscamos estructura.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analogía de la música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D7A7A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Imagina que tienes 1,000 canciones sin género.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No sabes si son rock, cumbia o jazz. Pero puedes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agruparlas por SIMILITUD: las que tienen bajo ritmo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y mucha guitarra van juntas, las de percusión rápida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en otro grupo.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Eso es clustering: agrupar SIN saber los nombres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de los grupos de antemano.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¿Cuándo usar aprendizaje no supervisado?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Usamos no supervisado cuando: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1. No existen etiquetas en los datos.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2. Queremos EXPLORAR la estructura antes de definir categorías.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3. La pregunta es '¿existen grupos naturales?' (no '¿cuál es la clase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   de este punto?').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Ejemplos: segmentar clientes, agrupar municipios, descubrir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perfiles químicos de vinos.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No hay un examen con respuestas. El objetivo es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descubrir, no predecir.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Clustering: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agrupar lo parecido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Encontrar grupos naturales en los datos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es el clustering?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Clustering es la tarea de dividir un conjunto de datos en GRUPOS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(clusters) de manera que los elementos dentro de un grupo sean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SIMILARES entre sí, y diferentes de los elementos en otros grupos.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No definimos los grupos de antemano: emergen de los datos mismos.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Como separar frijoles de lentejas sin saber sus nombres: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los pones juntos porque se parecen, no porque alguien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te dijo que son del mismo tipo.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Antes y después del clustering</a:t>
            </a:r>
          </a:p>
        </p:txBody>
      </p:sp>
      <p:pic>
        <p:nvPicPr>
          <p:cNvPr id="5" name="Picture 4" descr="02_antes_desp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18" y="1234440"/>
            <a:ext cx="7461564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Los mismos puntos: sin etiqueta vs descubriendo 3 grupos.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algoritmo encontró la estructura que estaba 'escondida' en los datos. Nadie le dijo cuántos grupos había.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Ejemplos reales de clustering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28016" cy="4206240"/>
          </a:xfrm>
          <a:prstGeom prst="rect">
            <a:avLst/>
          </a:prstGeom>
          <a:solidFill>
            <a:srgbClr val="C9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412480" cy="4206240"/>
          </a:xfrm>
          <a:prstGeom prst="rect">
            <a:avLst/>
          </a:prstGeom>
          <a:solidFill>
            <a:srgbClr val="F7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08760"/>
            <a:ext cx="8119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7B2A"/>
                </a:solidFill>
                <a:latin typeface="Ubuntu"/>
              </a:rPr>
              <a:t>Usos en la vida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92808"/>
            <a:ext cx="8119872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VINOS: 600 muestras con mediciones químicas (acidez, alcohol,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azúcar...). ¿Existen perfiles químicos naturales?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MUNICIPIOS: 500 municipios con indicadores sociales (pobreza,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internet, ingreso...). ¿Podemos agruparlos para diseñar políticas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públicas diferenciadas?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CLIENTES: un banco quiere segmentar a sus clientes sin imponer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categorías previas. El clustering las descubre.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K-means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paso a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El algoritmo más popular de clustering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idea central de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Idea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K-means divide los datos en K grupos usando CENTROIDES: puntos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imaginarios que representan el 'centro' de cada grupo.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idea: cada punto pertenece al grupo cuyo centroide está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MÁS CERCA de él. Y cada centroide se mueve al PROMEDIO de sus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puntos asignados. Se repite hasta que nada cambia.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Es como elegir puntos de reunión: cada persona va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al punto más cercano, y el punto se mueve al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centro de quien llegó.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K-means: los 4 pasos visualizados</a:t>
            </a:r>
          </a:p>
        </p:txBody>
      </p:sp>
      <p:pic>
        <p:nvPicPr>
          <p:cNvPr id="5" name="Picture 4" descr="03_kmeans_pa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082" y="1234440"/>
            <a:ext cx="4597835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De centroides al azar a grupos estables en 4 pasos.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algoritmo CONVERGE: eventualmente los centroides dejan de moverse y los grupos quedan fijos.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K-means: el algoritmo detallado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Simple, rápido y funciona bien. Es el punto de partida del clustering.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Elegir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Nosotros decidimos cuántos grupos queremos buscar (por ejemplo K = 3).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6517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1518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Colocar centroides al azar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Elegimos K puntos al azar como centroides iniciales.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04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Asignar cada punto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7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Calculamos la distancia de cada punto a cada centroide; lo asignamos al más cercano.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3891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5254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Mover los centroides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8172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Calculamos el promedio de los puntos de cada grupo; ese promedio es el nuevo centroide.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2578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212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Repetir hasta converger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040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Repetimos asignar y mover hasta que ningún punto cambia de grupo.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distancia en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K-means usa la distancia EUCLIDIANA: la misma del Teorema de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Pitágoras. Si cada municipio es un punto con 9 coordenadas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(una por indicador), la distancia mide qué tan 'parecidos' son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dos municipios en todos los indicadores a la vez.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Municipios cercanos en ese espacio tienen perfiles similares.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Dos municipios 'cercanos' no son vecinos geográficos: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son municipios con números parecidos en pobreza,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internet, ingreso, etc.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¿Cuántos grupos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elegir?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El método del codo y sus límites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problema: K es nuestra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El dilema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K-means necesita que NOSOTROS decidamos cuántos grupos hay.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Pero si no conocemos la estructura de los datos de antemano,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¿cómo elegimos K?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No hay una respuesta única 'correcta'. Pero hay herramientas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que nos orientan: el método del codo y el índice de silueta.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Es como decidir en cuántas categorías ordenar tu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cuarto. Hay muchas formas válidas; buscamos la que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tenga sentido con los datos.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Inercia: qué tan compactos son los grupos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La INERCIA es la suma de las distancias al cuadrado de cada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punto a su centroide. Mide qué tan 'apretados' están los grupos.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Con K = 1: inercia máxima (un solo grupo muy disperso).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Con K = n: inercia = 0 (cada punto es su propio grupo).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Buscamos el K donde la inercia 'deja de bajar tanto'.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Si cada persona en la clase es un grupo de uno, la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'distancia al centro' es cero... pero eso no es útil.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Buscamos el número justo de grupos.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Método del codo: la curva de inercia</a:t>
            </a:r>
          </a:p>
        </p:txBody>
      </p:sp>
      <p:pic>
        <p:nvPicPr>
          <p:cNvPr id="5" name="Picture 4" descr="04_c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510" y="1234440"/>
            <a:ext cx="630298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La inercia baja rápido al principio, luego se estabiliza.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'codo' es el K donde agregar más grupos ya no reduce mucho la inercia. Ahí está el número óptimo aproximado.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codo no siempre es obvio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Cuidado con el codo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En datos reales, la curva del codo a veces NO tiene un quiebre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claro. En ese caso: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1. Usar también el índice de silueta (mide separación entre grupos).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2. Probar varios K y evaluar si los grupos tienen INTERPRETACIÓN.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3. Consultar el contexto: un experto en vinos sabe si 3 o 4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   perfiles químicos tiene sentido.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No existe un K 'correcto' universal; depende del problema.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Estandarizar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antes de agrupar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Por qué la escala importa tanto como en KNN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Sin estandarizar: una variable domina</a:t>
            </a:r>
          </a:p>
        </p:txBody>
      </p:sp>
      <p:pic>
        <p:nvPicPr>
          <p:cNvPr id="5" name="Picture 4" descr="05_estandariz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06432"/>
            <a:ext cx="8229600" cy="3879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Izquierda: ingreso (miles) aplasta a % pobreza. Derecha: escalas iguales.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Sin estandarizar, k-means agruparía casi solo por ingreso y casi ignoraría el porcentaje de pobreza. La escala deforma los grupos.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¿Por qué estandarizar (z-score)?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El z-score pone a todas las variables en pie de igualdad.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Unidades distintas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Ingreso en MXN vs porcentaje vs densidad: no tienen unidades comparables.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8346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980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Magnitudes distintas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2724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Ingreso: decenas de miles. % pobreza: 0 a 100. Densidad: puede ser miles.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8862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496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La distancia es sensible a esto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78808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Un punto en ingreso muy alto parece 'lejos' aunque en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todos los demás indicadores sea igual.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93775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0118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Solución: z-score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30367"/>
            <a:ext cx="7406640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Restar la media y dividir entre la desviación estándar.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variable queda con media 0 y desviación 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Estandarizar: la misma lógica que KNN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Lo vimos antes con KNN: la escala siempre importa cuando se miden distancias.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Sin estandarizar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4251960" cy="3794759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2304288"/>
            <a:ext cx="39593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Una variable con números grandes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domina la distancia euclidiana.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Los grupos reflejan las UNIDADES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de medida, no la realidad.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Resultado: grupos sin sentido.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solidFill>
            <a:srgbClr val="1A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Ubuntu"/>
              </a:rPr>
              <a:t>Con estandarizar (z-score)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194560"/>
            <a:ext cx="4251960" cy="3794759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304288"/>
            <a:ext cx="39593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Todas las variables contribuyen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por igual a la distancia.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Los grupos reflejan la ESTRUCTURA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real de los datos.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Resultado: grupos interpretables.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El problema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de la dimensión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Por qué cuesta ver y agrupar con muchas variables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maldición de la dimensionalidad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Cuando tenemos muchas variables, los puntos se vuelven MÁS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DISPERSOS. Las distancias tienden a parecerse y es difícil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distinguir quién es realmente 'cercano'.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Con 11 variables químicas ya no podemos visualizar los datos: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necesitamos REDUCIR las dimensiones. Ahí entra PCA.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En 2D ves si dos puntos están cerca. En 100 dimensiones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'cerca' pierde significado. Hay que comprimir.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Muchas variables -&gt; 2 componentes con PCA</a:t>
            </a:r>
          </a:p>
        </p:txBody>
      </p:sp>
      <p:pic>
        <p:nvPicPr>
          <p:cNvPr id="5" name="Picture 4" descr="06_dim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6420"/>
            <a:ext cx="8229600" cy="37993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PCA convierte 8 variables en 2 componentes que resumen la mayoría de la información.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Perdemos algo de detalle, pero ganamos capacidad de visualizar y entender la estructura de los datos.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PCA: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comprimir información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Análisis de Componentes Principales en palabras simples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La analogía del promedio de materias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09728" cy="457200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206240" cy="4572000"/>
          </a:xfrm>
          <a:prstGeom prst="rect">
            <a:avLst/>
          </a:prstGeom>
          <a:solidFill>
            <a:srgbClr val="D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371600"/>
            <a:ext cx="39136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D7A7A"/>
                </a:solidFill>
                <a:latin typeface="Ubuntu"/>
              </a:rPr>
              <a:t>Piénsalo así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755648"/>
            <a:ext cx="3913632" cy="400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Si tienes notas en 10 materias, puedes resumirlas en dos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promedios: 'ciencias' y 'humanidades'. Pierdes algo de detalle,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pero capturas lo esencial.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PCA hace lo mismo con datos: busca los 'resúmenes' que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conservan MÁXIMA información (varianza). Esos resúmenes son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los COMPONENTES PRINCIPALES.</a:t>
            </a:r>
          </a:p>
        </p:txBody>
      </p:sp>
      <p:pic>
        <p:nvPicPr>
          <p:cNvPr id="9" name="Picture 8" descr="10_analogia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44548"/>
            <a:ext cx="4023360" cy="18432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es un componente principal?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Un componente principal (CP) es una COMBINACIÓN LINEAL de las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variables originales, elegida para capturar la máxima varianza.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CP1 capta la mayor cantidad posible de variación en los datos.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CP2 capta la segunda mayor variación, PERPENDICULAR a CP1.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...y así sucesivamente.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Los CP son NUEVAS variables; no son las originales.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CP1 es la dirección en la que los datos 'se esparcen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más'. CP2 es la segunda dirección más importante,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sin repetir lo que ya capturó CP1.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PCA: proyectar una nube de puntos a 2D</a:t>
            </a:r>
          </a:p>
        </p:txBody>
      </p:sp>
      <p:pic>
        <p:nvPicPr>
          <p:cNvPr id="5" name="Picture 4" descr="07_pca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62" y="1234440"/>
            <a:ext cx="7847075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Izquierda: espacio original. Derecha: mismos datos en 2 CP.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Los puntos mantienen su estructura relativa (quién está cerca sigue cerca), pero ahora los vemos en 2 dimensiones.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Scree plot: cuánta información captura cada CP</a:t>
            </a:r>
          </a:p>
        </p:txBody>
      </p:sp>
      <p:pic>
        <p:nvPicPr>
          <p:cNvPr id="5" name="Picture 4" descr="08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52" y="1234440"/>
            <a:ext cx="6745295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Las barras muestran la varianza de cada componente; la línea roja es la varianza acumulada.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El 'codo' del scree plot indica cuántos componentes conservar. Si los primeros 2-3 suman más del 80%, podemos comprimir bien.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PCA paso a paso (sin fórmulas)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1E4C7D"/>
                </a:solidFill>
                <a:latin typeface="Ubuntu"/>
              </a:rPr>
              <a:t>PCA es una receta matemática, pero su lógica es intuitiva.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78308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650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Estandarizar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Z-score de todas las variables. Indispensable: PCA es sensible a la escala.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65176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1518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Calcular componentes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algoritmo encuentra las direcciones de máxima varianza en los datos.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520439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83863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Elegir cuántos CP conservar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7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Revisar el scree plot: tomar los CP que sumen el 80-90% de varianza.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38912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5254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Proyectar los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8172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Transformar cada observación a las nuevas coordenadas (CP1, CP2, ...).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5257800"/>
            <a:ext cx="457200" cy="457200"/>
          </a:xfrm>
          <a:prstGeom prst="ellipse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21224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Visualizar e interpretar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50408"/>
            <a:ext cx="7406640" cy="557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Graficar en 2D y colorear por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grupos; analizar qué representa cada CP.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significan los componentes principales?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27432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3258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4C7D"/>
                </a:solidFill>
                <a:latin typeface="Ubuntu"/>
              </a:rPr>
              <a:t>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9928"/>
            <a:ext cx="830275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Los CP combinan las variables originales con 'pesos' (cargas).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Leer las cargas dice qué variables contribuyen más a cada CP.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Ejemplo: si CP1 tiene cargas altas en '% pobreza', '% carencia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educativa' y 'grado de marginación', ese componente representa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el 'eje de marginación'.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000000"/>
                </a:solidFill>
                <a:latin typeface="Ubuntu"/>
              </a:rPr>
              <a:t>Interpretar los CP requiere conocer el contexto.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2011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429768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En palabras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681728"/>
            <a:ext cx="830275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Los CP son combinaciones de tus variables originales.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Leer cuáles variables pesan más en cada CP te dice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000000"/>
                </a:solidFill>
                <a:latin typeface="Ubuntu"/>
              </a:rPr>
              <a:t>qué 'concepto' representa ese componente.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0" b="1" i="0">
                <a:solidFill>
                  <a:srgbClr val="336395"/>
                </a:solidFill>
                <a:latin typeface="Ubuntu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194560"/>
            <a:ext cx="73152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Juntando todo: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Ubuntu"/>
              </a:rPr>
              <a:t>PCA +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0690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7D7E6"/>
                </a:solidFill>
                <a:latin typeface="Ubuntu"/>
              </a:rPr>
              <a:t>Aplicación sobre municipios y vinos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flujo completo: de datos a perfiles</a:t>
            </a:r>
          </a:p>
        </p:txBody>
      </p:sp>
      <p:pic>
        <p:nvPicPr>
          <p:cNvPr id="5" name="Picture 4" descr="13_flujo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83699"/>
            <a:ext cx="8229600" cy="31248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Estandarizar -&gt; PCA -&gt; k-means -&gt; interpretar.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PCA facilita la visualización; k-means descubre los grupos. Juntos son una combinación muy poderosa.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Municipios: 3 perfiles socioeconómicos descubiertos</a:t>
            </a:r>
          </a:p>
        </p:txBody>
      </p:sp>
      <p:pic>
        <p:nvPicPr>
          <p:cNvPr id="5" name="Picture 4" descr="09_biplot_municip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39" y="1234440"/>
            <a:ext cx="566632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500 municipios proyectados a 2 componentes, coloreados por k-means.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Los grupos no los definimos nosotros: emergieron de los datos. Ahora podemos interpretar qué tiene en común cada grupo.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Ubuntu"/>
              </a:rPr>
              <a:t>Fuente: datos.csv ejercicio_2, datos simulados con estructura latente. Cálculos propios.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¿Qué caracteriza a cada grupo de municipios?</a:t>
            </a:r>
          </a:p>
        </p:txBody>
      </p:sp>
      <p:pic>
        <p:nvPicPr>
          <p:cNvPr id="5" name="Picture 4" descr="12_perfiles_municip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33" y="1234440"/>
            <a:ext cx="6856134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Promedio de 4 indicadores clave por grupo.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Comparar los promedios ayuda a ponerle nombre a los grupos: 'municipios marginados rurales', 'urbanos conectados',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Ubuntu"/>
              </a:rPr>
              <a:t>Fuente: datos.csv ejercicio_2. Cálculos propios.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Vinos: 3 perfiles químicos descubiertos</a:t>
            </a:r>
          </a:p>
        </p:txBody>
      </p:sp>
      <p:pic>
        <p:nvPicPr>
          <p:cNvPr id="5" name="Picture 4" descr="11_biplot_vi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39" y="1234440"/>
            <a:ext cx="566632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Ubuntu"/>
              </a:rPr>
              <a:t>600 muestras de vino en el espacio PCA, coloreadas por k-means.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8595360" cy="8686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5577840"/>
            <a:ext cx="8302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Sin que nadie etiquetara las muestras, PCA + k-means reveló 3 perfiles químicos distintos.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Ubuntu"/>
              </a:rPr>
              <a:t>Fuente: datos.csv ejercicio_1, perfil fisicoquímico. Cálculos propios.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Pasos para aplicar PCA + clustering en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Con el paquete tidymodels y factoextra: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4114800" cy="4114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965959"/>
            <a:ext cx="3822192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1. Cargar datos y quitar columna id.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2. step_impute_median() para NAs.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3. step_normalize() para z-score.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4. prcomp() o step_pca() para PCA.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5. kmeans() con el K elegido por el codo.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6. fviz_cluster() para visualizar.</a:t>
            </a:r>
          </a:p>
        </p:txBody>
      </p:sp>
      <p:pic>
        <p:nvPicPr>
          <p:cNvPr id="8" name="Picture 7" descr="13_flujo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133348"/>
            <a:ext cx="4206240" cy="15971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Errores comunes en clustering y PCA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42976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46304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Ubuntu"/>
              </a:rPr>
              <a:t>Lista de verificación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847088"/>
            <a:ext cx="8302752" cy="3730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1. No estandarizar: una variable domina la distancia.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2. Elegir K mal: usar el codo sin validar interpretación.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3. Interpretar de más: los grupos son exploratorios,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   no verdad absoluta. Necesitan validación experta.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4. No hay 'accuracy': sin etiquetas no se mide acierto.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00000"/>
                </a:solidFill>
                <a:latin typeface="Ubuntu"/>
              </a:rPr>
              <a:t>   Evalúa con coherencia e interpretación del dominio.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49377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28016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7A3A"/>
                </a:solidFill>
                <a:latin typeface="Ubuntu"/>
              </a:rPr>
              <a:t>Ideas clave para llevarte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664208"/>
            <a:ext cx="8302752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No supervisado = aprender SIN etiquetas; el algoritmo descubre la estructura.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Clustering agrupa puntos similares; k-means usa centroides y converge iterativamente.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K es nuestra decisión: el método del codo ayuda, pero requiere interpretación.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SIEMPRE estandarizar (z-score) antes de clustering o PCA: la escala deforma las distancias.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PCA comprime muchas variables en componentes que capturan la máxima varianza.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•  PCA + k-means: visualizar y agrupar datos de alta dimensión para descubrir perfiles reales.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18 · Aprendizaje no supervisado  -  34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